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B5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226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A78BFA"/>
            </a:solidFill>
            <a:effectLst/>
          </c:spPr>
          <c:invertIfNegative val="0"/>
          <c:dPt>
            <c:idx val="0"/>
            <c:invertIfNegative val="0"/>
            <c:bubble3D val="0"/>
            <c:extLst>
              <c:ext xmlns:c16="http://schemas.microsoft.com/office/drawing/2014/chart" uri="{C3380CC4-5D6E-409C-BE32-E72D297353CC}">
                <c16:uniqueId val="{00000001-CF85-499B-BEC6-20F64A547159}"/>
              </c:ext>
            </c:extLst>
          </c:dPt>
          <c:dPt>
            <c:idx val="1"/>
            <c:invertIfNegative val="0"/>
            <c:bubble3D val="0"/>
            <c:spPr>
              <a:solidFill>
                <a:srgbClr val="7C9AED"/>
              </a:solidFill>
              <a:effectLst/>
            </c:spPr>
            <c:extLst>
              <c:ext xmlns:c16="http://schemas.microsoft.com/office/drawing/2014/chart" uri="{C3380CC4-5D6E-409C-BE32-E72D297353CC}">
                <c16:uniqueId val="{00000003-CF85-499B-BEC6-20F64A547159}"/>
              </c:ext>
            </c:extLst>
          </c:dPt>
          <c:dPt>
            <c:idx val="2"/>
            <c:invertIfNegative val="0"/>
            <c:bubble3D val="0"/>
            <c:spPr>
              <a:solidFill>
                <a:srgbClr val="7C9AED"/>
              </a:solidFill>
              <a:effectLst/>
            </c:spPr>
            <c:extLst>
              <c:ext xmlns:c16="http://schemas.microsoft.com/office/drawing/2014/chart" uri="{C3380CC4-5D6E-409C-BE32-E72D297353CC}">
                <c16:uniqueId val="{00000005-CF85-499B-BEC6-20F64A547159}"/>
              </c:ext>
            </c:extLst>
          </c:dPt>
          <c:dPt>
            <c:idx val="3"/>
            <c:invertIfNegative val="0"/>
            <c:bubble3D val="0"/>
            <c:spPr>
              <a:solidFill>
                <a:srgbClr val="7C9AED"/>
              </a:solidFill>
              <a:effectLst/>
            </c:spPr>
            <c:extLst>
              <c:ext xmlns:c16="http://schemas.microsoft.com/office/drawing/2014/chart" uri="{C3380CC4-5D6E-409C-BE32-E72D297353CC}">
                <c16:uniqueId val="{00000007-CF85-499B-BEC6-20F64A547159}"/>
              </c:ext>
            </c:extLst>
          </c:dPt>
          <c:dLbls>
            <c:numFmt formatCode="0.00" sourceLinked="0"/>
            <c:spPr>
              <a:noFill/>
              <a:ln>
                <a:noFill/>
              </a:ln>
              <a:effectLst/>
            </c:spPr>
            <c:txPr>
              <a:bodyPr/>
              <a:lstStyle/>
              <a:p>
                <a:pPr>
                  <a:defRPr sz="1100" b="0" i="0" u="none" strike="noStrike">
                    <a:solidFill>
                      <a:srgbClr val="EEF1FA"/>
                    </a:solidFill>
                    <a:latin typeface="JetBrains Mon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Gradient Boosting</c:v>
                </c:pt>
                <c:pt idx="1">
                  <c:v>One-Class SVM</c:v>
                </c:pt>
                <c:pt idx="2">
                  <c:v>Random Forest</c:v>
                </c:pt>
                <c:pt idx="3">
                  <c:v>Isolation Forest</c:v>
                </c:pt>
              </c:strCache>
            </c:strRef>
          </c:cat>
          <c:val>
            <c:numRef>
              <c:f>Sheet1!$B$2:$B$5</c:f>
              <c:numCache>
                <c:formatCode>General</c:formatCode>
                <c:ptCount val="4"/>
                <c:pt idx="0">
                  <c:v>0.90700000000000003</c:v>
                </c:pt>
                <c:pt idx="1">
                  <c:v>0.90700000000000003</c:v>
                </c:pt>
                <c:pt idx="2">
                  <c:v>0.876</c:v>
                </c:pt>
                <c:pt idx="3">
                  <c:v>0.81100000000000005</c:v>
                </c:pt>
              </c:numCache>
            </c:numRef>
          </c:val>
          <c:extLst>
            <c:ext xmlns:c16="http://schemas.microsoft.com/office/drawing/2014/chart" uri="{C3380CC4-5D6E-409C-BE32-E72D297353CC}">
              <c16:uniqueId val="{00000008-CF85-499B-BEC6-20F64A547159}"/>
            </c:ext>
          </c:extLst>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EEF1FA"/>
                </a:solidFill>
                <a:latin typeface="JetBrains Mono"/>
              </a:defRPr>
            </a:pPr>
            <a:endParaRPr lang="en-US"/>
          </a:p>
        </c:txPr>
        <c:crossAx val="2094734552"/>
        <c:crosses val="autoZero"/>
        <c:auto val="1"/>
        <c:lblAlgn val="ctr"/>
        <c:lblOffset val="100"/>
        <c:noMultiLvlLbl val="1"/>
      </c:catAx>
      <c:valAx>
        <c:axId val="2094734552"/>
        <c:scaling>
          <c:orientation val="minMax"/>
          <c:max val="1"/>
          <c:min val="0.6"/>
        </c:scaling>
        <c:delete val="0"/>
        <c:axPos val="l"/>
        <c:majorGridlines>
          <c:spPr>
            <a:ln w="6350" cap="flat">
              <a:solidFill>
                <a:srgbClr val="3A3A6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A3C0"/>
                </a:solidFill>
                <a:latin typeface="JetBrains Mono"/>
              </a:defRPr>
            </a:pPr>
            <a:endParaRPr lang="en-US"/>
          </a:p>
        </c:txPr>
        <c:crossAx val="2094734554"/>
        <c:crosses val="autoZero"/>
        <c:crossBetween val="between"/>
        <c:majorUnit val="0.1"/>
      </c:valAx>
      <c:spPr>
        <a:solidFill>
          <a:srgbClr val="FFFFFF">
            <a:alpha val="0"/>
          </a:srgbClr>
        </a:solidFill>
        <a:ln>
          <a:noFill/>
        </a:ln>
        <a:effectLst/>
      </c:spPr>
    </c:plotArea>
    <c:plotVisOnly val="1"/>
    <c:dispBlanksAs val="span"/>
    <c:showDLblsOverMax val="1"/>
  </c:chart>
  <c:spPr>
    <a:solidFill>
      <a:srgbClr val="0E1428">
        <a:alpha val="7000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F1</c:v>
                </c:pt>
              </c:strCache>
            </c:strRef>
          </c:tx>
          <c:spPr>
            <a:solidFill>
              <a:srgbClr val="10B981"/>
            </a:solidFill>
            <a:effectLst/>
          </c:spPr>
          <c:invertIfNegative val="0"/>
          <c:dPt>
            <c:idx val="0"/>
            <c:invertIfNegative val="0"/>
            <c:bubble3D val="0"/>
            <c:extLst>
              <c:ext xmlns:c16="http://schemas.microsoft.com/office/drawing/2014/chart" uri="{C3380CC4-5D6E-409C-BE32-E72D297353CC}">
                <c16:uniqueId val="{00000001-1F5D-4ECD-9400-8AD0EC5B25B3}"/>
              </c:ext>
            </c:extLst>
          </c:dPt>
          <c:dPt>
            <c:idx val="1"/>
            <c:invertIfNegative val="0"/>
            <c:bubble3D val="0"/>
            <c:extLst>
              <c:ext xmlns:c16="http://schemas.microsoft.com/office/drawing/2014/chart" uri="{C3380CC4-5D6E-409C-BE32-E72D297353CC}">
                <c16:uniqueId val="{00000003-1F5D-4ECD-9400-8AD0EC5B25B3}"/>
              </c:ext>
            </c:extLst>
          </c:dPt>
          <c:dPt>
            <c:idx val="2"/>
            <c:invertIfNegative val="0"/>
            <c:bubble3D val="0"/>
            <c:extLst>
              <c:ext xmlns:c16="http://schemas.microsoft.com/office/drawing/2014/chart" uri="{C3380CC4-5D6E-409C-BE32-E72D297353CC}">
                <c16:uniqueId val="{00000005-1F5D-4ECD-9400-8AD0EC5B25B3}"/>
              </c:ext>
            </c:extLst>
          </c:dPt>
          <c:dPt>
            <c:idx val="3"/>
            <c:invertIfNegative val="0"/>
            <c:bubble3D val="0"/>
            <c:extLst>
              <c:ext xmlns:c16="http://schemas.microsoft.com/office/drawing/2014/chart" uri="{C3380CC4-5D6E-409C-BE32-E72D297353CC}">
                <c16:uniqueId val="{00000007-1F5D-4ECD-9400-8AD0EC5B25B3}"/>
              </c:ext>
            </c:extLst>
          </c:dPt>
          <c:dPt>
            <c:idx val="4"/>
            <c:invertIfNegative val="0"/>
            <c:bubble3D val="0"/>
            <c:extLst>
              <c:ext xmlns:c16="http://schemas.microsoft.com/office/drawing/2014/chart" uri="{C3380CC4-5D6E-409C-BE32-E72D297353CC}">
                <c16:uniqueId val="{00000009-1F5D-4ECD-9400-8AD0EC5B25B3}"/>
              </c:ext>
            </c:extLst>
          </c:dPt>
          <c:dPt>
            <c:idx val="5"/>
            <c:invertIfNegative val="0"/>
            <c:bubble3D val="0"/>
            <c:extLst>
              <c:ext xmlns:c16="http://schemas.microsoft.com/office/drawing/2014/chart" uri="{C3380CC4-5D6E-409C-BE32-E72D297353CC}">
                <c16:uniqueId val="{0000000B-1F5D-4ECD-9400-8AD0EC5B25B3}"/>
              </c:ext>
            </c:extLst>
          </c:dPt>
          <c:dPt>
            <c:idx val="6"/>
            <c:invertIfNegative val="0"/>
            <c:bubble3D val="0"/>
            <c:spPr>
              <a:solidFill>
                <a:srgbClr val="F4A00D"/>
              </a:solidFill>
              <a:effectLst/>
            </c:spPr>
            <c:extLst>
              <c:ext xmlns:c16="http://schemas.microsoft.com/office/drawing/2014/chart" uri="{C3380CC4-5D6E-409C-BE32-E72D297353CC}">
                <c16:uniqueId val="{0000000D-1F5D-4ECD-9400-8AD0EC5B25B3}"/>
              </c:ext>
            </c:extLst>
          </c:dPt>
          <c:dPt>
            <c:idx val="7"/>
            <c:invertIfNegative val="0"/>
            <c:bubble3D val="0"/>
            <c:spPr>
              <a:solidFill>
                <a:srgbClr val="EF4444"/>
              </a:solidFill>
              <a:effectLst/>
            </c:spPr>
            <c:extLst>
              <c:ext xmlns:c16="http://schemas.microsoft.com/office/drawing/2014/chart" uri="{C3380CC4-5D6E-409C-BE32-E72D297353CC}">
                <c16:uniqueId val="{0000000F-1F5D-4ECD-9400-8AD0EC5B25B3}"/>
              </c:ext>
            </c:extLst>
          </c:dPt>
          <c:dLbls>
            <c:numFmt formatCode="0.00" sourceLinked="0"/>
            <c:spPr>
              <a:noFill/>
              <a:ln>
                <a:noFill/>
              </a:ln>
              <a:effectLst/>
            </c:spPr>
            <c:txPr>
              <a:bodyPr/>
              <a:lstStyle/>
              <a:p>
                <a:pPr>
                  <a:defRPr sz="900" b="0" i="0" u="none" strike="noStrike">
                    <a:solidFill>
                      <a:srgbClr val="EEF1FA"/>
                    </a:solidFill>
                    <a:latin typeface="JetBrains Mon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BruteForce</c:v>
                </c:pt>
                <c:pt idx="1">
                  <c:v>PortScan</c:v>
                </c:pt>
                <c:pt idx="2">
                  <c:v>Botnet</c:v>
                </c:pt>
                <c:pt idx="3">
                  <c:v>BENIGN</c:v>
                </c:pt>
                <c:pt idx="4">
                  <c:v>DoS</c:v>
                </c:pt>
                <c:pt idx="5">
                  <c:v>DDoS</c:v>
                </c:pt>
                <c:pt idx="6">
                  <c:v>WebAttack</c:v>
                </c:pt>
                <c:pt idx="7">
                  <c:v>Infiltration</c:v>
                </c:pt>
              </c:strCache>
            </c:strRef>
          </c:cat>
          <c:val>
            <c:numRef>
              <c:f>Sheet1!$B$2:$B$9</c:f>
              <c:numCache>
                <c:formatCode>General</c:formatCode>
                <c:ptCount val="8"/>
                <c:pt idx="0">
                  <c:v>1</c:v>
                </c:pt>
                <c:pt idx="1">
                  <c:v>1</c:v>
                </c:pt>
                <c:pt idx="2">
                  <c:v>0.995</c:v>
                </c:pt>
                <c:pt idx="3">
                  <c:v>0.99</c:v>
                </c:pt>
                <c:pt idx="4">
                  <c:v>0.98699999999999999</c:v>
                </c:pt>
                <c:pt idx="5">
                  <c:v>0.98699999999999999</c:v>
                </c:pt>
                <c:pt idx="6">
                  <c:v>0.94499999999999995</c:v>
                </c:pt>
                <c:pt idx="7">
                  <c:v>0.34899999999999998</c:v>
                </c:pt>
              </c:numCache>
            </c:numRef>
          </c:val>
          <c:extLst>
            <c:ext xmlns:c16="http://schemas.microsoft.com/office/drawing/2014/chart" uri="{C3380CC4-5D6E-409C-BE32-E72D297353CC}">
              <c16:uniqueId val="{00000010-1F5D-4ECD-9400-8AD0EC5B25B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EEF1FA"/>
                </a:solidFill>
                <a:latin typeface="JetBrains Mono"/>
              </a:defRPr>
            </a:pPr>
            <a:endParaRPr lang="en-US"/>
          </a:p>
        </c:txPr>
        <c:crossAx val="2094734552"/>
        <c:crosses val="autoZero"/>
        <c:auto val="1"/>
        <c:lblAlgn val="ctr"/>
        <c:lblOffset val="100"/>
        <c:noMultiLvlLbl val="1"/>
      </c:catAx>
      <c:valAx>
        <c:axId val="2094734552"/>
        <c:scaling>
          <c:orientation val="minMax"/>
          <c:max val="1"/>
          <c:min val="0"/>
        </c:scaling>
        <c:delete val="0"/>
        <c:axPos val="b"/>
        <c:majorGridlines>
          <c:spPr>
            <a:ln w="6350" cap="flat">
              <a:solidFill>
                <a:srgbClr val="3A3A6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AA3C0"/>
                </a:solidFill>
                <a:latin typeface="JetBrains Mono"/>
              </a:defRPr>
            </a:pPr>
            <a:endParaRPr lang="en-US"/>
          </a:p>
        </c:txPr>
        <c:crossAx val="2094734554"/>
        <c:crosses val="autoZero"/>
        <c:crossBetween val="between"/>
        <c:majorUnit val="0.25"/>
      </c:valAx>
      <c:spPr>
        <a:solidFill>
          <a:srgbClr val="FFFFFF">
            <a:alpha val="0"/>
          </a:srgbClr>
        </a:solidFill>
        <a:ln>
          <a:noFill/>
        </a:ln>
        <a:effectLst/>
      </c:spPr>
    </c:plotArea>
    <c:plotVisOnly val="1"/>
    <c:dispBlanksAs val="span"/>
    <c:showDLblsOverMax val="1"/>
  </c:chart>
  <c:spPr>
    <a:solidFill>
      <a:srgbClr val="0E1428">
        <a:alpha val="7000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119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Good [morning/afternoon]. This is my research project for the Attack &amp; Defend minor. In one line: software that spots cyber-attacks the moment they happen — fast, and without flooding the security team with false alarms.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The problem. Traditional security tools only catch attacks they already have a “fingerprint” for, so anything brand-new slips through. My approach flips it: learn what normal traffic looks like, then flag anything that doesn’t fit. The catch is false alarms. And the scale is huge — a network makes more traffic in an hour than a person could read in a year — so it has to be automatic.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This is the question the whole project answers. Three goals that pull against each other — accurate, fast, and few false alarms. The job is to balance them, not chase just one. I split it into six smaller questions.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The key slide. Six smaller questions with a one-line answer each. What gives an attack away: about 20 traffic signals. Best method: we tested four, “Gradient Boosting” won. Fast enough: yes, millionths of a second. False alarms: a sensitivity dial plus sorting by seriousness gets us under 1%. The team: a clear, colour-coded dashboard. Good and bad at: great on 6 of 8 attack types, one sneaky type is hard. The small tags show how we checked each.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Our method, called DOT. The idea is simple: cross-check every conclusion from several angles instead of trusting one. Library = research, Lab = building and testing, Field = how a real analyst works, Workshop = reviewing design choices, Showroom = the live demo. The main question is answered from three of these — and the one place they almost disagree is the sneaky “infiltration” attack, which is exactly where I’m honest about the limits.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How it works, end to end. Traffic comes in, we summarise it into ~20 signals, the model scores it (attack or not?), every check is recorded for history, and the dashboard shows it to the team. The one detail worth knowing: we save the model together with its data-prep, so it behaves exactly the same in testing as in real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The signals. About 20 traffic signals do most of the work, in three groups: volume (how much, how fast), shape (packet sizes and timing), and handshake clues (the flags that reveal scans and password-guessing). What I learned: preparing the numbers the right way — because a few giant connections can throw things off — added about 4 points of accuracy.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The surprise. The top two methods basically tie on accuracy. But that hides a gap: the runner-up only says “attack or not”, while Gradient Boosting also names which of 8 attack types it is — a harder job for the same score. It’s also about 8× faster and separates attacks from normal more cleanly. So when scores are this close, we pick the one that tells us more — Gradient Boosting.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Fast and quiet. It checks a connection in millionths of a second — about 140,000 a second on one laptop — and under a millisecond start to finish. To keep false alarms down, two safeguards: a sensitivity dial you can turn per investigation, and sorting by seriousness so only the important alerts pop up. The result: under 1% false alarms.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The dashboard. Three simple ideas: colour-code alerts by how serious they are so you can triage at a glance, keep the full history next to the alerts so you can ask “why wasn’t that flagged?”, and let the attack type guide the response. The whole thing is readable even with no technical background.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The honest slide. Over 99% accuracy on six of eight attack types. Web attacks slightly behind. But “infiltration” sits at 35% — 7 in 10 look normal to it. That’s not a bug: this attack is built to blend in, and even the standard industry dataset shows the same gap. The fix is to pair it with a traditional tool, or an add-on that inspects encrypted traffic — already on our to-do list.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The lab — the Attack &amp; Defend payoff. I turned the demo into a real loop. A test attacker launches real attacks — port scans, floods, password guessing. Our system watches, asks the model in real time “is this an attack?”, and if it’s sure, it blocks the attacker’s address by itself. Their next attempts simply fail — that’s the proof. You can trigger the whole thing from a button on the dashboard.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Thank you —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e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57200"/>
            <a:ext cx="6400800" cy="310896"/>
          </a:xfrm>
          <a:prstGeom prst="rect">
            <a:avLst/>
          </a:prstGeom>
          <a:noFill/>
          <a:ln/>
        </p:spPr>
        <p:txBody>
          <a:bodyPr wrap="square" lIns="0" tIns="0" rIns="0" bIns="0" rtlCol="0" anchor="ctr"/>
          <a:lstStyle/>
          <a:p>
            <a:pPr marL="0" indent="0">
              <a:buNone/>
            </a:pPr>
            <a:r>
              <a:rPr lang="en-US" sz="1100" b="1" kern="0" spc="150" dirty="0">
                <a:solidFill>
                  <a:srgbClr val="A78BFA"/>
                </a:solidFill>
                <a:latin typeface="JetBrains Mono" pitchFamily="34" charset="0"/>
                <a:ea typeface="JetBrains Mono" pitchFamily="34" charset="-122"/>
                <a:cs typeface="JetBrains Mono" pitchFamily="34" charset="-120"/>
              </a:rPr>
              <a:t>◗ </a:t>
            </a:r>
            <a:r>
              <a:rPr lang="en-US" sz="1100" b="1" kern="0" spc="150" dirty="0">
                <a:solidFill>
                  <a:srgbClr val="EEF1FA"/>
                </a:solidFill>
                <a:latin typeface="JetBrains Mono" pitchFamily="34" charset="0"/>
                <a:ea typeface="JetBrains Mono" pitchFamily="34" charset="-122"/>
                <a:cs typeface="JetBrains Mono" pitchFamily="34" charset="-120"/>
              </a:rPr>
              <a:t>NETWORK ANOMALY DETECTOR</a:t>
            </a:r>
            <a:endParaRPr lang="en-US" sz="1100" dirty="0"/>
          </a:p>
        </p:txBody>
      </p:sp>
      <p:sp>
        <p:nvSpPr>
          <p:cNvPr id="3" name="Shape 1"/>
          <p:cNvSpPr/>
          <p:nvPr/>
        </p:nvSpPr>
        <p:spPr>
          <a:xfrm>
            <a:off x="3352648" y="2395728"/>
            <a:ext cx="5486400" cy="438912"/>
          </a:xfrm>
          <a:prstGeom prst="roundRect">
            <a:avLst>
              <a:gd name="adj" fmla="val 50000"/>
            </a:avLst>
          </a:prstGeom>
          <a:solidFill>
            <a:srgbClr val="070810">
              <a:alpha val="78000"/>
            </a:srgbClr>
          </a:solidFill>
          <a:ln w="12700">
            <a:solidFill>
              <a:srgbClr val="A78BFA">
                <a:alpha val="55000"/>
              </a:srgbClr>
            </a:solidFill>
            <a:prstDash val="solid"/>
          </a:ln>
        </p:spPr>
        <p:txBody>
          <a:bodyPr/>
          <a:lstStyle/>
          <a:p>
            <a:endParaRPr lang="en-US"/>
          </a:p>
        </p:txBody>
      </p:sp>
      <p:sp>
        <p:nvSpPr>
          <p:cNvPr id="4" name="Text 2"/>
          <p:cNvSpPr/>
          <p:nvPr/>
        </p:nvSpPr>
        <p:spPr>
          <a:xfrm>
            <a:off x="3352648" y="2395728"/>
            <a:ext cx="5486400" cy="438912"/>
          </a:xfrm>
          <a:prstGeom prst="rect">
            <a:avLst/>
          </a:prstGeom>
          <a:noFill/>
          <a:ln/>
        </p:spPr>
        <p:txBody>
          <a:bodyPr wrap="square" lIns="0" tIns="0" rIns="0" bIns="0" rtlCol="0" anchor="ctr"/>
          <a:lstStyle/>
          <a:p>
            <a:pPr marL="0" indent="0" algn="ctr">
              <a:buNone/>
            </a:pPr>
            <a:r>
              <a:rPr lang="en-US" sz="1100" b="1" kern="0" spc="140" dirty="0">
                <a:solidFill>
                  <a:srgbClr val="A78BFA"/>
                </a:solidFill>
                <a:latin typeface="JetBrains Mono" pitchFamily="34" charset="0"/>
                <a:ea typeface="JetBrains Mono" pitchFamily="34" charset="-122"/>
                <a:cs typeface="JetBrains Mono" pitchFamily="34" charset="-120"/>
              </a:rPr>
              <a:t>PERSONAL RESEARCH PROJECT   ·   ATTACK &amp; DEFEND</a:t>
            </a:r>
            <a:endParaRPr lang="en-US" sz="1100" dirty="0"/>
          </a:p>
        </p:txBody>
      </p:sp>
      <p:sp>
        <p:nvSpPr>
          <p:cNvPr id="5" name="Text 3"/>
          <p:cNvSpPr/>
          <p:nvPr/>
        </p:nvSpPr>
        <p:spPr>
          <a:xfrm>
            <a:off x="457200" y="3035808"/>
            <a:ext cx="11274552" cy="1737360"/>
          </a:xfrm>
          <a:prstGeom prst="rect">
            <a:avLst/>
          </a:prstGeom>
          <a:noFill/>
          <a:ln/>
        </p:spPr>
        <p:txBody>
          <a:bodyPr wrap="square" lIns="0" tIns="0" rIns="0" bIns="0" rtlCol="0" anchor="ctr"/>
          <a:lstStyle/>
          <a:p>
            <a:pPr marL="0" indent="0" algn="ctr">
              <a:lnSpc>
                <a:spcPct val="96000"/>
              </a:lnSpc>
              <a:buNone/>
            </a:pPr>
            <a:r>
              <a:rPr lang="en-US" sz="5800" b="1" dirty="0">
                <a:solidFill>
                  <a:srgbClr val="EEF1FA"/>
                </a:solidFill>
                <a:latin typeface="Inter" pitchFamily="34" charset="0"/>
                <a:ea typeface="Inter" pitchFamily="34" charset="-122"/>
                <a:cs typeface="Inter" pitchFamily="34" charset="-120"/>
              </a:rPr>
              <a:t>Network Traffic</a:t>
            </a:r>
            <a:endParaRPr lang="en-US" sz="5800" dirty="0"/>
          </a:p>
          <a:p>
            <a:pPr marL="0" indent="0" algn="ctr">
              <a:lnSpc>
                <a:spcPct val="96000"/>
              </a:lnSpc>
              <a:buNone/>
            </a:pPr>
            <a:r>
              <a:rPr lang="en-US" sz="5800" b="1" dirty="0">
                <a:solidFill>
                  <a:srgbClr val="EEF1FA"/>
                </a:solidFill>
                <a:latin typeface="Inter" pitchFamily="34" charset="0"/>
                <a:ea typeface="Inter" pitchFamily="34" charset="-122"/>
                <a:cs typeface="Inter" pitchFamily="34" charset="-120"/>
              </a:rPr>
              <a:t>Anomaly Detector</a:t>
            </a:r>
            <a:endParaRPr lang="en-US" sz="5800" dirty="0"/>
          </a:p>
        </p:txBody>
      </p:sp>
      <p:sp>
        <p:nvSpPr>
          <p:cNvPr id="6" name="Text 4"/>
          <p:cNvSpPr/>
          <p:nvPr/>
        </p:nvSpPr>
        <p:spPr>
          <a:xfrm>
            <a:off x="1371600" y="4828032"/>
            <a:ext cx="9445752" cy="731520"/>
          </a:xfrm>
          <a:prstGeom prst="rect">
            <a:avLst/>
          </a:prstGeom>
          <a:noFill/>
          <a:ln/>
        </p:spPr>
        <p:txBody>
          <a:bodyPr wrap="square" lIns="0" tIns="0" rIns="0" bIns="0" rtlCol="0" anchor="ctr"/>
          <a:lstStyle/>
          <a:p>
            <a:pPr marL="0" indent="0" algn="ctr">
              <a:lnSpc>
                <a:spcPct val="105000"/>
              </a:lnSpc>
              <a:buNone/>
            </a:pPr>
            <a:r>
              <a:rPr lang="en-US" sz="1550" dirty="0">
                <a:solidFill>
                  <a:srgbClr val="9AA3C0"/>
                </a:solidFill>
                <a:latin typeface="Inter" pitchFamily="34" charset="0"/>
                <a:ea typeface="Inter" pitchFamily="34" charset="-122"/>
                <a:cs typeface="Inter" pitchFamily="34" charset="-120"/>
              </a:rPr>
              <a:t>Software that spots cyber-attacks the moment they happen — fast,</a:t>
            </a:r>
            <a:endParaRPr lang="en-US" sz="1550" dirty="0"/>
          </a:p>
          <a:p>
            <a:pPr marL="0" indent="0" algn="ctr">
              <a:lnSpc>
                <a:spcPct val="105000"/>
              </a:lnSpc>
              <a:buNone/>
            </a:pPr>
            <a:r>
              <a:rPr lang="en-US" sz="1550" dirty="0">
                <a:solidFill>
                  <a:srgbClr val="9AA3C0"/>
                </a:solidFill>
                <a:latin typeface="Inter" pitchFamily="34" charset="0"/>
                <a:ea typeface="Inter" pitchFamily="34" charset="-122"/>
                <a:cs typeface="Inter" pitchFamily="34" charset="-120"/>
              </a:rPr>
              <a:t>and without flooding the security team with false alarms.</a:t>
            </a:r>
            <a:endParaRPr lang="en-US" sz="1550" dirty="0"/>
          </a:p>
        </p:txBody>
      </p:sp>
      <p:sp>
        <p:nvSpPr>
          <p:cNvPr id="7" name="Text 5"/>
          <p:cNvSpPr/>
          <p:nvPr/>
        </p:nvSpPr>
        <p:spPr>
          <a:xfrm>
            <a:off x="2395728" y="5897880"/>
            <a:ext cx="246888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EEF1FA"/>
                </a:solidFill>
                <a:latin typeface="JetBrains Mono" pitchFamily="34" charset="0"/>
                <a:ea typeface="JetBrains Mono" pitchFamily="34" charset="-122"/>
                <a:cs typeface="JetBrains Mono" pitchFamily="34" charset="-120"/>
              </a:rPr>
              <a:t>Angel Rusev
</a:t>
            </a:r>
            <a:endParaRPr lang="en-US" sz="1150" dirty="0"/>
          </a:p>
        </p:txBody>
      </p:sp>
      <p:sp>
        <p:nvSpPr>
          <p:cNvPr id="8" name="Shape 6"/>
          <p:cNvSpPr/>
          <p:nvPr/>
        </p:nvSpPr>
        <p:spPr>
          <a:xfrm>
            <a:off x="4937760" y="5943600"/>
            <a:ext cx="0" cy="411480"/>
          </a:xfrm>
          <a:prstGeom prst="line">
            <a:avLst/>
          </a:prstGeom>
          <a:noFill/>
          <a:ln w="12700">
            <a:solidFill>
              <a:srgbClr val="33305F"/>
            </a:solidFill>
            <a:prstDash val="solid"/>
          </a:ln>
        </p:spPr>
        <p:txBody>
          <a:bodyPr/>
          <a:lstStyle/>
          <a:p>
            <a:endParaRPr lang="en-US"/>
          </a:p>
        </p:txBody>
      </p:sp>
      <p:sp>
        <p:nvSpPr>
          <p:cNvPr id="9" name="Text 7"/>
          <p:cNvSpPr/>
          <p:nvPr/>
        </p:nvSpPr>
        <p:spPr>
          <a:xfrm>
            <a:off x="5010912" y="5897880"/>
            <a:ext cx="246888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EEF1FA"/>
                </a:solidFill>
                <a:latin typeface="JetBrains Mono" pitchFamily="34" charset="0"/>
                <a:ea typeface="JetBrains Mono" pitchFamily="34" charset="-122"/>
                <a:cs typeface="JetBrains Mono" pitchFamily="34" charset="-120"/>
              </a:rPr>
              <a:t>Fontys UAS
</a:t>
            </a:r>
            <a:r>
              <a:rPr lang="en-US" sz="1000" dirty="0">
                <a:solidFill>
                  <a:srgbClr val="6B7396"/>
                </a:solidFill>
                <a:latin typeface="JetBrains Mono" pitchFamily="34" charset="0"/>
                <a:ea typeface="JetBrains Mono" pitchFamily="34" charset="-122"/>
                <a:cs typeface="JetBrains Mono" pitchFamily="34" charset="-120"/>
              </a:rPr>
              <a:t>Spring 2026</a:t>
            </a:r>
            <a:endParaRPr lang="en-US" sz="1150" dirty="0"/>
          </a:p>
        </p:txBody>
      </p:sp>
      <p:sp>
        <p:nvSpPr>
          <p:cNvPr id="10" name="Shape 8"/>
          <p:cNvSpPr/>
          <p:nvPr/>
        </p:nvSpPr>
        <p:spPr>
          <a:xfrm>
            <a:off x="7552944" y="5943600"/>
            <a:ext cx="0" cy="411480"/>
          </a:xfrm>
          <a:prstGeom prst="line">
            <a:avLst/>
          </a:prstGeom>
          <a:noFill/>
          <a:ln w="12700">
            <a:solidFill>
              <a:srgbClr val="33305F"/>
            </a:solidFill>
            <a:prstDash val="solid"/>
          </a:ln>
        </p:spPr>
        <p:txBody>
          <a:bodyPr/>
          <a:lstStyle/>
          <a:p>
            <a:endParaRPr lang="en-US"/>
          </a:p>
        </p:txBody>
      </p:sp>
      <p:sp>
        <p:nvSpPr>
          <p:cNvPr id="11" name="Text 9"/>
          <p:cNvSpPr/>
          <p:nvPr/>
        </p:nvSpPr>
        <p:spPr>
          <a:xfrm>
            <a:off x="7626096" y="5897880"/>
            <a:ext cx="246888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EEF1FA"/>
                </a:solidFill>
                <a:latin typeface="JetBrains Mono" pitchFamily="34" charset="0"/>
                <a:ea typeface="JetBrains Mono" pitchFamily="34" charset="-122"/>
                <a:cs typeface="JetBrains Mono" pitchFamily="34" charset="-120"/>
              </a:rPr>
              <a:t>BSc ICT &amp; Software Eng.
</a:t>
            </a:r>
            <a:r>
              <a:rPr lang="en-US" sz="1000" dirty="0">
                <a:solidFill>
                  <a:srgbClr val="6B7396"/>
                </a:solidFill>
                <a:latin typeface="JetBrains Mono" pitchFamily="34" charset="0"/>
                <a:ea typeface="JetBrains Mono" pitchFamily="34" charset="-122"/>
                <a:cs typeface="JetBrains Mono" pitchFamily="34" charset="-120"/>
              </a:rPr>
              <a:t>Minor: A&amp;D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7C9AED"/>
                </a:solidFill>
                <a:latin typeface="JetBrains Mono" pitchFamily="34" charset="0"/>
                <a:ea typeface="JetBrains Mono" pitchFamily="34" charset="-122"/>
                <a:cs typeface="JetBrains Mono" pitchFamily="34" charset="-120"/>
              </a:rPr>
              <a:t>THE PROBLEM</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The hard part: catching an attack you've never seen before</a:t>
            </a:r>
            <a:endParaRPr lang="en-US" sz="3100" dirty="0"/>
          </a:p>
        </p:txBody>
      </p:sp>
      <p:sp>
        <p:nvSpPr>
          <p:cNvPr id="4" name="Shape 2"/>
          <p:cNvSpPr/>
          <p:nvPr/>
        </p:nvSpPr>
        <p:spPr>
          <a:xfrm>
            <a:off x="566928" y="1828800"/>
            <a:ext cx="5349240" cy="3063240"/>
          </a:xfrm>
          <a:prstGeom prst="roundRect">
            <a:avLst>
              <a:gd name="adj" fmla="val 3582"/>
            </a:avLst>
          </a:prstGeom>
          <a:solidFill>
            <a:srgbClr val="141A33">
              <a:alpha val="84000"/>
            </a:srgbClr>
          </a:solidFill>
          <a:ln w="12700">
            <a:solidFill>
              <a:srgbClr val="FB53FF">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5" name="Shape 3"/>
          <p:cNvSpPr/>
          <p:nvPr/>
        </p:nvSpPr>
        <p:spPr>
          <a:xfrm>
            <a:off x="868680" y="2121408"/>
            <a:ext cx="713232" cy="713232"/>
          </a:xfrm>
          <a:prstGeom prst="ellipse">
            <a:avLst/>
          </a:prstGeom>
          <a:solidFill>
            <a:srgbClr val="7C9AED">
              <a:alpha val="18000"/>
            </a:srgbClr>
          </a:solidFill>
          <a:ln w="13970">
            <a:solidFill>
              <a:srgbClr val="7C9AED">
                <a:alpha val="75000"/>
              </a:srgbClr>
            </a:solidFill>
            <a:prstDash val="solid"/>
          </a:ln>
        </p:spPr>
        <p:txBody>
          <a:bodyPr/>
          <a:lstStyle/>
          <a:p>
            <a:endParaRPr lang="en-US"/>
          </a:p>
        </p:txBody>
      </p:sp>
      <p:pic>
        <p:nvPicPr>
          <p:cNvPr id="6" name="Image 0" descr="preencoded.png"/>
          <p:cNvPicPr>
            <a:picLocks noChangeAspect="1"/>
          </p:cNvPicPr>
          <p:nvPr/>
        </p:nvPicPr>
        <p:blipFill>
          <a:blip r:embed="rId4"/>
          <a:stretch>
            <a:fillRect/>
          </a:stretch>
        </p:blipFill>
        <p:spPr>
          <a:xfrm>
            <a:off x="1061253" y="2313981"/>
            <a:ext cx="328087" cy="328087"/>
          </a:xfrm>
          <a:prstGeom prst="rect">
            <a:avLst/>
          </a:prstGeom>
        </p:spPr>
      </p:pic>
      <p:sp>
        <p:nvSpPr>
          <p:cNvPr id="7" name="Text 4"/>
          <p:cNvSpPr/>
          <p:nvPr/>
        </p:nvSpPr>
        <p:spPr>
          <a:xfrm>
            <a:off x="1737360" y="2194560"/>
            <a:ext cx="3931920" cy="365760"/>
          </a:xfrm>
          <a:prstGeom prst="rect">
            <a:avLst/>
          </a:prstGeom>
          <a:noFill/>
          <a:ln/>
        </p:spPr>
        <p:txBody>
          <a:bodyPr wrap="square" lIns="0" tIns="0" rIns="0" bIns="0" rtlCol="0" anchor="ctr"/>
          <a:lstStyle/>
          <a:p>
            <a:pPr marL="0" indent="0" algn="ctr">
              <a:buNone/>
            </a:pPr>
            <a:r>
              <a:rPr lang="en-US" sz="1800" b="1" dirty="0">
                <a:solidFill>
                  <a:srgbClr val="EEF1FA"/>
                </a:solidFill>
                <a:latin typeface="Inter" pitchFamily="34" charset="0"/>
                <a:ea typeface="Inter" pitchFamily="34" charset="-122"/>
                <a:cs typeface="Inter" pitchFamily="34" charset="-120"/>
              </a:rPr>
              <a:t>Known-attack tools</a:t>
            </a:r>
            <a:endParaRPr lang="en-US" sz="1800" dirty="0"/>
          </a:p>
        </p:txBody>
      </p:sp>
      <p:sp>
        <p:nvSpPr>
          <p:cNvPr id="8" name="Text 5"/>
          <p:cNvSpPr/>
          <p:nvPr/>
        </p:nvSpPr>
        <p:spPr>
          <a:xfrm>
            <a:off x="1737360" y="2578608"/>
            <a:ext cx="3931920" cy="274320"/>
          </a:xfrm>
          <a:prstGeom prst="rect">
            <a:avLst/>
          </a:prstGeom>
          <a:noFill/>
          <a:ln/>
        </p:spPr>
        <p:txBody>
          <a:bodyPr wrap="square" lIns="0" tIns="0" rIns="0" bIns="0" rtlCol="0" anchor="ctr"/>
          <a:lstStyle/>
          <a:p>
            <a:pPr marL="0" indent="0" algn="ctr">
              <a:buNone/>
            </a:pPr>
            <a:r>
              <a:rPr lang="en-US" sz="1600" dirty="0">
                <a:solidFill>
                  <a:srgbClr val="7C9AED"/>
                </a:solidFill>
                <a:latin typeface="JetBrains Mono" pitchFamily="34" charset="0"/>
                <a:ea typeface="JetBrains Mono" pitchFamily="34" charset="-122"/>
                <a:cs typeface="JetBrains Mono" pitchFamily="34" charset="-120"/>
              </a:rPr>
              <a:t>Snort · </a:t>
            </a:r>
            <a:r>
              <a:rPr lang="en-US" sz="1600" dirty="0" err="1">
                <a:solidFill>
                  <a:srgbClr val="7C9AED"/>
                </a:solidFill>
                <a:latin typeface="JetBrains Mono" pitchFamily="34" charset="0"/>
                <a:ea typeface="JetBrains Mono" pitchFamily="34" charset="-122"/>
                <a:cs typeface="JetBrains Mono" pitchFamily="34" charset="-120"/>
              </a:rPr>
              <a:t>Scapy</a:t>
            </a:r>
            <a:r>
              <a:rPr lang="en-US" sz="1600" dirty="0">
                <a:solidFill>
                  <a:srgbClr val="7C9AED"/>
                </a:solidFill>
                <a:latin typeface="JetBrains Mono" pitchFamily="34" charset="0"/>
                <a:ea typeface="JetBrains Mono" pitchFamily="34" charset="-122"/>
                <a:cs typeface="JetBrains Mono" pitchFamily="34" charset="-120"/>
              </a:rPr>
              <a:t> · Suricata </a:t>
            </a:r>
            <a:endParaRPr lang="en-US" sz="1600" dirty="0"/>
          </a:p>
        </p:txBody>
      </p:sp>
      <p:sp>
        <p:nvSpPr>
          <p:cNvPr id="9" name="Text 6"/>
          <p:cNvSpPr/>
          <p:nvPr/>
        </p:nvSpPr>
        <p:spPr>
          <a:xfrm>
            <a:off x="914400" y="2824765"/>
            <a:ext cx="4754880" cy="1554480"/>
          </a:xfrm>
          <a:prstGeom prst="rect">
            <a:avLst/>
          </a:prstGeom>
          <a:noFill/>
          <a:ln/>
        </p:spPr>
        <p:txBody>
          <a:bodyPr wrap="square" lIns="0" tIns="0" rIns="0" bIns="0" rtlCol="0" anchor="ctr"/>
          <a:lstStyle/>
          <a:p>
            <a:pPr marL="177800" indent="-177800">
              <a:lnSpc>
                <a:spcPct val="112000"/>
              </a:lnSpc>
              <a:spcAft>
                <a:spcPts val="800"/>
              </a:spcAft>
              <a:buSzPct val="100000"/>
              <a:buChar char="•"/>
            </a:pPr>
            <a:r>
              <a:rPr lang="en-US" sz="1350" b="1" dirty="0">
                <a:solidFill>
                  <a:schemeClr val="bg2"/>
                </a:solidFill>
                <a:latin typeface="Inter" pitchFamily="34" charset="0"/>
                <a:ea typeface="Inter" pitchFamily="34" charset="-122"/>
                <a:cs typeface="Inter" pitchFamily="34" charset="-120"/>
              </a:rPr>
              <a:t>They work from a list of known attack “fingerprints”.</a:t>
            </a:r>
            <a:endParaRPr lang="en-US" sz="1350" b="1" dirty="0">
              <a:solidFill>
                <a:schemeClr val="bg2"/>
              </a:solidFill>
            </a:endParaRPr>
          </a:p>
          <a:p>
            <a:pPr marL="177800" indent="-177800">
              <a:lnSpc>
                <a:spcPct val="112000"/>
              </a:lnSpc>
              <a:spcAft>
                <a:spcPts val="800"/>
              </a:spcAft>
              <a:buSzPct val="100000"/>
              <a:buChar char="•"/>
            </a:pPr>
            <a:r>
              <a:rPr lang="en-US" sz="1350" b="1" dirty="0">
                <a:solidFill>
                  <a:schemeClr val="bg2"/>
                </a:solidFill>
                <a:latin typeface="Inter" pitchFamily="34" charset="0"/>
                <a:ea typeface="Inter" pitchFamily="34" charset="-122"/>
                <a:cs typeface="Inter" pitchFamily="34" charset="-120"/>
              </a:rPr>
              <a:t>If an attack is brand-new, there is often no fingerprint to match - so it slips straight through</a:t>
            </a:r>
            <a:r>
              <a:rPr lang="en-US" sz="1350" b="1" dirty="0">
                <a:solidFill>
                  <a:srgbClr val="9AA3C0"/>
                </a:solidFill>
                <a:latin typeface="Inter" pitchFamily="34" charset="0"/>
                <a:ea typeface="Inter" pitchFamily="34" charset="-122"/>
                <a:cs typeface="Inter" pitchFamily="34" charset="-120"/>
              </a:rPr>
              <a:t>.</a:t>
            </a:r>
            <a:endParaRPr lang="en-US" sz="1350" b="1" dirty="0"/>
          </a:p>
        </p:txBody>
      </p:sp>
      <p:sp>
        <p:nvSpPr>
          <p:cNvPr id="10" name="Shape 7"/>
          <p:cNvSpPr/>
          <p:nvPr/>
        </p:nvSpPr>
        <p:spPr>
          <a:xfrm>
            <a:off x="6272784" y="1828800"/>
            <a:ext cx="5349240" cy="3063240"/>
          </a:xfrm>
          <a:prstGeom prst="roundRect">
            <a:avLst>
              <a:gd name="adj" fmla="val 3582"/>
            </a:avLst>
          </a:prstGeom>
          <a:solidFill>
            <a:srgbClr val="141A33">
              <a:alpha val="84000"/>
            </a:srgbClr>
          </a:solidFill>
          <a:ln w="12700">
            <a:solidFill>
              <a:srgbClr val="8B5CF6">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1" name="Shape 8"/>
          <p:cNvSpPr/>
          <p:nvPr/>
        </p:nvSpPr>
        <p:spPr>
          <a:xfrm>
            <a:off x="6574536" y="2121408"/>
            <a:ext cx="713232" cy="713232"/>
          </a:xfrm>
          <a:prstGeom prst="ellipse">
            <a:avLst/>
          </a:prstGeom>
          <a:solidFill>
            <a:srgbClr val="8B5CF6">
              <a:alpha val="18000"/>
            </a:srgbClr>
          </a:solidFill>
          <a:ln w="13970">
            <a:solidFill>
              <a:srgbClr val="8B5CF6">
                <a:alpha val="75000"/>
              </a:srgbClr>
            </a:solidFill>
            <a:prstDash val="solid"/>
          </a:ln>
        </p:spPr>
        <p:txBody>
          <a:bodyPr/>
          <a:lstStyle/>
          <a:p>
            <a:endParaRPr lang="en-US"/>
          </a:p>
        </p:txBody>
      </p:sp>
      <p:pic>
        <p:nvPicPr>
          <p:cNvPr id="12" name="Image 1" descr="preencoded.png"/>
          <p:cNvPicPr>
            <a:picLocks noChangeAspect="1"/>
          </p:cNvPicPr>
          <p:nvPr/>
        </p:nvPicPr>
        <p:blipFill>
          <a:blip r:embed="rId5"/>
          <a:stretch>
            <a:fillRect/>
          </a:stretch>
        </p:blipFill>
        <p:spPr>
          <a:xfrm>
            <a:off x="6767109" y="2313981"/>
            <a:ext cx="328087" cy="328087"/>
          </a:xfrm>
          <a:prstGeom prst="rect">
            <a:avLst/>
          </a:prstGeom>
        </p:spPr>
      </p:pic>
      <p:sp>
        <p:nvSpPr>
          <p:cNvPr id="13" name="Text 9"/>
          <p:cNvSpPr/>
          <p:nvPr/>
        </p:nvSpPr>
        <p:spPr>
          <a:xfrm>
            <a:off x="7443216" y="2194560"/>
            <a:ext cx="4023360" cy="365760"/>
          </a:xfrm>
          <a:prstGeom prst="rect">
            <a:avLst/>
          </a:prstGeom>
          <a:noFill/>
          <a:ln/>
        </p:spPr>
        <p:txBody>
          <a:bodyPr wrap="square" lIns="0" tIns="0" rIns="0" bIns="0" rtlCol="0" anchor="ctr"/>
          <a:lstStyle/>
          <a:p>
            <a:pPr marL="0" indent="0" algn="ctr">
              <a:buNone/>
            </a:pPr>
            <a:r>
              <a:rPr lang="en-US" sz="1800" b="1" dirty="0">
                <a:solidFill>
                  <a:srgbClr val="EEF1FA"/>
                </a:solidFill>
                <a:latin typeface="Inter" pitchFamily="34" charset="0"/>
                <a:ea typeface="Inter" pitchFamily="34" charset="-122"/>
                <a:cs typeface="Inter" pitchFamily="34" charset="-120"/>
              </a:rPr>
              <a:t>Our approach: spot the unusual</a:t>
            </a:r>
            <a:endParaRPr lang="en-US" sz="1800" dirty="0"/>
          </a:p>
        </p:txBody>
      </p:sp>
      <p:sp>
        <p:nvSpPr>
          <p:cNvPr id="14" name="Text 10"/>
          <p:cNvSpPr/>
          <p:nvPr/>
        </p:nvSpPr>
        <p:spPr>
          <a:xfrm>
            <a:off x="7443216" y="2578608"/>
            <a:ext cx="4023360" cy="274320"/>
          </a:xfrm>
          <a:prstGeom prst="rect">
            <a:avLst/>
          </a:prstGeom>
          <a:noFill/>
          <a:ln/>
        </p:spPr>
        <p:txBody>
          <a:bodyPr wrap="square" lIns="0" tIns="0" rIns="0" bIns="0" rtlCol="0" anchor="ctr"/>
          <a:lstStyle/>
          <a:p>
            <a:pPr marL="0" indent="0" algn="ctr">
              <a:buNone/>
            </a:pPr>
            <a:r>
              <a:rPr lang="en-US" sz="1600" dirty="0">
                <a:solidFill>
                  <a:srgbClr val="A78BFA"/>
                </a:solidFill>
                <a:latin typeface="JetBrains Mono" pitchFamily="34" charset="0"/>
                <a:ea typeface="JetBrains Mono" pitchFamily="34" charset="-122"/>
                <a:cs typeface="JetBrains Mono" pitchFamily="34" charset="-120"/>
              </a:rPr>
              <a:t>learn normal, flag the odd</a:t>
            </a:r>
            <a:endParaRPr lang="en-US" sz="1600" dirty="0"/>
          </a:p>
        </p:txBody>
      </p:sp>
      <p:sp>
        <p:nvSpPr>
          <p:cNvPr id="15" name="Text 11"/>
          <p:cNvSpPr/>
          <p:nvPr/>
        </p:nvSpPr>
        <p:spPr>
          <a:xfrm>
            <a:off x="6711696" y="2884384"/>
            <a:ext cx="4754880" cy="1554480"/>
          </a:xfrm>
          <a:prstGeom prst="rect">
            <a:avLst/>
          </a:prstGeom>
          <a:noFill/>
          <a:ln/>
        </p:spPr>
        <p:txBody>
          <a:bodyPr wrap="square" lIns="0" tIns="0" rIns="0" bIns="0" rtlCol="0" anchor="ctr"/>
          <a:lstStyle/>
          <a:p>
            <a:pPr marL="177800" indent="-177800">
              <a:lnSpc>
                <a:spcPct val="112000"/>
              </a:lnSpc>
              <a:spcAft>
                <a:spcPts val="800"/>
              </a:spcAft>
              <a:buSzPct val="100000"/>
              <a:buChar char="•"/>
            </a:pPr>
            <a:r>
              <a:rPr lang="en-US" sz="1350" b="1" dirty="0">
                <a:solidFill>
                  <a:schemeClr val="bg2"/>
                </a:solidFill>
                <a:latin typeface="Inter" pitchFamily="34" charset="0"/>
                <a:ea typeface="Inter" pitchFamily="34" charset="-122"/>
                <a:cs typeface="Inter" pitchFamily="34" charset="-120"/>
              </a:rPr>
              <a:t>It learns what normal traffic looks like, then flags anything that doesn’t fit - even brand-new attacks.</a:t>
            </a:r>
            <a:endParaRPr lang="en-US" sz="1350" b="1" dirty="0">
              <a:solidFill>
                <a:schemeClr val="bg2"/>
              </a:solidFill>
            </a:endParaRPr>
          </a:p>
          <a:p>
            <a:pPr marL="177800" indent="-177800">
              <a:lnSpc>
                <a:spcPct val="112000"/>
              </a:lnSpc>
              <a:spcAft>
                <a:spcPts val="800"/>
              </a:spcAft>
              <a:buSzPct val="100000"/>
              <a:buChar char="•"/>
            </a:pPr>
            <a:r>
              <a:rPr lang="en-US" sz="1350" b="1" dirty="0">
                <a:solidFill>
                  <a:schemeClr val="bg2"/>
                </a:solidFill>
                <a:latin typeface="Inter" pitchFamily="34" charset="0"/>
                <a:ea typeface="Inter" pitchFamily="34" charset="-122"/>
                <a:cs typeface="Inter" pitchFamily="34" charset="-120"/>
              </a:rPr>
              <a:t>The known risk: too many false alarms, which bury the security team in noise.</a:t>
            </a:r>
            <a:endParaRPr lang="en-US" sz="1350" b="1" dirty="0">
              <a:solidFill>
                <a:schemeClr val="bg2"/>
              </a:solidFill>
            </a:endParaRPr>
          </a:p>
        </p:txBody>
      </p:sp>
      <p:sp>
        <p:nvSpPr>
          <p:cNvPr id="16" name="Shape 12"/>
          <p:cNvSpPr/>
          <p:nvPr/>
        </p:nvSpPr>
        <p:spPr>
          <a:xfrm>
            <a:off x="566928" y="5138928"/>
            <a:ext cx="11055096" cy="1060704"/>
          </a:xfrm>
          <a:prstGeom prst="roundRect">
            <a:avLst>
              <a:gd name="adj" fmla="val 10345"/>
            </a:avLst>
          </a:prstGeom>
          <a:solidFill>
            <a:srgbClr val="141A33">
              <a:alpha val="86000"/>
            </a:srgbClr>
          </a:solidFill>
          <a:ln w="12700">
            <a:solidFill>
              <a:srgbClr val="00FF00">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7" name="Shape 13"/>
          <p:cNvSpPr/>
          <p:nvPr/>
        </p:nvSpPr>
        <p:spPr>
          <a:xfrm>
            <a:off x="841248" y="5330952"/>
            <a:ext cx="676656" cy="676656"/>
          </a:xfrm>
          <a:prstGeom prst="ellipse">
            <a:avLst/>
          </a:prstGeom>
          <a:solidFill>
            <a:srgbClr val="22D3EE">
              <a:alpha val="18000"/>
            </a:srgbClr>
          </a:solidFill>
          <a:ln w="13970">
            <a:solidFill>
              <a:srgbClr val="22D3EE">
                <a:alpha val="75000"/>
              </a:srgbClr>
            </a:solidFill>
            <a:prstDash val="solid"/>
          </a:ln>
        </p:spPr>
        <p:txBody>
          <a:bodyPr/>
          <a:lstStyle/>
          <a:p>
            <a:endParaRPr lang="en-US"/>
          </a:p>
        </p:txBody>
      </p:sp>
      <p:pic>
        <p:nvPicPr>
          <p:cNvPr id="18" name="Image 2" descr="preencoded.png"/>
          <p:cNvPicPr>
            <a:picLocks noChangeAspect="1"/>
          </p:cNvPicPr>
          <p:nvPr/>
        </p:nvPicPr>
        <p:blipFill>
          <a:blip r:embed="rId6"/>
          <a:stretch>
            <a:fillRect/>
          </a:stretch>
        </p:blipFill>
        <p:spPr>
          <a:xfrm>
            <a:off x="1023945" y="5513649"/>
            <a:ext cx="311262" cy="311262"/>
          </a:xfrm>
          <a:prstGeom prst="rect">
            <a:avLst/>
          </a:prstGeom>
        </p:spPr>
      </p:pic>
      <p:sp>
        <p:nvSpPr>
          <p:cNvPr id="19" name="Text 14"/>
          <p:cNvSpPr/>
          <p:nvPr/>
        </p:nvSpPr>
        <p:spPr>
          <a:xfrm>
            <a:off x="1700784" y="5138928"/>
            <a:ext cx="9692640" cy="1060704"/>
          </a:xfrm>
          <a:prstGeom prst="rect">
            <a:avLst/>
          </a:prstGeom>
          <a:noFill/>
          <a:ln/>
        </p:spPr>
        <p:txBody>
          <a:bodyPr wrap="square" lIns="0" tIns="0" rIns="0" bIns="0" rtlCol="0" anchor="ctr"/>
          <a:lstStyle/>
          <a:p>
            <a:pPr marL="0" indent="0">
              <a:lnSpc>
                <a:spcPct val="105000"/>
              </a:lnSpc>
              <a:buNone/>
            </a:pPr>
            <a:r>
              <a:rPr lang="en-US" sz="1400" b="1" dirty="0">
                <a:solidFill>
                  <a:srgbClr val="22D3EE"/>
                </a:solidFill>
                <a:latin typeface="Inter" pitchFamily="34" charset="0"/>
                <a:ea typeface="Inter" pitchFamily="34" charset="-122"/>
                <a:cs typeface="Inter" pitchFamily="34" charset="-120"/>
              </a:rPr>
              <a:t>Why it has to be automatic:  </a:t>
            </a:r>
            <a:r>
              <a:rPr lang="en-US" sz="1400" dirty="0">
                <a:solidFill>
                  <a:srgbClr val="EEF1FA"/>
                </a:solidFill>
                <a:latin typeface="Inter" pitchFamily="34" charset="0"/>
                <a:ea typeface="Inter" pitchFamily="34" charset="-122"/>
                <a:cs typeface="Inter" pitchFamily="34" charset="-120"/>
              </a:rPr>
              <a:t>a network produces more traffic in a single hour than a person could read through in an entire year.</a:t>
            </a:r>
            <a:endParaRPr lang="en-US" sz="1400" dirty="0"/>
          </a:p>
        </p:txBody>
      </p:sp>
      <p:sp>
        <p:nvSpPr>
          <p:cNvPr id="20" name="Text 15"/>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21" name="Text 16"/>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2 / 14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481328"/>
            <a:ext cx="10972800" cy="365760"/>
          </a:xfrm>
          <a:prstGeom prst="rect">
            <a:avLst/>
          </a:prstGeom>
          <a:noFill/>
          <a:ln/>
        </p:spPr>
        <p:txBody>
          <a:bodyPr wrap="square" lIns="0" tIns="0" rIns="0" bIns="0" rtlCol="0" anchor="ctr"/>
          <a:lstStyle/>
          <a:p>
            <a:pPr marL="0" indent="0" algn="ctr">
              <a:buNone/>
            </a:pPr>
            <a:r>
              <a:rPr lang="en-US" sz="1300" b="1" kern="0" spc="260" dirty="0">
                <a:solidFill>
                  <a:srgbClr val="A78BFA"/>
                </a:solidFill>
                <a:latin typeface="JetBrains Mono" pitchFamily="34" charset="0"/>
                <a:ea typeface="JetBrains Mono" pitchFamily="34" charset="-122"/>
                <a:cs typeface="JetBrains Mono" pitchFamily="34" charset="-120"/>
              </a:rPr>
              <a:t>MAIN RESEARCH QUESTION</a:t>
            </a:r>
            <a:endParaRPr lang="en-US" sz="1300" dirty="0"/>
          </a:p>
        </p:txBody>
      </p:sp>
      <p:sp>
        <p:nvSpPr>
          <p:cNvPr id="3" name="Text 1"/>
          <p:cNvSpPr/>
          <p:nvPr/>
        </p:nvSpPr>
        <p:spPr>
          <a:xfrm>
            <a:off x="1188720" y="2148840"/>
            <a:ext cx="9811512" cy="2286000"/>
          </a:xfrm>
          <a:prstGeom prst="rect">
            <a:avLst/>
          </a:prstGeom>
          <a:noFill/>
          <a:ln/>
        </p:spPr>
        <p:txBody>
          <a:bodyPr wrap="square" lIns="0" tIns="0" rIns="0" bIns="0" rtlCol="0" anchor="ctr"/>
          <a:lstStyle/>
          <a:p>
            <a:pPr marL="0" indent="0" algn="ctr">
              <a:lnSpc>
                <a:spcPct val="112000"/>
              </a:lnSpc>
              <a:buNone/>
            </a:pPr>
            <a:r>
              <a:rPr lang="en-US" sz="3300" b="1" dirty="0">
                <a:solidFill>
                  <a:srgbClr val="EEF1FA"/>
                </a:solidFill>
                <a:latin typeface="Inter" pitchFamily="34" charset="0"/>
                <a:ea typeface="Inter" pitchFamily="34" charset="-122"/>
                <a:cs typeface="Inter" pitchFamily="34" charset="-120"/>
              </a:rPr>
              <a:t>How can a smart system </a:t>
            </a:r>
            <a:r>
              <a:rPr lang="en-US" sz="3300" b="1" dirty="0">
                <a:solidFill>
                  <a:srgbClr val="A78BFA"/>
                </a:solidFill>
                <a:latin typeface="Inter" pitchFamily="34" charset="0"/>
                <a:ea typeface="Inter" pitchFamily="34" charset="-122"/>
                <a:cs typeface="Inter" pitchFamily="34" charset="-120"/>
              </a:rPr>
              <a:t>spot cyber-attacks accurately and in real time</a:t>
            </a:r>
            <a:r>
              <a:rPr lang="en-US" sz="3300" b="1" dirty="0">
                <a:solidFill>
                  <a:srgbClr val="EEF1FA"/>
                </a:solidFill>
                <a:latin typeface="Inter" pitchFamily="34" charset="0"/>
                <a:ea typeface="Inter" pitchFamily="34" charset="-122"/>
                <a:cs typeface="Inter" pitchFamily="34" charset="-120"/>
              </a:rPr>
              <a:t> — while keeping </a:t>
            </a:r>
            <a:r>
              <a:rPr lang="en-US" sz="3300" b="1" dirty="0">
                <a:solidFill>
                  <a:srgbClr val="22D3EE"/>
                </a:solidFill>
                <a:latin typeface="Inter" pitchFamily="34" charset="0"/>
                <a:ea typeface="Inter" pitchFamily="34" charset="-122"/>
                <a:cs typeface="Inter" pitchFamily="34" charset="-120"/>
              </a:rPr>
              <a:t>false alarms low</a:t>
            </a:r>
            <a:r>
              <a:rPr lang="en-US" sz="3300" b="1" dirty="0">
                <a:solidFill>
                  <a:srgbClr val="EEF1FA"/>
                </a:solidFill>
                <a:latin typeface="Inter" pitchFamily="34" charset="0"/>
                <a:ea typeface="Inter" pitchFamily="34" charset="-122"/>
                <a:cs typeface="Inter" pitchFamily="34" charset="-120"/>
              </a:rPr>
              <a:t>?</a:t>
            </a:r>
            <a:endParaRPr lang="en-US" sz="3300" dirty="0"/>
          </a:p>
        </p:txBody>
      </p:sp>
      <p:sp>
        <p:nvSpPr>
          <p:cNvPr id="4" name="Shape 2"/>
          <p:cNvSpPr/>
          <p:nvPr/>
        </p:nvSpPr>
        <p:spPr>
          <a:xfrm>
            <a:off x="3063240" y="5029200"/>
            <a:ext cx="1627632" cy="566928"/>
          </a:xfrm>
          <a:prstGeom prst="roundRect">
            <a:avLst>
              <a:gd name="adj" fmla="val 50000"/>
            </a:avLst>
          </a:prstGeom>
          <a:solidFill>
            <a:srgbClr val="10B981">
              <a:alpha val="20000"/>
            </a:srgbClr>
          </a:solidFill>
          <a:ln w="15875">
            <a:solidFill>
              <a:srgbClr val="00FF00">
                <a:alpha val="80000"/>
              </a:srgbClr>
            </a:solidFill>
            <a:prstDash val="solid"/>
          </a:ln>
        </p:spPr>
        <p:txBody>
          <a:bodyPr/>
          <a:lstStyle/>
          <a:p>
            <a:endParaRPr lang="en-US" dirty="0"/>
          </a:p>
        </p:txBody>
      </p:sp>
      <p:sp>
        <p:nvSpPr>
          <p:cNvPr id="5" name="Text 3"/>
          <p:cNvSpPr/>
          <p:nvPr/>
        </p:nvSpPr>
        <p:spPr>
          <a:xfrm>
            <a:off x="3063240" y="5029200"/>
            <a:ext cx="1627632" cy="566928"/>
          </a:xfrm>
          <a:prstGeom prst="rect">
            <a:avLst/>
          </a:prstGeom>
          <a:noFill/>
          <a:ln/>
        </p:spPr>
        <p:txBody>
          <a:bodyPr wrap="square" lIns="0" tIns="0" rIns="0" bIns="0" rtlCol="0" anchor="ctr"/>
          <a:lstStyle/>
          <a:p>
            <a:pPr marL="0" indent="0" algn="ctr">
              <a:buNone/>
            </a:pPr>
            <a:r>
              <a:rPr lang="en-US" sz="1450" b="1" dirty="0">
                <a:solidFill>
                  <a:srgbClr val="00FF00"/>
                </a:solidFill>
                <a:latin typeface="Inter" pitchFamily="34" charset="0"/>
                <a:ea typeface="Inter" pitchFamily="34" charset="-122"/>
                <a:cs typeface="Inter" pitchFamily="34" charset="-120"/>
              </a:rPr>
              <a:t>Accurate</a:t>
            </a:r>
            <a:endParaRPr lang="en-US" sz="1450" dirty="0">
              <a:solidFill>
                <a:srgbClr val="00FF00"/>
              </a:solidFill>
            </a:endParaRPr>
          </a:p>
        </p:txBody>
      </p:sp>
      <p:sp>
        <p:nvSpPr>
          <p:cNvPr id="6" name="Shape 4"/>
          <p:cNvSpPr/>
          <p:nvPr/>
        </p:nvSpPr>
        <p:spPr>
          <a:xfrm>
            <a:off x="5102352" y="5029200"/>
            <a:ext cx="1133856" cy="566928"/>
          </a:xfrm>
          <a:prstGeom prst="roundRect">
            <a:avLst>
              <a:gd name="adj" fmla="val 50000"/>
            </a:avLst>
          </a:prstGeom>
          <a:solidFill>
            <a:srgbClr val="22D3EE">
              <a:alpha val="20000"/>
            </a:srgbClr>
          </a:solidFill>
          <a:ln w="15875">
            <a:solidFill>
              <a:srgbClr val="22D3EE">
                <a:alpha val="80000"/>
              </a:srgbClr>
            </a:solidFill>
            <a:prstDash val="solid"/>
          </a:ln>
        </p:spPr>
        <p:txBody>
          <a:bodyPr/>
          <a:lstStyle/>
          <a:p>
            <a:endParaRPr lang="en-US"/>
          </a:p>
        </p:txBody>
      </p:sp>
      <p:sp>
        <p:nvSpPr>
          <p:cNvPr id="7" name="Text 5"/>
          <p:cNvSpPr/>
          <p:nvPr/>
        </p:nvSpPr>
        <p:spPr>
          <a:xfrm>
            <a:off x="5102352" y="5029200"/>
            <a:ext cx="1133856" cy="566928"/>
          </a:xfrm>
          <a:prstGeom prst="rect">
            <a:avLst/>
          </a:prstGeom>
          <a:noFill/>
          <a:ln/>
        </p:spPr>
        <p:txBody>
          <a:bodyPr wrap="square" lIns="0" tIns="0" rIns="0" bIns="0" rtlCol="0" anchor="ctr"/>
          <a:lstStyle/>
          <a:p>
            <a:pPr marL="0" indent="0" algn="ctr">
              <a:buNone/>
            </a:pPr>
            <a:r>
              <a:rPr lang="en-US" sz="1450" b="1" dirty="0">
                <a:solidFill>
                  <a:srgbClr val="22D3EE"/>
                </a:solidFill>
                <a:latin typeface="Inter" pitchFamily="34" charset="0"/>
                <a:ea typeface="Inter" pitchFamily="34" charset="-122"/>
                <a:cs typeface="Inter" pitchFamily="34" charset="-120"/>
              </a:rPr>
              <a:t>Fast</a:t>
            </a:r>
            <a:endParaRPr lang="en-US" sz="1450" dirty="0"/>
          </a:p>
        </p:txBody>
      </p:sp>
      <p:sp>
        <p:nvSpPr>
          <p:cNvPr id="8" name="Shape 6"/>
          <p:cNvSpPr/>
          <p:nvPr/>
        </p:nvSpPr>
        <p:spPr>
          <a:xfrm>
            <a:off x="6647688" y="5029200"/>
            <a:ext cx="2615184" cy="566928"/>
          </a:xfrm>
          <a:prstGeom prst="roundRect">
            <a:avLst>
              <a:gd name="adj" fmla="val 50000"/>
            </a:avLst>
          </a:prstGeom>
          <a:solidFill>
            <a:srgbClr val="8B5CF6">
              <a:alpha val="20000"/>
            </a:srgbClr>
          </a:solidFill>
          <a:ln w="15875">
            <a:solidFill>
              <a:srgbClr val="FB53FF">
                <a:alpha val="80000"/>
              </a:srgbClr>
            </a:solidFill>
            <a:prstDash val="solid"/>
          </a:ln>
        </p:spPr>
        <p:txBody>
          <a:bodyPr/>
          <a:lstStyle/>
          <a:p>
            <a:endParaRPr lang="en-US"/>
          </a:p>
        </p:txBody>
      </p:sp>
      <p:sp>
        <p:nvSpPr>
          <p:cNvPr id="9" name="Text 7"/>
          <p:cNvSpPr/>
          <p:nvPr/>
        </p:nvSpPr>
        <p:spPr>
          <a:xfrm>
            <a:off x="6647688" y="5029200"/>
            <a:ext cx="2615184" cy="566928"/>
          </a:xfrm>
          <a:prstGeom prst="rect">
            <a:avLst/>
          </a:prstGeom>
          <a:noFill/>
          <a:ln/>
        </p:spPr>
        <p:txBody>
          <a:bodyPr wrap="square" lIns="0" tIns="0" rIns="0" bIns="0" rtlCol="0" anchor="ctr"/>
          <a:lstStyle/>
          <a:p>
            <a:pPr marL="0" indent="0" algn="ctr">
              <a:buNone/>
            </a:pPr>
            <a:r>
              <a:rPr lang="en-US" sz="1450" b="1" dirty="0">
                <a:solidFill>
                  <a:srgbClr val="FB53FF"/>
                </a:solidFill>
                <a:latin typeface="Inter" pitchFamily="34" charset="0"/>
                <a:ea typeface="Inter" pitchFamily="34" charset="-122"/>
                <a:cs typeface="Inter" pitchFamily="34" charset="-120"/>
              </a:rPr>
              <a:t>Few false alarms</a:t>
            </a:r>
            <a:endParaRPr lang="en-US" sz="1450" dirty="0">
              <a:solidFill>
                <a:srgbClr val="FB53FF"/>
              </a:solidFill>
            </a:endParaRPr>
          </a:p>
        </p:txBody>
      </p:sp>
      <p:sp>
        <p:nvSpPr>
          <p:cNvPr id="10" name="Text 8"/>
          <p:cNvSpPr/>
          <p:nvPr/>
        </p:nvSpPr>
        <p:spPr>
          <a:xfrm>
            <a:off x="1188720" y="5870448"/>
            <a:ext cx="9811512" cy="365760"/>
          </a:xfrm>
          <a:prstGeom prst="rect">
            <a:avLst/>
          </a:prstGeom>
          <a:noFill/>
          <a:ln/>
        </p:spPr>
        <p:txBody>
          <a:bodyPr wrap="square" lIns="0" tIns="0" rIns="0" bIns="0" rtlCol="0" anchor="ctr"/>
          <a:lstStyle/>
          <a:p>
            <a:pPr marL="0" indent="0" algn="ctr">
              <a:buNone/>
            </a:pPr>
            <a:r>
              <a:rPr lang="en-US" sz="1250" b="1" i="1" dirty="0">
                <a:solidFill>
                  <a:schemeClr val="bg1"/>
                </a:solidFill>
                <a:latin typeface="Inter" pitchFamily="34" charset="0"/>
                <a:ea typeface="Inter" pitchFamily="34" charset="-122"/>
                <a:cs typeface="Inter" pitchFamily="34" charset="-120"/>
              </a:rPr>
              <a:t>Three goals that pull against each other — the trick is balancing them, not chasing just one.</a:t>
            </a:r>
            <a:endParaRPr lang="en-US" sz="1250" b="1"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A78BFA"/>
                </a:solidFill>
                <a:latin typeface="JetBrains Mono" pitchFamily="34" charset="0"/>
                <a:ea typeface="JetBrains Mono" pitchFamily="34" charset="-122"/>
                <a:cs typeface="JetBrains Mono" pitchFamily="34" charset="-120"/>
              </a:rPr>
              <a:t>DECOMPOSITION · THE SLIDE THAT MATTERS</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Six smaller questions - and the short answer to each</a:t>
            </a:r>
            <a:endParaRPr lang="en-US" sz="3100" dirty="0"/>
          </a:p>
        </p:txBody>
      </p:sp>
      <p:sp>
        <p:nvSpPr>
          <p:cNvPr id="4" name="Shape 2"/>
          <p:cNvSpPr/>
          <p:nvPr/>
        </p:nvSpPr>
        <p:spPr>
          <a:xfrm>
            <a:off x="566928" y="1755648"/>
            <a:ext cx="3593592" cy="2249424"/>
          </a:xfrm>
          <a:prstGeom prst="roundRect">
            <a:avLst>
              <a:gd name="adj" fmla="val 4878"/>
            </a:avLst>
          </a:prstGeom>
          <a:solidFill>
            <a:srgbClr val="141A33">
              <a:alpha val="84000"/>
            </a:srgbClr>
          </a:solidFill>
          <a:ln w="12700">
            <a:solidFill>
              <a:srgbClr val="22D3EE">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5" name="Shape 3"/>
          <p:cNvSpPr/>
          <p:nvPr/>
        </p:nvSpPr>
        <p:spPr>
          <a:xfrm>
            <a:off x="822960" y="1993392"/>
            <a:ext cx="868680" cy="365760"/>
          </a:xfrm>
          <a:prstGeom prst="roundRect">
            <a:avLst>
              <a:gd name="adj" fmla="val 50000"/>
            </a:avLst>
          </a:prstGeom>
          <a:solidFill>
            <a:srgbClr val="22D3EE">
              <a:alpha val="22000"/>
            </a:srgbClr>
          </a:solidFill>
          <a:ln w="12700">
            <a:solidFill>
              <a:srgbClr val="22D3EE">
                <a:alpha val="75000"/>
              </a:srgbClr>
            </a:solidFill>
            <a:prstDash val="solid"/>
          </a:ln>
        </p:spPr>
        <p:txBody>
          <a:bodyPr/>
          <a:lstStyle/>
          <a:p>
            <a:endParaRPr lang="en-US"/>
          </a:p>
        </p:txBody>
      </p:sp>
      <p:sp>
        <p:nvSpPr>
          <p:cNvPr id="6" name="Text 4"/>
          <p:cNvSpPr/>
          <p:nvPr/>
        </p:nvSpPr>
        <p:spPr>
          <a:xfrm>
            <a:off x="822960" y="1988820"/>
            <a:ext cx="868680" cy="365760"/>
          </a:xfrm>
          <a:prstGeom prst="rect">
            <a:avLst/>
          </a:prstGeom>
          <a:noFill/>
          <a:ln/>
        </p:spPr>
        <p:txBody>
          <a:bodyPr wrap="square" lIns="0" tIns="0" rIns="0" bIns="0" rtlCol="0" anchor="ctr"/>
          <a:lstStyle/>
          <a:p>
            <a:pPr marL="0" indent="0" algn="ctr">
              <a:buNone/>
            </a:pPr>
            <a:r>
              <a:rPr lang="en-US" sz="1200" b="1" dirty="0">
                <a:solidFill>
                  <a:srgbClr val="22D3EE"/>
                </a:solidFill>
                <a:latin typeface="JetBrains Mono" pitchFamily="34" charset="0"/>
                <a:ea typeface="JetBrains Mono" pitchFamily="34" charset="-122"/>
                <a:cs typeface="JetBrains Mono" pitchFamily="34" charset="-120"/>
              </a:rPr>
              <a:t>SRQ1</a:t>
            </a:r>
            <a:endParaRPr lang="en-US" sz="1200" dirty="0"/>
          </a:p>
        </p:txBody>
      </p:sp>
      <p:sp>
        <p:nvSpPr>
          <p:cNvPr id="7" name="Text 5"/>
          <p:cNvSpPr/>
          <p:nvPr/>
        </p:nvSpPr>
        <p:spPr>
          <a:xfrm>
            <a:off x="1810512" y="1975104"/>
            <a:ext cx="2130552" cy="402336"/>
          </a:xfrm>
          <a:prstGeom prst="rect">
            <a:avLst/>
          </a:prstGeom>
          <a:noFill/>
          <a:ln/>
        </p:spPr>
        <p:txBody>
          <a:bodyPr wrap="square" lIns="0" tIns="0" rIns="0" bIns="0" rtlCol="0" anchor="ctr"/>
          <a:lstStyle/>
          <a:p>
            <a:pPr marL="0" indent="0">
              <a:buNone/>
            </a:pPr>
            <a:r>
              <a:rPr lang="en-US" sz="1600" b="1" dirty="0">
                <a:solidFill>
                  <a:srgbClr val="EEF1FA"/>
                </a:solidFill>
                <a:latin typeface="Inter" pitchFamily="34" charset="0"/>
                <a:ea typeface="Inter" pitchFamily="34" charset="-122"/>
                <a:cs typeface="Inter" pitchFamily="34" charset="-120"/>
              </a:rPr>
              <a:t>Features</a:t>
            </a:r>
            <a:endParaRPr lang="en-US" sz="1600" dirty="0"/>
          </a:p>
        </p:txBody>
      </p:sp>
      <p:sp>
        <p:nvSpPr>
          <p:cNvPr id="8" name="Text 6"/>
          <p:cNvSpPr/>
          <p:nvPr/>
        </p:nvSpPr>
        <p:spPr>
          <a:xfrm>
            <a:off x="811296" y="2487168"/>
            <a:ext cx="3791028" cy="548640"/>
          </a:xfrm>
          <a:prstGeom prst="rect">
            <a:avLst/>
          </a:prstGeom>
          <a:noFill/>
          <a:ln/>
        </p:spPr>
        <p:txBody>
          <a:bodyPr wrap="square" lIns="0" tIns="0" rIns="0" bIns="0" rtlCol="0" anchor="ctr"/>
          <a:lstStyle/>
          <a:p>
            <a:pPr marL="0" indent="0">
              <a:lnSpc>
                <a:spcPct val="102000"/>
              </a:lnSpc>
              <a:buNone/>
            </a:pPr>
            <a:r>
              <a:rPr lang="en-US" sz="1400" b="1" i="1" dirty="0">
                <a:solidFill>
                  <a:srgbClr val="FF0000"/>
                </a:solidFill>
                <a:latin typeface="Inter" pitchFamily="34" charset="0"/>
                <a:ea typeface="Inter" pitchFamily="34" charset="-122"/>
                <a:cs typeface="Inter" pitchFamily="34" charset="-120"/>
              </a:rPr>
              <a:t>What in the traffic gives an attack away?</a:t>
            </a:r>
            <a:endParaRPr lang="en-US" sz="1400" b="1" dirty="0">
              <a:solidFill>
                <a:srgbClr val="FF0000"/>
              </a:solidFill>
            </a:endParaRPr>
          </a:p>
        </p:txBody>
      </p:sp>
      <p:sp>
        <p:nvSpPr>
          <p:cNvPr id="9" name="Shape 7"/>
          <p:cNvSpPr/>
          <p:nvPr/>
        </p:nvSpPr>
        <p:spPr>
          <a:xfrm>
            <a:off x="822960" y="3127248"/>
            <a:ext cx="3081528" cy="0"/>
          </a:xfrm>
          <a:prstGeom prst="line">
            <a:avLst/>
          </a:prstGeom>
          <a:noFill/>
          <a:ln w="9525">
            <a:solidFill>
              <a:srgbClr val="33305F"/>
            </a:solidFill>
            <a:prstDash val="solid"/>
          </a:ln>
        </p:spPr>
        <p:txBody>
          <a:bodyPr/>
          <a:lstStyle/>
          <a:p>
            <a:endParaRPr lang="en-US"/>
          </a:p>
        </p:txBody>
      </p:sp>
      <p:sp>
        <p:nvSpPr>
          <p:cNvPr id="10" name="Text 8"/>
          <p:cNvSpPr/>
          <p:nvPr/>
        </p:nvSpPr>
        <p:spPr>
          <a:xfrm>
            <a:off x="822960" y="3182112"/>
            <a:ext cx="3136392" cy="548640"/>
          </a:xfrm>
          <a:prstGeom prst="rect">
            <a:avLst/>
          </a:prstGeom>
          <a:noFill/>
          <a:ln/>
        </p:spPr>
        <p:txBody>
          <a:bodyPr wrap="square" lIns="0" tIns="0" rIns="0" bIns="0" rtlCol="0" anchor="t"/>
          <a:lstStyle/>
          <a:p>
            <a:pPr marL="0" indent="0">
              <a:lnSpc>
                <a:spcPct val="104000"/>
              </a:lnSpc>
              <a:buNone/>
            </a:pPr>
            <a:r>
              <a:rPr lang="en-US" sz="1400" b="1" dirty="0">
                <a:solidFill>
                  <a:srgbClr val="22D3EE"/>
                </a:solidFill>
                <a:latin typeface="Inter" pitchFamily="34" charset="0"/>
                <a:ea typeface="Inter" pitchFamily="34" charset="-122"/>
                <a:cs typeface="Inter" pitchFamily="34" charset="-120"/>
              </a:rPr>
              <a:t>→ </a:t>
            </a:r>
            <a:r>
              <a:rPr lang="en-US" sz="1400" dirty="0">
                <a:solidFill>
                  <a:srgbClr val="EEF1FA"/>
                </a:solidFill>
                <a:latin typeface="Inter" pitchFamily="34" charset="0"/>
                <a:ea typeface="Inter" pitchFamily="34" charset="-122"/>
                <a:cs typeface="Inter" pitchFamily="34" charset="-120"/>
              </a:rPr>
              <a:t>About 20 packet flags – using  the right data + the right ML model boosts accuracy.</a:t>
            </a:r>
            <a:endParaRPr lang="en-US" sz="1400" dirty="0"/>
          </a:p>
        </p:txBody>
      </p:sp>
      <p:sp>
        <p:nvSpPr>
          <p:cNvPr id="11" name="Text 9"/>
          <p:cNvSpPr/>
          <p:nvPr/>
        </p:nvSpPr>
        <p:spPr>
          <a:xfrm>
            <a:off x="822960" y="3675888"/>
            <a:ext cx="3081528" cy="256032"/>
          </a:xfrm>
          <a:prstGeom prst="rect">
            <a:avLst/>
          </a:prstGeom>
          <a:noFill/>
          <a:ln/>
        </p:spPr>
        <p:txBody>
          <a:bodyPr wrap="square" lIns="0" tIns="0" rIns="0" bIns="0" rtlCol="0" anchor="ctr"/>
          <a:lstStyle/>
          <a:p>
            <a:pPr marL="0" indent="0">
              <a:buNone/>
            </a:pPr>
            <a:r>
              <a:rPr lang="en-US" sz="1400" kern="0" spc="50" dirty="0">
                <a:solidFill>
                  <a:srgbClr val="FB53FF"/>
                </a:solidFill>
                <a:latin typeface="JetBrains Mono" pitchFamily="34" charset="0"/>
                <a:ea typeface="JetBrains Mono" pitchFamily="34" charset="-122"/>
                <a:cs typeface="JetBrains Mono" pitchFamily="34" charset="-120"/>
              </a:rPr>
              <a:t>Library + Lab</a:t>
            </a:r>
            <a:endParaRPr lang="en-US" sz="1400" dirty="0">
              <a:solidFill>
                <a:srgbClr val="FB53FF"/>
              </a:solidFill>
            </a:endParaRPr>
          </a:p>
        </p:txBody>
      </p:sp>
      <p:sp>
        <p:nvSpPr>
          <p:cNvPr id="12" name="Shape 10"/>
          <p:cNvSpPr/>
          <p:nvPr/>
        </p:nvSpPr>
        <p:spPr>
          <a:xfrm>
            <a:off x="4297680" y="1755648"/>
            <a:ext cx="3593592" cy="2249424"/>
          </a:xfrm>
          <a:prstGeom prst="roundRect">
            <a:avLst>
              <a:gd name="adj" fmla="val 4878"/>
            </a:avLst>
          </a:prstGeom>
          <a:solidFill>
            <a:srgbClr val="141A33">
              <a:alpha val="84000"/>
            </a:srgbClr>
          </a:solidFill>
          <a:ln w="12700">
            <a:solidFill>
              <a:srgbClr val="8B5CF6">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3" name="Shape 11"/>
          <p:cNvSpPr/>
          <p:nvPr/>
        </p:nvSpPr>
        <p:spPr>
          <a:xfrm>
            <a:off x="4553712" y="1993392"/>
            <a:ext cx="868680" cy="365760"/>
          </a:xfrm>
          <a:prstGeom prst="roundRect">
            <a:avLst>
              <a:gd name="adj" fmla="val 50000"/>
            </a:avLst>
          </a:prstGeom>
          <a:solidFill>
            <a:srgbClr val="8B5CF6">
              <a:alpha val="22000"/>
            </a:srgbClr>
          </a:solidFill>
          <a:ln w="12700">
            <a:solidFill>
              <a:srgbClr val="FB53FF">
                <a:alpha val="75000"/>
              </a:srgbClr>
            </a:solidFill>
            <a:prstDash val="solid"/>
          </a:ln>
        </p:spPr>
        <p:txBody>
          <a:bodyPr/>
          <a:lstStyle/>
          <a:p>
            <a:endParaRPr lang="en-US"/>
          </a:p>
        </p:txBody>
      </p:sp>
      <p:sp>
        <p:nvSpPr>
          <p:cNvPr id="14" name="Text 12"/>
          <p:cNvSpPr/>
          <p:nvPr/>
        </p:nvSpPr>
        <p:spPr>
          <a:xfrm>
            <a:off x="4553712" y="1988820"/>
            <a:ext cx="868680" cy="365760"/>
          </a:xfrm>
          <a:prstGeom prst="rect">
            <a:avLst/>
          </a:prstGeom>
          <a:noFill/>
          <a:ln/>
        </p:spPr>
        <p:txBody>
          <a:bodyPr wrap="square" lIns="0" tIns="0" rIns="0" bIns="0" rtlCol="0" anchor="ctr"/>
          <a:lstStyle/>
          <a:p>
            <a:pPr marL="0" indent="0" algn="ctr">
              <a:buNone/>
            </a:pPr>
            <a:r>
              <a:rPr lang="en-US" sz="1200" b="1" dirty="0">
                <a:solidFill>
                  <a:srgbClr val="8B5CF6"/>
                </a:solidFill>
                <a:latin typeface="JetBrains Mono" pitchFamily="34" charset="0"/>
                <a:ea typeface="JetBrains Mono" pitchFamily="34" charset="-122"/>
                <a:cs typeface="JetBrains Mono" pitchFamily="34" charset="-120"/>
              </a:rPr>
              <a:t>SRQ2</a:t>
            </a:r>
            <a:endParaRPr lang="en-US" sz="1200" dirty="0"/>
          </a:p>
        </p:txBody>
      </p:sp>
      <p:sp>
        <p:nvSpPr>
          <p:cNvPr id="15" name="Text 13"/>
          <p:cNvSpPr/>
          <p:nvPr/>
        </p:nvSpPr>
        <p:spPr>
          <a:xfrm>
            <a:off x="5541264" y="1975104"/>
            <a:ext cx="2130552" cy="402336"/>
          </a:xfrm>
          <a:prstGeom prst="rect">
            <a:avLst/>
          </a:prstGeom>
          <a:noFill/>
          <a:ln/>
        </p:spPr>
        <p:txBody>
          <a:bodyPr wrap="square" lIns="0" tIns="0" rIns="0" bIns="0" rtlCol="0" anchor="ctr"/>
          <a:lstStyle/>
          <a:p>
            <a:pPr marL="0" indent="0">
              <a:buNone/>
            </a:pPr>
            <a:r>
              <a:rPr lang="en-US" sz="1600" b="1" dirty="0">
                <a:solidFill>
                  <a:srgbClr val="EEF1FA"/>
                </a:solidFill>
                <a:latin typeface="Inter" pitchFamily="34" charset="0"/>
                <a:ea typeface="Inter" pitchFamily="34" charset="-122"/>
                <a:cs typeface="Inter" pitchFamily="34" charset="-120"/>
              </a:rPr>
              <a:t>Method</a:t>
            </a:r>
            <a:endParaRPr lang="en-US" sz="1600" dirty="0"/>
          </a:p>
        </p:txBody>
      </p:sp>
      <p:sp>
        <p:nvSpPr>
          <p:cNvPr id="16" name="Text 14"/>
          <p:cNvSpPr/>
          <p:nvPr/>
        </p:nvSpPr>
        <p:spPr>
          <a:xfrm>
            <a:off x="4553712" y="2523744"/>
            <a:ext cx="3081528" cy="548640"/>
          </a:xfrm>
          <a:prstGeom prst="rect">
            <a:avLst/>
          </a:prstGeom>
          <a:noFill/>
          <a:ln/>
        </p:spPr>
        <p:txBody>
          <a:bodyPr wrap="square" lIns="0" tIns="0" rIns="0" bIns="0" rtlCol="0" anchor="ctr"/>
          <a:lstStyle/>
          <a:p>
            <a:pPr marL="0" indent="0">
              <a:lnSpc>
                <a:spcPct val="102000"/>
              </a:lnSpc>
              <a:buNone/>
            </a:pPr>
            <a:r>
              <a:rPr lang="en-US" sz="1400" b="1" i="1" dirty="0">
                <a:solidFill>
                  <a:srgbClr val="FF0000"/>
                </a:solidFill>
                <a:latin typeface="Inter" pitchFamily="34" charset="0"/>
                <a:ea typeface="Inter" pitchFamily="34" charset="-122"/>
                <a:cs typeface="Inter" pitchFamily="34" charset="-120"/>
              </a:rPr>
              <a:t>Which detection method works best?</a:t>
            </a:r>
            <a:endParaRPr lang="en-US" sz="1400" b="1" dirty="0">
              <a:solidFill>
                <a:srgbClr val="FF0000"/>
              </a:solidFill>
            </a:endParaRPr>
          </a:p>
        </p:txBody>
      </p:sp>
      <p:sp>
        <p:nvSpPr>
          <p:cNvPr id="17" name="Shape 15"/>
          <p:cNvSpPr/>
          <p:nvPr/>
        </p:nvSpPr>
        <p:spPr>
          <a:xfrm>
            <a:off x="4553712" y="3127248"/>
            <a:ext cx="3081528" cy="0"/>
          </a:xfrm>
          <a:prstGeom prst="line">
            <a:avLst/>
          </a:prstGeom>
          <a:noFill/>
          <a:ln w="9525">
            <a:solidFill>
              <a:srgbClr val="33305F"/>
            </a:solidFill>
            <a:prstDash val="solid"/>
          </a:ln>
        </p:spPr>
        <p:txBody>
          <a:bodyPr/>
          <a:lstStyle/>
          <a:p>
            <a:endParaRPr lang="en-US"/>
          </a:p>
        </p:txBody>
      </p:sp>
      <p:sp>
        <p:nvSpPr>
          <p:cNvPr id="18" name="Text 16"/>
          <p:cNvSpPr/>
          <p:nvPr/>
        </p:nvSpPr>
        <p:spPr>
          <a:xfrm>
            <a:off x="4437359" y="3219061"/>
            <a:ext cx="3453913" cy="603504"/>
          </a:xfrm>
          <a:prstGeom prst="rect">
            <a:avLst/>
          </a:prstGeom>
          <a:noFill/>
          <a:ln/>
        </p:spPr>
        <p:txBody>
          <a:bodyPr wrap="square" lIns="0" tIns="0" rIns="0" bIns="0" rtlCol="0" anchor="t"/>
          <a:lstStyle/>
          <a:p>
            <a:pPr marL="0" indent="0">
              <a:lnSpc>
                <a:spcPct val="104000"/>
              </a:lnSpc>
              <a:buNone/>
            </a:pPr>
            <a:r>
              <a:rPr lang="en-US" sz="1400" b="1" dirty="0">
                <a:solidFill>
                  <a:srgbClr val="8B5CF6"/>
                </a:solidFill>
                <a:latin typeface="Inter" pitchFamily="34" charset="0"/>
                <a:ea typeface="Inter" pitchFamily="34" charset="-122"/>
                <a:cs typeface="Inter" pitchFamily="34" charset="-120"/>
              </a:rPr>
              <a:t>→ </a:t>
            </a:r>
            <a:r>
              <a:rPr lang="en-US" sz="1400" dirty="0">
                <a:solidFill>
                  <a:srgbClr val="EEF1FA"/>
                </a:solidFill>
                <a:latin typeface="Inter" pitchFamily="34" charset="0"/>
                <a:ea typeface="Inter" pitchFamily="34" charset="-122"/>
                <a:cs typeface="Inter" pitchFamily="34" charset="-120"/>
              </a:rPr>
              <a:t>Tested 4 models - “Gradient boosting” won.</a:t>
            </a:r>
            <a:endParaRPr lang="en-US" sz="1400" dirty="0"/>
          </a:p>
        </p:txBody>
      </p:sp>
      <p:sp>
        <p:nvSpPr>
          <p:cNvPr id="19" name="Text 17"/>
          <p:cNvSpPr/>
          <p:nvPr/>
        </p:nvSpPr>
        <p:spPr>
          <a:xfrm>
            <a:off x="4485132" y="3675888"/>
            <a:ext cx="3081528" cy="256032"/>
          </a:xfrm>
          <a:prstGeom prst="rect">
            <a:avLst/>
          </a:prstGeom>
          <a:noFill/>
          <a:ln/>
        </p:spPr>
        <p:txBody>
          <a:bodyPr wrap="square" lIns="0" tIns="0" rIns="0" bIns="0" rtlCol="0" anchor="ctr"/>
          <a:lstStyle/>
          <a:p>
            <a:pPr marL="0" indent="0">
              <a:buNone/>
            </a:pPr>
            <a:r>
              <a:rPr lang="en-US" sz="1400" kern="0" spc="50" dirty="0">
                <a:solidFill>
                  <a:srgbClr val="FB53FF"/>
                </a:solidFill>
                <a:latin typeface="JetBrains Mono" pitchFamily="34" charset="0"/>
                <a:ea typeface="JetBrains Mono" pitchFamily="34" charset="-122"/>
                <a:cs typeface="JetBrains Mono" pitchFamily="34" charset="-120"/>
              </a:rPr>
              <a:t>Library+Lab+Showroom</a:t>
            </a:r>
            <a:endParaRPr lang="en-US" sz="1400" dirty="0">
              <a:solidFill>
                <a:srgbClr val="FB53FF"/>
              </a:solidFill>
            </a:endParaRPr>
          </a:p>
        </p:txBody>
      </p:sp>
      <p:sp>
        <p:nvSpPr>
          <p:cNvPr id="20" name="Shape 18"/>
          <p:cNvSpPr/>
          <p:nvPr/>
        </p:nvSpPr>
        <p:spPr>
          <a:xfrm>
            <a:off x="8028432" y="1755648"/>
            <a:ext cx="3593592" cy="2249424"/>
          </a:xfrm>
          <a:prstGeom prst="roundRect">
            <a:avLst>
              <a:gd name="adj" fmla="val 4878"/>
            </a:avLst>
          </a:prstGeom>
          <a:solidFill>
            <a:srgbClr val="141A33">
              <a:alpha val="84000"/>
            </a:srgbClr>
          </a:solidFill>
          <a:ln w="12700">
            <a:solidFill>
              <a:srgbClr val="10B981">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21" name="Shape 19"/>
          <p:cNvSpPr/>
          <p:nvPr/>
        </p:nvSpPr>
        <p:spPr>
          <a:xfrm>
            <a:off x="8284464" y="1993392"/>
            <a:ext cx="868680" cy="365760"/>
          </a:xfrm>
          <a:prstGeom prst="roundRect">
            <a:avLst>
              <a:gd name="adj" fmla="val 50000"/>
            </a:avLst>
          </a:prstGeom>
          <a:solidFill>
            <a:srgbClr val="10B981">
              <a:alpha val="22000"/>
            </a:srgbClr>
          </a:solidFill>
          <a:ln w="12700">
            <a:solidFill>
              <a:srgbClr val="00FF00">
                <a:alpha val="75000"/>
              </a:srgbClr>
            </a:solidFill>
            <a:prstDash val="solid"/>
          </a:ln>
        </p:spPr>
        <p:txBody>
          <a:bodyPr/>
          <a:lstStyle/>
          <a:p>
            <a:endParaRPr lang="en-US"/>
          </a:p>
        </p:txBody>
      </p:sp>
      <p:sp>
        <p:nvSpPr>
          <p:cNvPr id="22" name="Text 20"/>
          <p:cNvSpPr/>
          <p:nvPr/>
        </p:nvSpPr>
        <p:spPr>
          <a:xfrm>
            <a:off x="8284464" y="1988820"/>
            <a:ext cx="868680" cy="365760"/>
          </a:xfrm>
          <a:prstGeom prst="rect">
            <a:avLst/>
          </a:prstGeom>
          <a:noFill/>
          <a:ln/>
        </p:spPr>
        <p:txBody>
          <a:bodyPr wrap="square" lIns="0" tIns="0" rIns="0" bIns="0" rtlCol="0" anchor="ctr"/>
          <a:lstStyle/>
          <a:p>
            <a:pPr marL="0" indent="0" algn="ctr">
              <a:buNone/>
            </a:pPr>
            <a:r>
              <a:rPr lang="en-US" sz="1200" b="1" dirty="0">
                <a:solidFill>
                  <a:srgbClr val="10B981"/>
                </a:solidFill>
                <a:latin typeface="JetBrains Mono" pitchFamily="34" charset="0"/>
                <a:ea typeface="JetBrains Mono" pitchFamily="34" charset="-122"/>
                <a:cs typeface="JetBrains Mono" pitchFamily="34" charset="-120"/>
              </a:rPr>
              <a:t>SRQ3</a:t>
            </a:r>
            <a:endParaRPr lang="en-US" sz="1200" dirty="0"/>
          </a:p>
        </p:txBody>
      </p:sp>
      <p:sp>
        <p:nvSpPr>
          <p:cNvPr id="23" name="Text 21"/>
          <p:cNvSpPr/>
          <p:nvPr/>
        </p:nvSpPr>
        <p:spPr>
          <a:xfrm>
            <a:off x="9272016" y="1975104"/>
            <a:ext cx="2130552" cy="402336"/>
          </a:xfrm>
          <a:prstGeom prst="rect">
            <a:avLst/>
          </a:prstGeom>
          <a:noFill/>
          <a:ln/>
        </p:spPr>
        <p:txBody>
          <a:bodyPr wrap="square" lIns="0" tIns="0" rIns="0" bIns="0" rtlCol="0" anchor="ctr"/>
          <a:lstStyle/>
          <a:p>
            <a:pPr marL="0" indent="0">
              <a:buNone/>
            </a:pPr>
            <a:r>
              <a:rPr lang="en-US" sz="1600" b="1" dirty="0">
                <a:solidFill>
                  <a:srgbClr val="EEF1FA"/>
                </a:solidFill>
                <a:latin typeface="Inter" pitchFamily="34" charset="0"/>
                <a:ea typeface="Inter" pitchFamily="34" charset="-122"/>
                <a:cs typeface="Inter" pitchFamily="34" charset="-120"/>
              </a:rPr>
              <a:t>Speed</a:t>
            </a:r>
            <a:endParaRPr lang="en-US" sz="1600" dirty="0"/>
          </a:p>
        </p:txBody>
      </p:sp>
      <p:sp>
        <p:nvSpPr>
          <p:cNvPr id="24" name="Text 22"/>
          <p:cNvSpPr/>
          <p:nvPr/>
        </p:nvSpPr>
        <p:spPr>
          <a:xfrm>
            <a:off x="8284464" y="2523744"/>
            <a:ext cx="3081528" cy="548640"/>
          </a:xfrm>
          <a:prstGeom prst="rect">
            <a:avLst/>
          </a:prstGeom>
          <a:noFill/>
          <a:ln/>
        </p:spPr>
        <p:txBody>
          <a:bodyPr wrap="square" lIns="0" tIns="0" rIns="0" bIns="0" rtlCol="0" anchor="ctr"/>
          <a:lstStyle/>
          <a:p>
            <a:pPr marL="0" indent="0">
              <a:lnSpc>
                <a:spcPct val="102000"/>
              </a:lnSpc>
              <a:buNone/>
            </a:pPr>
            <a:r>
              <a:rPr lang="en-US" sz="1400" b="1" i="1" dirty="0">
                <a:solidFill>
                  <a:srgbClr val="FF0000"/>
                </a:solidFill>
                <a:latin typeface="Inter" pitchFamily="34" charset="0"/>
                <a:ea typeface="Inter" pitchFamily="34" charset="-122"/>
                <a:cs typeface="Inter" pitchFamily="34" charset="-120"/>
              </a:rPr>
              <a:t>Is it fast enough for real time?</a:t>
            </a:r>
            <a:endParaRPr lang="en-US" sz="1400" b="1" dirty="0">
              <a:solidFill>
                <a:srgbClr val="FF0000"/>
              </a:solidFill>
            </a:endParaRPr>
          </a:p>
        </p:txBody>
      </p:sp>
      <p:sp>
        <p:nvSpPr>
          <p:cNvPr id="25" name="Shape 23"/>
          <p:cNvSpPr/>
          <p:nvPr/>
        </p:nvSpPr>
        <p:spPr>
          <a:xfrm>
            <a:off x="8284464" y="3127248"/>
            <a:ext cx="3081528" cy="0"/>
          </a:xfrm>
          <a:prstGeom prst="line">
            <a:avLst/>
          </a:prstGeom>
          <a:noFill/>
          <a:ln w="9525">
            <a:solidFill>
              <a:srgbClr val="33305F"/>
            </a:solidFill>
            <a:prstDash val="solid"/>
          </a:ln>
        </p:spPr>
        <p:txBody>
          <a:bodyPr/>
          <a:lstStyle/>
          <a:p>
            <a:endParaRPr lang="en-US"/>
          </a:p>
        </p:txBody>
      </p:sp>
      <p:sp>
        <p:nvSpPr>
          <p:cNvPr id="26" name="Text 24"/>
          <p:cNvSpPr/>
          <p:nvPr/>
        </p:nvSpPr>
        <p:spPr>
          <a:xfrm>
            <a:off x="8284464" y="3182112"/>
            <a:ext cx="3136392" cy="603504"/>
          </a:xfrm>
          <a:prstGeom prst="rect">
            <a:avLst/>
          </a:prstGeom>
          <a:noFill/>
          <a:ln/>
        </p:spPr>
        <p:txBody>
          <a:bodyPr wrap="square" lIns="0" tIns="0" rIns="0" bIns="0" rtlCol="0" anchor="t"/>
          <a:lstStyle/>
          <a:p>
            <a:pPr marL="0" indent="0">
              <a:lnSpc>
                <a:spcPct val="104000"/>
              </a:lnSpc>
              <a:buNone/>
            </a:pPr>
            <a:r>
              <a:rPr lang="en-US" sz="1400" b="1" dirty="0">
                <a:solidFill>
                  <a:srgbClr val="10B981"/>
                </a:solidFill>
                <a:latin typeface="Inter" pitchFamily="34" charset="0"/>
                <a:ea typeface="Inter" pitchFamily="34" charset="-122"/>
                <a:cs typeface="Inter" pitchFamily="34" charset="-120"/>
              </a:rPr>
              <a:t>→ </a:t>
            </a:r>
            <a:r>
              <a:rPr lang="en-US" sz="1400" dirty="0">
                <a:solidFill>
                  <a:srgbClr val="EEF1FA"/>
                </a:solidFill>
                <a:latin typeface="Inter" pitchFamily="34" charset="0"/>
                <a:ea typeface="Inter" pitchFamily="34" charset="-122"/>
                <a:cs typeface="Inter" pitchFamily="34" charset="-120"/>
              </a:rPr>
              <a:t>Yes - it scores traffic in ~ 1 second.</a:t>
            </a:r>
            <a:endParaRPr lang="en-US" sz="1400" dirty="0"/>
          </a:p>
        </p:txBody>
      </p:sp>
      <p:sp>
        <p:nvSpPr>
          <p:cNvPr id="27" name="Text 25"/>
          <p:cNvSpPr/>
          <p:nvPr/>
        </p:nvSpPr>
        <p:spPr>
          <a:xfrm>
            <a:off x="8284464" y="3675888"/>
            <a:ext cx="3081528" cy="256032"/>
          </a:xfrm>
          <a:prstGeom prst="rect">
            <a:avLst/>
          </a:prstGeom>
          <a:noFill/>
          <a:ln/>
        </p:spPr>
        <p:txBody>
          <a:bodyPr wrap="square" lIns="0" tIns="0" rIns="0" bIns="0" rtlCol="0" anchor="ctr"/>
          <a:lstStyle/>
          <a:p>
            <a:pPr marL="0" indent="0">
              <a:buNone/>
            </a:pPr>
            <a:r>
              <a:rPr lang="en-US" sz="1400" kern="0" spc="50" dirty="0">
                <a:solidFill>
                  <a:srgbClr val="FB53FF"/>
                </a:solidFill>
                <a:latin typeface="JetBrains Mono" pitchFamily="34" charset="0"/>
                <a:ea typeface="JetBrains Mono" pitchFamily="34" charset="-122"/>
                <a:cs typeface="JetBrains Mono" pitchFamily="34" charset="-120"/>
              </a:rPr>
              <a:t>Lab + Workshop</a:t>
            </a:r>
            <a:endParaRPr lang="en-US" sz="1400" dirty="0">
              <a:solidFill>
                <a:srgbClr val="FB53FF"/>
              </a:solidFill>
            </a:endParaRPr>
          </a:p>
        </p:txBody>
      </p:sp>
      <p:sp>
        <p:nvSpPr>
          <p:cNvPr id="28" name="Shape 26"/>
          <p:cNvSpPr/>
          <p:nvPr/>
        </p:nvSpPr>
        <p:spPr>
          <a:xfrm>
            <a:off x="566928" y="4151376"/>
            <a:ext cx="3593592" cy="2249424"/>
          </a:xfrm>
          <a:prstGeom prst="roundRect">
            <a:avLst>
              <a:gd name="adj" fmla="val 4878"/>
            </a:avLst>
          </a:prstGeom>
          <a:solidFill>
            <a:srgbClr val="141A33">
              <a:alpha val="84000"/>
            </a:srgbClr>
          </a:solidFill>
          <a:ln w="12700">
            <a:solidFill>
              <a:srgbClr val="F4A00D">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29" name="Shape 27"/>
          <p:cNvSpPr/>
          <p:nvPr/>
        </p:nvSpPr>
        <p:spPr>
          <a:xfrm>
            <a:off x="822960" y="4389120"/>
            <a:ext cx="868680" cy="365760"/>
          </a:xfrm>
          <a:prstGeom prst="roundRect">
            <a:avLst>
              <a:gd name="adj" fmla="val 50000"/>
            </a:avLst>
          </a:prstGeom>
          <a:solidFill>
            <a:srgbClr val="F4A00D">
              <a:alpha val="22000"/>
            </a:srgbClr>
          </a:solidFill>
          <a:ln w="12700">
            <a:solidFill>
              <a:srgbClr val="F4A00D">
                <a:alpha val="75000"/>
              </a:srgbClr>
            </a:solidFill>
            <a:prstDash val="solid"/>
          </a:ln>
        </p:spPr>
        <p:txBody>
          <a:bodyPr/>
          <a:lstStyle/>
          <a:p>
            <a:endParaRPr lang="en-US">
              <a:solidFill>
                <a:srgbClr val="FFFF00"/>
              </a:solidFill>
            </a:endParaRPr>
          </a:p>
        </p:txBody>
      </p:sp>
      <p:sp>
        <p:nvSpPr>
          <p:cNvPr id="30" name="Text 28"/>
          <p:cNvSpPr/>
          <p:nvPr/>
        </p:nvSpPr>
        <p:spPr>
          <a:xfrm>
            <a:off x="822960" y="4384548"/>
            <a:ext cx="868680" cy="365760"/>
          </a:xfrm>
          <a:prstGeom prst="rect">
            <a:avLst/>
          </a:prstGeom>
          <a:noFill/>
          <a:ln/>
        </p:spPr>
        <p:txBody>
          <a:bodyPr wrap="square" lIns="0" tIns="0" rIns="0" bIns="0" rtlCol="0" anchor="ctr"/>
          <a:lstStyle/>
          <a:p>
            <a:pPr marL="0" indent="0" algn="ctr">
              <a:buNone/>
            </a:pPr>
            <a:r>
              <a:rPr lang="en-US" sz="1200" b="1" dirty="0">
                <a:solidFill>
                  <a:srgbClr val="F4A00D"/>
                </a:solidFill>
                <a:latin typeface="JetBrains Mono" pitchFamily="34" charset="0"/>
                <a:ea typeface="JetBrains Mono" pitchFamily="34" charset="-122"/>
                <a:cs typeface="JetBrains Mono" pitchFamily="34" charset="-120"/>
              </a:rPr>
              <a:t>SRQ4</a:t>
            </a:r>
            <a:endParaRPr lang="en-US" sz="1200" dirty="0"/>
          </a:p>
        </p:txBody>
      </p:sp>
      <p:sp>
        <p:nvSpPr>
          <p:cNvPr id="31" name="Text 29"/>
          <p:cNvSpPr/>
          <p:nvPr/>
        </p:nvSpPr>
        <p:spPr>
          <a:xfrm>
            <a:off x="1810512" y="4370832"/>
            <a:ext cx="2130552" cy="402336"/>
          </a:xfrm>
          <a:prstGeom prst="rect">
            <a:avLst/>
          </a:prstGeom>
          <a:noFill/>
          <a:ln/>
        </p:spPr>
        <p:txBody>
          <a:bodyPr wrap="square" lIns="0" tIns="0" rIns="0" bIns="0" rtlCol="0" anchor="ctr"/>
          <a:lstStyle/>
          <a:p>
            <a:pPr marL="0" indent="0">
              <a:buNone/>
            </a:pPr>
            <a:r>
              <a:rPr lang="en-US" sz="1600" b="1" dirty="0">
                <a:solidFill>
                  <a:srgbClr val="EEF1FA"/>
                </a:solidFill>
                <a:latin typeface="Inter" pitchFamily="34" charset="0"/>
                <a:ea typeface="Inter" pitchFamily="34" charset="-122"/>
                <a:cs typeface="Inter" pitchFamily="34" charset="-120"/>
              </a:rPr>
              <a:t>False alarms ?</a:t>
            </a:r>
            <a:endParaRPr lang="en-US" sz="1600" dirty="0"/>
          </a:p>
        </p:txBody>
      </p:sp>
      <p:sp>
        <p:nvSpPr>
          <p:cNvPr id="32" name="Text 30"/>
          <p:cNvSpPr/>
          <p:nvPr/>
        </p:nvSpPr>
        <p:spPr>
          <a:xfrm>
            <a:off x="822960" y="4919472"/>
            <a:ext cx="3081528" cy="548640"/>
          </a:xfrm>
          <a:prstGeom prst="rect">
            <a:avLst/>
          </a:prstGeom>
          <a:noFill/>
          <a:ln/>
        </p:spPr>
        <p:txBody>
          <a:bodyPr wrap="square" lIns="0" tIns="0" rIns="0" bIns="0" rtlCol="0" anchor="ctr"/>
          <a:lstStyle/>
          <a:p>
            <a:pPr marL="0" indent="0">
              <a:lnSpc>
                <a:spcPct val="102000"/>
              </a:lnSpc>
              <a:buNone/>
            </a:pPr>
            <a:r>
              <a:rPr lang="en-US" sz="1400" b="1" i="1" dirty="0">
                <a:solidFill>
                  <a:srgbClr val="FF0000"/>
                </a:solidFill>
                <a:latin typeface="Inter" pitchFamily="34" charset="0"/>
                <a:ea typeface="Inter" pitchFamily="34" charset="-122"/>
                <a:cs typeface="Inter" pitchFamily="34" charset="-120"/>
              </a:rPr>
              <a:t>How do we avoid false alarms?</a:t>
            </a:r>
            <a:endParaRPr lang="en-US" sz="1400" b="1" dirty="0">
              <a:solidFill>
                <a:srgbClr val="FF0000"/>
              </a:solidFill>
            </a:endParaRPr>
          </a:p>
        </p:txBody>
      </p:sp>
      <p:sp>
        <p:nvSpPr>
          <p:cNvPr id="33" name="Shape 31"/>
          <p:cNvSpPr/>
          <p:nvPr/>
        </p:nvSpPr>
        <p:spPr>
          <a:xfrm>
            <a:off x="822960" y="5522976"/>
            <a:ext cx="3081528" cy="0"/>
          </a:xfrm>
          <a:prstGeom prst="line">
            <a:avLst/>
          </a:prstGeom>
          <a:noFill/>
          <a:ln w="9525">
            <a:solidFill>
              <a:srgbClr val="33305F"/>
            </a:solidFill>
            <a:prstDash val="solid"/>
          </a:ln>
        </p:spPr>
        <p:txBody>
          <a:bodyPr/>
          <a:lstStyle/>
          <a:p>
            <a:endParaRPr lang="en-US"/>
          </a:p>
        </p:txBody>
      </p:sp>
      <p:sp>
        <p:nvSpPr>
          <p:cNvPr id="34" name="Text 32"/>
          <p:cNvSpPr/>
          <p:nvPr/>
        </p:nvSpPr>
        <p:spPr>
          <a:xfrm>
            <a:off x="822960" y="5577840"/>
            <a:ext cx="3136392" cy="603504"/>
          </a:xfrm>
          <a:prstGeom prst="rect">
            <a:avLst/>
          </a:prstGeom>
          <a:noFill/>
          <a:ln/>
        </p:spPr>
        <p:txBody>
          <a:bodyPr wrap="square" lIns="0" tIns="0" rIns="0" bIns="0" rtlCol="0" anchor="t"/>
          <a:lstStyle/>
          <a:p>
            <a:pPr marL="0" indent="0">
              <a:lnSpc>
                <a:spcPct val="104000"/>
              </a:lnSpc>
              <a:buNone/>
            </a:pPr>
            <a:r>
              <a:rPr lang="en-US" sz="1400" b="1" dirty="0">
                <a:solidFill>
                  <a:srgbClr val="F4A00D"/>
                </a:solidFill>
                <a:latin typeface="Inter" pitchFamily="34" charset="0"/>
                <a:ea typeface="Inter" pitchFamily="34" charset="-122"/>
                <a:cs typeface="Inter" pitchFamily="34" charset="-120"/>
              </a:rPr>
              <a:t>→ </a:t>
            </a:r>
            <a:r>
              <a:rPr lang="en-US" sz="1400" dirty="0">
                <a:solidFill>
                  <a:srgbClr val="EEF1FA"/>
                </a:solidFill>
                <a:latin typeface="Inter" pitchFamily="34" charset="0"/>
                <a:ea typeface="Inter" pitchFamily="34" charset="-122"/>
                <a:cs typeface="Inter" pitchFamily="34" charset="-120"/>
              </a:rPr>
              <a:t>A sensitivity dial + sorting by seriousness → under 1%.</a:t>
            </a:r>
            <a:endParaRPr lang="en-US" sz="1400" dirty="0"/>
          </a:p>
        </p:txBody>
      </p:sp>
      <p:sp>
        <p:nvSpPr>
          <p:cNvPr id="35" name="Text 33"/>
          <p:cNvSpPr/>
          <p:nvPr/>
        </p:nvSpPr>
        <p:spPr>
          <a:xfrm>
            <a:off x="822960" y="6071616"/>
            <a:ext cx="3081528" cy="256032"/>
          </a:xfrm>
          <a:prstGeom prst="rect">
            <a:avLst/>
          </a:prstGeom>
          <a:noFill/>
          <a:ln/>
        </p:spPr>
        <p:txBody>
          <a:bodyPr wrap="square" lIns="0" tIns="0" rIns="0" bIns="0" rtlCol="0" anchor="ctr"/>
          <a:lstStyle/>
          <a:p>
            <a:pPr marL="0" indent="0">
              <a:buNone/>
            </a:pPr>
            <a:r>
              <a:rPr lang="en-US" sz="1400" b="1" kern="0" spc="50" dirty="0">
                <a:solidFill>
                  <a:srgbClr val="FB53FF"/>
                </a:solidFill>
                <a:latin typeface="JetBrains Mono" pitchFamily="34" charset="0"/>
                <a:ea typeface="JetBrains Mono" pitchFamily="34" charset="-122"/>
                <a:cs typeface="JetBrains Mono" pitchFamily="34" charset="-120"/>
              </a:rPr>
              <a:t>Lab</a:t>
            </a:r>
            <a:endParaRPr lang="en-US" sz="1400" b="1" dirty="0">
              <a:solidFill>
                <a:srgbClr val="FB53FF"/>
              </a:solidFill>
            </a:endParaRPr>
          </a:p>
        </p:txBody>
      </p:sp>
      <p:sp>
        <p:nvSpPr>
          <p:cNvPr id="36" name="Shape 34"/>
          <p:cNvSpPr/>
          <p:nvPr/>
        </p:nvSpPr>
        <p:spPr>
          <a:xfrm>
            <a:off x="4297680" y="4151376"/>
            <a:ext cx="3593592" cy="2249424"/>
          </a:xfrm>
          <a:prstGeom prst="roundRect">
            <a:avLst>
              <a:gd name="adj" fmla="val 4878"/>
            </a:avLst>
          </a:prstGeom>
          <a:solidFill>
            <a:srgbClr val="141A33">
              <a:alpha val="84000"/>
            </a:srgbClr>
          </a:solidFill>
          <a:ln w="12700">
            <a:solidFill>
              <a:srgbClr val="EC4899">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37" name="Shape 35"/>
          <p:cNvSpPr/>
          <p:nvPr/>
        </p:nvSpPr>
        <p:spPr>
          <a:xfrm>
            <a:off x="4553712" y="4389120"/>
            <a:ext cx="868680" cy="365760"/>
          </a:xfrm>
          <a:prstGeom prst="roundRect">
            <a:avLst>
              <a:gd name="adj" fmla="val 50000"/>
            </a:avLst>
          </a:prstGeom>
          <a:solidFill>
            <a:srgbClr val="EC4899">
              <a:alpha val="22000"/>
            </a:srgbClr>
          </a:solidFill>
          <a:ln w="12700">
            <a:solidFill>
              <a:srgbClr val="EC4899">
                <a:alpha val="75000"/>
              </a:srgbClr>
            </a:solidFill>
            <a:prstDash val="solid"/>
          </a:ln>
        </p:spPr>
        <p:txBody>
          <a:bodyPr/>
          <a:lstStyle/>
          <a:p>
            <a:endParaRPr lang="en-US"/>
          </a:p>
        </p:txBody>
      </p:sp>
      <p:sp>
        <p:nvSpPr>
          <p:cNvPr id="38" name="Text 36"/>
          <p:cNvSpPr/>
          <p:nvPr/>
        </p:nvSpPr>
        <p:spPr>
          <a:xfrm>
            <a:off x="4553712" y="4384548"/>
            <a:ext cx="868680" cy="365760"/>
          </a:xfrm>
          <a:prstGeom prst="rect">
            <a:avLst/>
          </a:prstGeom>
          <a:noFill/>
          <a:ln/>
        </p:spPr>
        <p:txBody>
          <a:bodyPr wrap="square" lIns="0" tIns="0" rIns="0" bIns="0" rtlCol="0" anchor="ctr"/>
          <a:lstStyle/>
          <a:p>
            <a:pPr marL="0" indent="0" algn="ctr">
              <a:buNone/>
            </a:pPr>
            <a:r>
              <a:rPr lang="en-US" sz="1200" b="1" dirty="0">
                <a:solidFill>
                  <a:srgbClr val="EC4899"/>
                </a:solidFill>
                <a:latin typeface="JetBrains Mono" pitchFamily="34" charset="0"/>
                <a:ea typeface="JetBrains Mono" pitchFamily="34" charset="-122"/>
                <a:cs typeface="JetBrains Mono" pitchFamily="34" charset="-120"/>
              </a:rPr>
              <a:t>SRQ5</a:t>
            </a:r>
            <a:endParaRPr lang="en-US" sz="1200" dirty="0"/>
          </a:p>
        </p:txBody>
      </p:sp>
      <p:sp>
        <p:nvSpPr>
          <p:cNvPr id="39" name="Text 37"/>
          <p:cNvSpPr/>
          <p:nvPr/>
        </p:nvSpPr>
        <p:spPr>
          <a:xfrm>
            <a:off x="5541264" y="4370832"/>
            <a:ext cx="2130552" cy="402336"/>
          </a:xfrm>
          <a:prstGeom prst="rect">
            <a:avLst/>
          </a:prstGeom>
          <a:noFill/>
          <a:ln/>
        </p:spPr>
        <p:txBody>
          <a:bodyPr wrap="square" lIns="0" tIns="0" rIns="0" bIns="0" rtlCol="0" anchor="ctr"/>
          <a:lstStyle/>
          <a:p>
            <a:pPr marL="0" indent="0">
              <a:buNone/>
            </a:pPr>
            <a:r>
              <a:rPr lang="en-US" sz="1600" b="1" dirty="0">
                <a:solidFill>
                  <a:srgbClr val="EEF1FA"/>
                </a:solidFill>
                <a:latin typeface="Inter" pitchFamily="34" charset="0"/>
                <a:ea typeface="Inter" pitchFamily="34" charset="-122"/>
                <a:cs typeface="Inter" pitchFamily="34" charset="-120"/>
              </a:rPr>
              <a:t>Alerting the team</a:t>
            </a:r>
            <a:endParaRPr lang="en-US" sz="1600" dirty="0"/>
          </a:p>
        </p:txBody>
      </p:sp>
      <p:sp>
        <p:nvSpPr>
          <p:cNvPr id="40" name="Text 38"/>
          <p:cNvSpPr/>
          <p:nvPr/>
        </p:nvSpPr>
        <p:spPr>
          <a:xfrm>
            <a:off x="4553712" y="4919472"/>
            <a:ext cx="3081528" cy="548640"/>
          </a:xfrm>
          <a:prstGeom prst="rect">
            <a:avLst/>
          </a:prstGeom>
          <a:noFill/>
          <a:ln/>
        </p:spPr>
        <p:txBody>
          <a:bodyPr wrap="square" lIns="0" tIns="0" rIns="0" bIns="0" rtlCol="0" anchor="ctr"/>
          <a:lstStyle/>
          <a:p>
            <a:pPr marL="0" indent="0">
              <a:lnSpc>
                <a:spcPct val="102000"/>
              </a:lnSpc>
              <a:buNone/>
            </a:pPr>
            <a:r>
              <a:rPr lang="en-US" sz="1400" b="1" i="1" dirty="0">
                <a:solidFill>
                  <a:srgbClr val="FF0000"/>
                </a:solidFill>
                <a:latin typeface="Inter" pitchFamily="34" charset="0"/>
                <a:ea typeface="Inter" pitchFamily="34" charset="-122"/>
                <a:cs typeface="Inter" pitchFamily="34" charset="-120"/>
              </a:rPr>
              <a:t>How should alerts reach the team?</a:t>
            </a:r>
            <a:endParaRPr lang="en-US" sz="1400" b="1" dirty="0">
              <a:solidFill>
                <a:srgbClr val="FF0000"/>
              </a:solidFill>
            </a:endParaRPr>
          </a:p>
        </p:txBody>
      </p:sp>
      <p:sp>
        <p:nvSpPr>
          <p:cNvPr id="41" name="Shape 39"/>
          <p:cNvSpPr/>
          <p:nvPr/>
        </p:nvSpPr>
        <p:spPr>
          <a:xfrm>
            <a:off x="4553712" y="5522976"/>
            <a:ext cx="3081528" cy="0"/>
          </a:xfrm>
          <a:prstGeom prst="line">
            <a:avLst/>
          </a:prstGeom>
          <a:noFill/>
          <a:ln w="9525">
            <a:solidFill>
              <a:srgbClr val="33305F"/>
            </a:solidFill>
            <a:prstDash val="solid"/>
          </a:ln>
        </p:spPr>
        <p:txBody>
          <a:bodyPr/>
          <a:lstStyle/>
          <a:p>
            <a:endParaRPr lang="en-US"/>
          </a:p>
        </p:txBody>
      </p:sp>
      <p:sp>
        <p:nvSpPr>
          <p:cNvPr id="42" name="Text 40"/>
          <p:cNvSpPr/>
          <p:nvPr/>
        </p:nvSpPr>
        <p:spPr>
          <a:xfrm>
            <a:off x="4553712" y="5577840"/>
            <a:ext cx="3136392" cy="603504"/>
          </a:xfrm>
          <a:prstGeom prst="rect">
            <a:avLst/>
          </a:prstGeom>
          <a:noFill/>
          <a:ln/>
        </p:spPr>
        <p:txBody>
          <a:bodyPr wrap="square" lIns="0" tIns="0" rIns="0" bIns="0" rtlCol="0" anchor="t"/>
          <a:lstStyle/>
          <a:p>
            <a:pPr marL="0" indent="0">
              <a:lnSpc>
                <a:spcPct val="104000"/>
              </a:lnSpc>
              <a:buNone/>
            </a:pPr>
            <a:r>
              <a:rPr lang="en-US" sz="1400" b="1" dirty="0">
                <a:solidFill>
                  <a:srgbClr val="EC4899"/>
                </a:solidFill>
                <a:latin typeface="Inter" pitchFamily="34" charset="0"/>
                <a:ea typeface="Inter" pitchFamily="34" charset="-122"/>
                <a:cs typeface="Inter" pitchFamily="34" charset="-120"/>
              </a:rPr>
              <a:t>→ </a:t>
            </a:r>
            <a:r>
              <a:rPr lang="en-US" sz="1400" dirty="0">
                <a:solidFill>
                  <a:srgbClr val="EEF1FA"/>
                </a:solidFill>
                <a:latin typeface="Inter" pitchFamily="34" charset="0"/>
                <a:ea typeface="Inter" pitchFamily="34" charset="-122"/>
                <a:cs typeface="Inter" pitchFamily="34" charset="-120"/>
              </a:rPr>
              <a:t>A clear, colour-coded dashboard that’s easy to read.</a:t>
            </a:r>
            <a:endParaRPr lang="en-US" sz="1400" dirty="0"/>
          </a:p>
        </p:txBody>
      </p:sp>
      <p:sp>
        <p:nvSpPr>
          <p:cNvPr id="43" name="Text 41"/>
          <p:cNvSpPr/>
          <p:nvPr/>
        </p:nvSpPr>
        <p:spPr>
          <a:xfrm>
            <a:off x="4553712" y="6071616"/>
            <a:ext cx="3081528" cy="256032"/>
          </a:xfrm>
          <a:prstGeom prst="rect">
            <a:avLst/>
          </a:prstGeom>
          <a:noFill/>
          <a:ln/>
        </p:spPr>
        <p:txBody>
          <a:bodyPr wrap="square" lIns="0" tIns="0" rIns="0" bIns="0" rtlCol="0" anchor="ctr"/>
          <a:lstStyle/>
          <a:p>
            <a:pPr marL="0" indent="0">
              <a:buNone/>
            </a:pPr>
            <a:r>
              <a:rPr lang="en-US" sz="1400" kern="0" spc="50" dirty="0">
                <a:solidFill>
                  <a:srgbClr val="FB53FF"/>
                </a:solidFill>
                <a:latin typeface="JetBrains Mono" pitchFamily="34" charset="0"/>
                <a:ea typeface="JetBrains Mono" pitchFamily="34" charset="-122"/>
                <a:cs typeface="JetBrains Mono" pitchFamily="34" charset="-120"/>
              </a:rPr>
              <a:t>Library+Field+Showroom</a:t>
            </a:r>
            <a:endParaRPr lang="en-US" sz="1400" dirty="0">
              <a:solidFill>
                <a:srgbClr val="FB53FF"/>
              </a:solidFill>
            </a:endParaRPr>
          </a:p>
        </p:txBody>
      </p:sp>
      <p:sp>
        <p:nvSpPr>
          <p:cNvPr id="44" name="Shape 42"/>
          <p:cNvSpPr/>
          <p:nvPr/>
        </p:nvSpPr>
        <p:spPr>
          <a:xfrm>
            <a:off x="8028432" y="4151376"/>
            <a:ext cx="3593592" cy="2249424"/>
          </a:xfrm>
          <a:prstGeom prst="roundRect">
            <a:avLst>
              <a:gd name="adj" fmla="val 4878"/>
            </a:avLst>
          </a:prstGeom>
          <a:solidFill>
            <a:srgbClr val="141A33">
              <a:alpha val="84000"/>
            </a:srgbClr>
          </a:solidFill>
          <a:ln w="12700">
            <a:solidFill>
              <a:srgbClr val="EF4444">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45" name="Shape 43"/>
          <p:cNvSpPr/>
          <p:nvPr/>
        </p:nvSpPr>
        <p:spPr>
          <a:xfrm>
            <a:off x="8284464" y="4389120"/>
            <a:ext cx="868680" cy="365760"/>
          </a:xfrm>
          <a:prstGeom prst="roundRect">
            <a:avLst>
              <a:gd name="adj" fmla="val 50000"/>
            </a:avLst>
          </a:prstGeom>
          <a:solidFill>
            <a:srgbClr val="EF4444">
              <a:alpha val="22000"/>
            </a:srgbClr>
          </a:solidFill>
          <a:ln w="12700">
            <a:solidFill>
              <a:srgbClr val="EF4444">
                <a:alpha val="75000"/>
              </a:srgbClr>
            </a:solidFill>
            <a:prstDash val="solid"/>
          </a:ln>
        </p:spPr>
        <p:txBody>
          <a:bodyPr/>
          <a:lstStyle/>
          <a:p>
            <a:endParaRPr lang="en-US"/>
          </a:p>
        </p:txBody>
      </p:sp>
      <p:sp>
        <p:nvSpPr>
          <p:cNvPr id="46" name="Text 44"/>
          <p:cNvSpPr/>
          <p:nvPr/>
        </p:nvSpPr>
        <p:spPr>
          <a:xfrm>
            <a:off x="8284464" y="4384548"/>
            <a:ext cx="868680" cy="365760"/>
          </a:xfrm>
          <a:prstGeom prst="rect">
            <a:avLst/>
          </a:prstGeom>
          <a:noFill/>
          <a:ln/>
        </p:spPr>
        <p:txBody>
          <a:bodyPr wrap="square" lIns="0" tIns="0" rIns="0" bIns="0" rtlCol="0" anchor="ctr"/>
          <a:lstStyle/>
          <a:p>
            <a:pPr marL="0" indent="0" algn="ctr">
              <a:buNone/>
            </a:pPr>
            <a:r>
              <a:rPr lang="en-US" sz="1200" b="1" dirty="0">
                <a:solidFill>
                  <a:srgbClr val="EF4444"/>
                </a:solidFill>
                <a:latin typeface="JetBrains Mono" pitchFamily="34" charset="0"/>
                <a:ea typeface="JetBrains Mono" pitchFamily="34" charset="-122"/>
                <a:cs typeface="JetBrains Mono" pitchFamily="34" charset="-120"/>
              </a:rPr>
              <a:t>SRQ6</a:t>
            </a:r>
            <a:endParaRPr lang="en-US" sz="1200" dirty="0"/>
          </a:p>
        </p:txBody>
      </p:sp>
      <p:sp>
        <p:nvSpPr>
          <p:cNvPr id="47" name="Text 45"/>
          <p:cNvSpPr/>
          <p:nvPr/>
        </p:nvSpPr>
        <p:spPr>
          <a:xfrm>
            <a:off x="9272016" y="4370832"/>
            <a:ext cx="2130552" cy="402336"/>
          </a:xfrm>
          <a:prstGeom prst="rect">
            <a:avLst/>
          </a:prstGeom>
          <a:noFill/>
          <a:ln/>
        </p:spPr>
        <p:txBody>
          <a:bodyPr wrap="square" lIns="0" tIns="0" rIns="0" bIns="0" rtlCol="0" anchor="ctr"/>
          <a:lstStyle/>
          <a:p>
            <a:pPr marL="0" indent="0">
              <a:buNone/>
            </a:pPr>
            <a:r>
              <a:rPr lang="en-US" sz="1600" b="1" dirty="0">
                <a:solidFill>
                  <a:srgbClr val="EEF1FA"/>
                </a:solidFill>
                <a:latin typeface="Inter" pitchFamily="34" charset="0"/>
                <a:ea typeface="Inter" pitchFamily="34" charset="-122"/>
                <a:cs typeface="Inter" pitchFamily="34" charset="-120"/>
              </a:rPr>
              <a:t>Strengths &amp; Gaps</a:t>
            </a:r>
            <a:endParaRPr lang="en-US" sz="1600" dirty="0"/>
          </a:p>
        </p:txBody>
      </p:sp>
      <p:sp>
        <p:nvSpPr>
          <p:cNvPr id="48" name="Text 46"/>
          <p:cNvSpPr/>
          <p:nvPr/>
        </p:nvSpPr>
        <p:spPr>
          <a:xfrm>
            <a:off x="8284464" y="4919472"/>
            <a:ext cx="3081528" cy="548640"/>
          </a:xfrm>
          <a:prstGeom prst="rect">
            <a:avLst/>
          </a:prstGeom>
          <a:noFill/>
          <a:ln/>
        </p:spPr>
        <p:txBody>
          <a:bodyPr wrap="square" lIns="0" tIns="0" rIns="0" bIns="0" rtlCol="0" anchor="ctr"/>
          <a:lstStyle/>
          <a:p>
            <a:pPr marL="0" indent="0">
              <a:lnSpc>
                <a:spcPct val="102000"/>
              </a:lnSpc>
              <a:buNone/>
            </a:pPr>
            <a:r>
              <a:rPr lang="en-US" sz="1400" b="1" i="1" dirty="0">
                <a:solidFill>
                  <a:srgbClr val="FF0000"/>
                </a:solidFill>
                <a:latin typeface="Inter" pitchFamily="34" charset="0"/>
                <a:ea typeface="Inter" pitchFamily="34" charset="-122"/>
                <a:cs typeface="Inter" pitchFamily="34" charset="-120"/>
              </a:rPr>
              <a:t>What is it good and bad at?</a:t>
            </a:r>
            <a:endParaRPr lang="en-US" sz="1400" b="1" dirty="0">
              <a:solidFill>
                <a:srgbClr val="FF0000"/>
              </a:solidFill>
            </a:endParaRPr>
          </a:p>
        </p:txBody>
      </p:sp>
      <p:sp>
        <p:nvSpPr>
          <p:cNvPr id="49" name="Shape 47"/>
          <p:cNvSpPr/>
          <p:nvPr/>
        </p:nvSpPr>
        <p:spPr>
          <a:xfrm>
            <a:off x="8284464" y="5522976"/>
            <a:ext cx="3081528" cy="0"/>
          </a:xfrm>
          <a:prstGeom prst="line">
            <a:avLst/>
          </a:prstGeom>
          <a:noFill/>
          <a:ln w="9525">
            <a:solidFill>
              <a:srgbClr val="33305F"/>
            </a:solidFill>
            <a:prstDash val="solid"/>
          </a:ln>
        </p:spPr>
        <p:txBody>
          <a:bodyPr/>
          <a:lstStyle/>
          <a:p>
            <a:endParaRPr lang="en-US"/>
          </a:p>
        </p:txBody>
      </p:sp>
      <p:sp>
        <p:nvSpPr>
          <p:cNvPr id="50" name="Text 48"/>
          <p:cNvSpPr/>
          <p:nvPr/>
        </p:nvSpPr>
        <p:spPr>
          <a:xfrm>
            <a:off x="8284464" y="5413248"/>
            <a:ext cx="3136392" cy="438911"/>
          </a:xfrm>
          <a:prstGeom prst="rect">
            <a:avLst/>
          </a:prstGeom>
          <a:noFill/>
          <a:ln/>
        </p:spPr>
        <p:txBody>
          <a:bodyPr wrap="square" lIns="0" tIns="0" rIns="0" bIns="0" rtlCol="0" anchor="t"/>
          <a:lstStyle/>
          <a:p>
            <a:pPr marL="0" indent="0">
              <a:lnSpc>
                <a:spcPct val="104000"/>
              </a:lnSpc>
              <a:buNone/>
            </a:pPr>
            <a:r>
              <a:rPr lang="en-US" sz="1400" b="1" dirty="0">
                <a:solidFill>
                  <a:srgbClr val="EF4444"/>
                </a:solidFill>
                <a:latin typeface="Inter" pitchFamily="34" charset="0"/>
                <a:ea typeface="Inter" pitchFamily="34" charset="-122"/>
                <a:cs typeface="Inter" pitchFamily="34" charset="-120"/>
              </a:rPr>
              <a:t>→ </a:t>
            </a:r>
            <a:r>
              <a:rPr lang="en-US" sz="1400" dirty="0">
                <a:solidFill>
                  <a:srgbClr val="EEF1FA"/>
                </a:solidFill>
                <a:latin typeface="Inter" pitchFamily="34" charset="0"/>
                <a:ea typeface="Inter" pitchFamily="34" charset="-122"/>
                <a:cs typeface="Inter" pitchFamily="34" charset="-120"/>
              </a:rPr>
              <a:t>Excellent on 7 / 8 attack types – slight deviations with Infiltration ( needs more training )</a:t>
            </a:r>
            <a:endParaRPr lang="en-US" sz="1400" dirty="0"/>
          </a:p>
        </p:txBody>
      </p:sp>
      <p:sp>
        <p:nvSpPr>
          <p:cNvPr id="51" name="Text 49"/>
          <p:cNvSpPr/>
          <p:nvPr/>
        </p:nvSpPr>
        <p:spPr>
          <a:xfrm>
            <a:off x="8284464" y="6071616"/>
            <a:ext cx="3081528" cy="256032"/>
          </a:xfrm>
          <a:prstGeom prst="rect">
            <a:avLst/>
          </a:prstGeom>
          <a:noFill/>
          <a:ln/>
        </p:spPr>
        <p:txBody>
          <a:bodyPr wrap="square" lIns="0" tIns="0" rIns="0" bIns="0" rtlCol="0" anchor="ctr"/>
          <a:lstStyle/>
          <a:p>
            <a:pPr marL="0" indent="0">
              <a:buNone/>
            </a:pPr>
            <a:r>
              <a:rPr lang="en-US" sz="1400" b="1" kern="0" spc="50" dirty="0">
                <a:solidFill>
                  <a:srgbClr val="FB53FF"/>
                </a:solidFill>
                <a:latin typeface="JetBrains Mono" pitchFamily="34" charset="0"/>
                <a:ea typeface="JetBrains Mono" pitchFamily="34" charset="-122"/>
                <a:cs typeface="JetBrains Mono" pitchFamily="34" charset="-120"/>
              </a:rPr>
              <a:t>Lab</a:t>
            </a:r>
            <a:endParaRPr lang="en-US" sz="1400" b="1" dirty="0">
              <a:solidFill>
                <a:srgbClr val="FB53FF"/>
              </a:solidFill>
            </a:endParaRPr>
          </a:p>
        </p:txBody>
      </p:sp>
      <p:sp>
        <p:nvSpPr>
          <p:cNvPr id="52" name="Text 50"/>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53" name="Text 51"/>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4 / 14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A78BFA"/>
                </a:solidFill>
                <a:latin typeface="JetBrains Mono" pitchFamily="34" charset="0"/>
                <a:ea typeface="JetBrains Mono" pitchFamily="34" charset="-122"/>
                <a:cs typeface="JetBrains Mono" pitchFamily="34" charset="-120"/>
              </a:rPr>
              <a:t>METHODOLOGY</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(DOT): cross-check every conclusion from several angles</a:t>
            </a:r>
            <a:endParaRPr lang="en-US" sz="3100" dirty="0"/>
          </a:p>
        </p:txBody>
      </p:sp>
      <p:sp>
        <p:nvSpPr>
          <p:cNvPr id="4" name="Shape 2"/>
          <p:cNvSpPr/>
          <p:nvPr/>
        </p:nvSpPr>
        <p:spPr>
          <a:xfrm>
            <a:off x="566928" y="1874520"/>
            <a:ext cx="2084832" cy="2788920"/>
          </a:xfrm>
          <a:prstGeom prst="roundRect">
            <a:avLst>
              <a:gd name="adj" fmla="val 5263"/>
            </a:avLst>
          </a:prstGeom>
          <a:solidFill>
            <a:srgbClr val="141A33">
              <a:alpha val="84000"/>
            </a:srgbClr>
          </a:solidFill>
          <a:ln w="12700">
            <a:solidFill>
              <a:srgbClr val="22D3EE">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5" name="Shape 3"/>
          <p:cNvSpPr/>
          <p:nvPr/>
        </p:nvSpPr>
        <p:spPr>
          <a:xfrm>
            <a:off x="1188720" y="2185416"/>
            <a:ext cx="841248" cy="841248"/>
          </a:xfrm>
          <a:prstGeom prst="ellipse">
            <a:avLst/>
          </a:prstGeom>
          <a:solidFill>
            <a:srgbClr val="22D3EE">
              <a:alpha val="18000"/>
            </a:srgbClr>
          </a:solidFill>
          <a:ln w="13970">
            <a:solidFill>
              <a:srgbClr val="22D3EE">
                <a:alpha val="75000"/>
              </a:srgbClr>
            </a:solidFill>
            <a:prstDash val="solid"/>
          </a:ln>
        </p:spPr>
        <p:txBody>
          <a:bodyPr/>
          <a:lstStyle/>
          <a:p>
            <a:endParaRPr lang="en-US"/>
          </a:p>
        </p:txBody>
      </p:sp>
      <p:pic>
        <p:nvPicPr>
          <p:cNvPr id="6" name="Image 0" descr="preencoded.png"/>
          <p:cNvPicPr>
            <a:picLocks noChangeAspect="1"/>
          </p:cNvPicPr>
          <p:nvPr/>
        </p:nvPicPr>
        <p:blipFill>
          <a:blip r:embed="rId4"/>
          <a:stretch>
            <a:fillRect/>
          </a:stretch>
        </p:blipFill>
        <p:spPr>
          <a:xfrm>
            <a:off x="1415857" y="2412553"/>
            <a:ext cx="386974" cy="386974"/>
          </a:xfrm>
          <a:prstGeom prst="rect">
            <a:avLst/>
          </a:prstGeom>
        </p:spPr>
      </p:pic>
      <p:sp>
        <p:nvSpPr>
          <p:cNvPr id="7" name="Text 4"/>
          <p:cNvSpPr/>
          <p:nvPr/>
        </p:nvSpPr>
        <p:spPr>
          <a:xfrm>
            <a:off x="658368" y="3172968"/>
            <a:ext cx="1901952" cy="365760"/>
          </a:xfrm>
          <a:prstGeom prst="rect">
            <a:avLst/>
          </a:prstGeom>
          <a:noFill/>
          <a:ln/>
        </p:spPr>
        <p:txBody>
          <a:bodyPr wrap="square" lIns="0" tIns="0" rIns="0" bIns="0" rtlCol="0" anchor="ctr"/>
          <a:lstStyle/>
          <a:p>
            <a:pPr marL="0" indent="0" algn="ctr">
              <a:buNone/>
            </a:pPr>
            <a:r>
              <a:rPr lang="en-US" sz="1600" b="1" dirty="0">
                <a:solidFill>
                  <a:srgbClr val="EEF1FA"/>
                </a:solidFill>
                <a:latin typeface="Inter" pitchFamily="34" charset="0"/>
                <a:ea typeface="Inter" pitchFamily="34" charset="-122"/>
                <a:cs typeface="Inter" pitchFamily="34" charset="-120"/>
              </a:rPr>
              <a:t>Library</a:t>
            </a:r>
            <a:endParaRPr lang="en-US" sz="1600" dirty="0"/>
          </a:p>
        </p:txBody>
      </p:sp>
      <p:sp>
        <p:nvSpPr>
          <p:cNvPr id="8" name="Text 5"/>
          <p:cNvSpPr/>
          <p:nvPr/>
        </p:nvSpPr>
        <p:spPr>
          <a:xfrm>
            <a:off x="768096" y="3575304"/>
            <a:ext cx="1682496" cy="960120"/>
          </a:xfrm>
          <a:prstGeom prst="rect">
            <a:avLst/>
          </a:prstGeom>
          <a:noFill/>
          <a:ln/>
        </p:spPr>
        <p:txBody>
          <a:bodyPr wrap="square" lIns="0" tIns="0" rIns="0" bIns="0" rtlCol="0" anchor="ctr"/>
          <a:lstStyle/>
          <a:p>
            <a:pPr marL="0" indent="0" algn="ctr">
              <a:lnSpc>
                <a:spcPct val="106000"/>
              </a:lnSpc>
              <a:buNone/>
            </a:pPr>
            <a:r>
              <a:rPr lang="en-US" sz="1150" dirty="0">
                <a:solidFill>
                  <a:srgbClr val="9AA3C0"/>
                </a:solidFill>
                <a:latin typeface="Inter" pitchFamily="34" charset="0"/>
                <a:ea typeface="Inter" pitchFamily="34" charset="-122"/>
                <a:cs typeface="Inter" pitchFamily="34" charset="-120"/>
              </a:rPr>
              <a:t>What research and existing tools already tell us.</a:t>
            </a:r>
            <a:endParaRPr lang="en-US" sz="1150" dirty="0"/>
          </a:p>
        </p:txBody>
      </p:sp>
      <p:sp>
        <p:nvSpPr>
          <p:cNvPr id="9" name="Shape 6"/>
          <p:cNvSpPr/>
          <p:nvPr/>
        </p:nvSpPr>
        <p:spPr>
          <a:xfrm>
            <a:off x="2798064" y="1874520"/>
            <a:ext cx="2084832" cy="2788920"/>
          </a:xfrm>
          <a:prstGeom prst="roundRect">
            <a:avLst>
              <a:gd name="adj" fmla="val 5263"/>
            </a:avLst>
          </a:prstGeom>
          <a:solidFill>
            <a:srgbClr val="141A33">
              <a:alpha val="84000"/>
            </a:srgbClr>
          </a:solidFill>
          <a:ln w="12700">
            <a:solidFill>
              <a:srgbClr val="8B5CF6">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0" name="Shape 7"/>
          <p:cNvSpPr/>
          <p:nvPr/>
        </p:nvSpPr>
        <p:spPr>
          <a:xfrm>
            <a:off x="3419856" y="2185416"/>
            <a:ext cx="841248" cy="841248"/>
          </a:xfrm>
          <a:prstGeom prst="ellipse">
            <a:avLst/>
          </a:prstGeom>
          <a:solidFill>
            <a:srgbClr val="8B5CF6">
              <a:alpha val="18000"/>
            </a:srgbClr>
          </a:solidFill>
          <a:ln w="13970">
            <a:solidFill>
              <a:srgbClr val="8B5CF6">
                <a:alpha val="75000"/>
              </a:srgbClr>
            </a:solidFill>
            <a:prstDash val="solid"/>
          </a:ln>
        </p:spPr>
        <p:txBody>
          <a:bodyPr/>
          <a:lstStyle/>
          <a:p>
            <a:endParaRPr lang="en-US"/>
          </a:p>
        </p:txBody>
      </p:sp>
      <p:pic>
        <p:nvPicPr>
          <p:cNvPr id="11" name="Image 1" descr="preencoded.png"/>
          <p:cNvPicPr>
            <a:picLocks noChangeAspect="1"/>
          </p:cNvPicPr>
          <p:nvPr/>
        </p:nvPicPr>
        <p:blipFill>
          <a:blip r:embed="rId5"/>
          <a:stretch>
            <a:fillRect/>
          </a:stretch>
        </p:blipFill>
        <p:spPr>
          <a:xfrm>
            <a:off x="3646993" y="2412553"/>
            <a:ext cx="386974" cy="386974"/>
          </a:xfrm>
          <a:prstGeom prst="rect">
            <a:avLst/>
          </a:prstGeom>
        </p:spPr>
      </p:pic>
      <p:sp>
        <p:nvSpPr>
          <p:cNvPr id="12" name="Text 8"/>
          <p:cNvSpPr/>
          <p:nvPr/>
        </p:nvSpPr>
        <p:spPr>
          <a:xfrm>
            <a:off x="2889504" y="3172968"/>
            <a:ext cx="1901952" cy="365760"/>
          </a:xfrm>
          <a:prstGeom prst="rect">
            <a:avLst/>
          </a:prstGeom>
          <a:noFill/>
          <a:ln/>
        </p:spPr>
        <p:txBody>
          <a:bodyPr wrap="square" lIns="0" tIns="0" rIns="0" bIns="0" rtlCol="0" anchor="ctr"/>
          <a:lstStyle/>
          <a:p>
            <a:pPr marL="0" indent="0" algn="ctr">
              <a:buNone/>
            </a:pPr>
            <a:r>
              <a:rPr lang="en-US" sz="1600" b="1" dirty="0">
                <a:solidFill>
                  <a:srgbClr val="EEF1FA"/>
                </a:solidFill>
                <a:latin typeface="Inter" pitchFamily="34" charset="0"/>
                <a:ea typeface="Inter" pitchFamily="34" charset="-122"/>
                <a:cs typeface="Inter" pitchFamily="34" charset="-120"/>
              </a:rPr>
              <a:t>Lab</a:t>
            </a:r>
            <a:endParaRPr lang="en-US" sz="1600" dirty="0"/>
          </a:p>
        </p:txBody>
      </p:sp>
      <p:sp>
        <p:nvSpPr>
          <p:cNvPr id="13" name="Text 9"/>
          <p:cNvSpPr/>
          <p:nvPr/>
        </p:nvSpPr>
        <p:spPr>
          <a:xfrm>
            <a:off x="2999232" y="3575304"/>
            <a:ext cx="1682496" cy="960120"/>
          </a:xfrm>
          <a:prstGeom prst="rect">
            <a:avLst/>
          </a:prstGeom>
          <a:noFill/>
          <a:ln/>
        </p:spPr>
        <p:txBody>
          <a:bodyPr wrap="square" lIns="0" tIns="0" rIns="0" bIns="0" rtlCol="0" anchor="ctr"/>
          <a:lstStyle/>
          <a:p>
            <a:pPr marL="0" indent="0" algn="ctr">
              <a:lnSpc>
                <a:spcPct val="106000"/>
              </a:lnSpc>
              <a:buNone/>
            </a:pPr>
            <a:r>
              <a:rPr lang="en-US" sz="1150" dirty="0">
                <a:solidFill>
                  <a:srgbClr val="9AA3C0"/>
                </a:solidFill>
                <a:latin typeface="Inter" pitchFamily="34" charset="0"/>
                <a:ea typeface="Inter" pitchFamily="34" charset="-122"/>
                <a:cs typeface="Inter" pitchFamily="34" charset="-120"/>
              </a:rPr>
              <a:t>Building and testing the system - most of the work.</a:t>
            </a:r>
            <a:endParaRPr lang="en-US" sz="1150" dirty="0"/>
          </a:p>
        </p:txBody>
      </p:sp>
      <p:sp>
        <p:nvSpPr>
          <p:cNvPr id="14" name="Shape 10"/>
          <p:cNvSpPr/>
          <p:nvPr/>
        </p:nvSpPr>
        <p:spPr>
          <a:xfrm>
            <a:off x="5029200" y="1874520"/>
            <a:ext cx="2084832" cy="2788920"/>
          </a:xfrm>
          <a:prstGeom prst="roundRect">
            <a:avLst>
              <a:gd name="adj" fmla="val 5263"/>
            </a:avLst>
          </a:prstGeom>
          <a:solidFill>
            <a:srgbClr val="141A33">
              <a:alpha val="84000"/>
            </a:srgbClr>
          </a:solidFill>
          <a:ln w="12700">
            <a:solidFill>
              <a:srgbClr val="10B981">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5" name="Shape 11"/>
          <p:cNvSpPr/>
          <p:nvPr/>
        </p:nvSpPr>
        <p:spPr>
          <a:xfrm>
            <a:off x="5650992" y="2185416"/>
            <a:ext cx="841248" cy="841248"/>
          </a:xfrm>
          <a:prstGeom prst="ellipse">
            <a:avLst/>
          </a:prstGeom>
          <a:solidFill>
            <a:srgbClr val="10B981">
              <a:alpha val="18000"/>
            </a:srgbClr>
          </a:solidFill>
          <a:ln w="13970">
            <a:solidFill>
              <a:srgbClr val="10B981">
                <a:alpha val="75000"/>
              </a:srgbClr>
            </a:solidFill>
            <a:prstDash val="solid"/>
          </a:ln>
        </p:spPr>
        <p:txBody>
          <a:bodyPr/>
          <a:lstStyle/>
          <a:p>
            <a:endParaRPr lang="en-US"/>
          </a:p>
        </p:txBody>
      </p:sp>
      <p:pic>
        <p:nvPicPr>
          <p:cNvPr id="16" name="Image 2" descr="preencoded.png"/>
          <p:cNvPicPr>
            <a:picLocks noChangeAspect="1"/>
          </p:cNvPicPr>
          <p:nvPr/>
        </p:nvPicPr>
        <p:blipFill>
          <a:blip r:embed="rId6"/>
          <a:stretch>
            <a:fillRect/>
          </a:stretch>
        </p:blipFill>
        <p:spPr>
          <a:xfrm>
            <a:off x="5878129" y="2412553"/>
            <a:ext cx="386974" cy="386974"/>
          </a:xfrm>
          <a:prstGeom prst="rect">
            <a:avLst/>
          </a:prstGeom>
        </p:spPr>
      </p:pic>
      <p:sp>
        <p:nvSpPr>
          <p:cNvPr id="17" name="Text 12"/>
          <p:cNvSpPr/>
          <p:nvPr/>
        </p:nvSpPr>
        <p:spPr>
          <a:xfrm>
            <a:off x="5120640" y="3172968"/>
            <a:ext cx="1901952" cy="365760"/>
          </a:xfrm>
          <a:prstGeom prst="rect">
            <a:avLst/>
          </a:prstGeom>
          <a:noFill/>
          <a:ln/>
        </p:spPr>
        <p:txBody>
          <a:bodyPr wrap="square" lIns="0" tIns="0" rIns="0" bIns="0" rtlCol="0" anchor="ctr"/>
          <a:lstStyle/>
          <a:p>
            <a:pPr marL="0" indent="0" algn="ctr">
              <a:buNone/>
            </a:pPr>
            <a:r>
              <a:rPr lang="en-US" sz="1600" b="1" dirty="0">
                <a:solidFill>
                  <a:srgbClr val="EEF1FA"/>
                </a:solidFill>
                <a:latin typeface="Inter" pitchFamily="34" charset="0"/>
                <a:ea typeface="Inter" pitchFamily="34" charset="-122"/>
                <a:cs typeface="Inter" pitchFamily="34" charset="-120"/>
              </a:rPr>
              <a:t>Field</a:t>
            </a:r>
            <a:endParaRPr lang="en-US" sz="1600" dirty="0"/>
          </a:p>
        </p:txBody>
      </p:sp>
      <p:sp>
        <p:nvSpPr>
          <p:cNvPr id="18" name="Text 13"/>
          <p:cNvSpPr/>
          <p:nvPr/>
        </p:nvSpPr>
        <p:spPr>
          <a:xfrm>
            <a:off x="5230368" y="3575304"/>
            <a:ext cx="1682496" cy="960120"/>
          </a:xfrm>
          <a:prstGeom prst="rect">
            <a:avLst/>
          </a:prstGeom>
          <a:noFill/>
          <a:ln/>
        </p:spPr>
        <p:txBody>
          <a:bodyPr wrap="square" lIns="0" tIns="0" rIns="0" bIns="0" rtlCol="0" anchor="ctr"/>
          <a:lstStyle/>
          <a:p>
            <a:pPr marL="0" indent="0" algn="ctr">
              <a:lnSpc>
                <a:spcPct val="106000"/>
              </a:lnSpc>
              <a:buNone/>
            </a:pPr>
            <a:r>
              <a:rPr lang="en-US" sz="1150" dirty="0">
                <a:solidFill>
                  <a:srgbClr val="9AA3C0"/>
                </a:solidFill>
                <a:latin typeface="Inter" pitchFamily="34" charset="0"/>
                <a:ea typeface="Inter" pitchFamily="34" charset="-122"/>
                <a:cs typeface="Inter" pitchFamily="34" charset="-120"/>
              </a:rPr>
              <a:t>Designing around how a real security analyst works.</a:t>
            </a:r>
            <a:endParaRPr lang="en-US" sz="1150" dirty="0"/>
          </a:p>
        </p:txBody>
      </p:sp>
      <p:sp>
        <p:nvSpPr>
          <p:cNvPr id="19" name="Shape 14"/>
          <p:cNvSpPr/>
          <p:nvPr/>
        </p:nvSpPr>
        <p:spPr>
          <a:xfrm>
            <a:off x="7260336" y="1874520"/>
            <a:ext cx="2084832" cy="2788920"/>
          </a:xfrm>
          <a:prstGeom prst="roundRect">
            <a:avLst>
              <a:gd name="adj" fmla="val 5263"/>
            </a:avLst>
          </a:prstGeom>
          <a:solidFill>
            <a:srgbClr val="141A33">
              <a:alpha val="84000"/>
            </a:srgbClr>
          </a:solidFill>
          <a:ln w="12700">
            <a:solidFill>
              <a:srgbClr val="F4A00D">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20" name="Shape 15"/>
          <p:cNvSpPr/>
          <p:nvPr/>
        </p:nvSpPr>
        <p:spPr>
          <a:xfrm>
            <a:off x="7882128" y="2185416"/>
            <a:ext cx="841248" cy="841248"/>
          </a:xfrm>
          <a:prstGeom prst="ellipse">
            <a:avLst/>
          </a:prstGeom>
          <a:solidFill>
            <a:srgbClr val="F4A00D">
              <a:alpha val="18000"/>
            </a:srgbClr>
          </a:solidFill>
          <a:ln w="13970">
            <a:solidFill>
              <a:srgbClr val="F4A00D">
                <a:alpha val="75000"/>
              </a:srgbClr>
            </a:solidFill>
            <a:prstDash val="solid"/>
          </a:ln>
        </p:spPr>
        <p:txBody>
          <a:bodyPr/>
          <a:lstStyle/>
          <a:p>
            <a:endParaRPr lang="en-US"/>
          </a:p>
        </p:txBody>
      </p:sp>
      <p:pic>
        <p:nvPicPr>
          <p:cNvPr id="21" name="Image 3" descr="preencoded.png"/>
          <p:cNvPicPr>
            <a:picLocks noChangeAspect="1"/>
          </p:cNvPicPr>
          <p:nvPr/>
        </p:nvPicPr>
        <p:blipFill>
          <a:blip r:embed="rId7"/>
          <a:stretch>
            <a:fillRect/>
          </a:stretch>
        </p:blipFill>
        <p:spPr>
          <a:xfrm>
            <a:off x="8109265" y="2412553"/>
            <a:ext cx="386974" cy="386974"/>
          </a:xfrm>
          <a:prstGeom prst="rect">
            <a:avLst/>
          </a:prstGeom>
        </p:spPr>
      </p:pic>
      <p:sp>
        <p:nvSpPr>
          <p:cNvPr id="22" name="Text 16"/>
          <p:cNvSpPr/>
          <p:nvPr/>
        </p:nvSpPr>
        <p:spPr>
          <a:xfrm>
            <a:off x="7351776" y="3172968"/>
            <a:ext cx="1901952" cy="365760"/>
          </a:xfrm>
          <a:prstGeom prst="rect">
            <a:avLst/>
          </a:prstGeom>
          <a:noFill/>
          <a:ln/>
        </p:spPr>
        <p:txBody>
          <a:bodyPr wrap="square" lIns="0" tIns="0" rIns="0" bIns="0" rtlCol="0" anchor="ctr"/>
          <a:lstStyle/>
          <a:p>
            <a:pPr marL="0" indent="0" algn="ctr">
              <a:buNone/>
            </a:pPr>
            <a:r>
              <a:rPr lang="en-US" sz="1600" b="1" dirty="0">
                <a:solidFill>
                  <a:srgbClr val="EEF1FA"/>
                </a:solidFill>
                <a:latin typeface="Inter" pitchFamily="34" charset="0"/>
                <a:ea typeface="Inter" pitchFamily="34" charset="-122"/>
                <a:cs typeface="Inter" pitchFamily="34" charset="-120"/>
              </a:rPr>
              <a:t>Workshop</a:t>
            </a:r>
            <a:endParaRPr lang="en-US" sz="1600" dirty="0"/>
          </a:p>
        </p:txBody>
      </p:sp>
      <p:sp>
        <p:nvSpPr>
          <p:cNvPr id="23" name="Text 17"/>
          <p:cNvSpPr/>
          <p:nvPr/>
        </p:nvSpPr>
        <p:spPr>
          <a:xfrm>
            <a:off x="7461504" y="3575304"/>
            <a:ext cx="1682496" cy="960120"/>
          </a:xfrm>
          <a:prstGeom prst="rect">
            <a:avLst/>
          </a:prstGeom>
          <a:noFill/>
          <a:ln/>
        </p:spPr>
        <p:txBody>
          <a:bodyPr wrap="square" lIns="0" tIns="0" rIns="0" bIns="0" rtlCol="0" anchor="ctr"/>
          <a:lstStyle/>
          <a:p>
            <a:pPr marL="0" indent="0" algn="ctr">
              <a:lnSpc>
                <a:spcPct val="106000"/>
              </a:lnSpc>
              <a:buNone/>
            </a:pPr>
            <a:r>
              <a:rPr lang="en-US" sz="1150" dirty="0">
                <a:solidFill>
                  <a:srgbClr val="9AA3C0"/>
                </a:solidFill>
                <a:latin typeface="Inter" pitchFamily="34" charset="0"/>
                <a:ea typeface="Inter" pitchFamily="34" charset="-122"/>
                <a:cs typeface="Inter" pitchFamily="34" charset="-120"/>
              </a:rPr>
              <a:t>Weighing each design choice against the alternatives.</a:t>
            </a:r>
            <a:endParaRPr lang="en-US" sz="1150" dirty="0"/>
          </a:p>
        </p:txBody>
      </p:sp>
      <p:sp>
        <p:nvSpPr>
          <p:cNvPr id="24" name="Shape 18"/>
          <p:cNvSpPr/>
          <p:nvPr/>
        </p:nvSpPr>
        <p:spPr>
          <a:xfrm>
            <a:off x="9491472" y="1874520"/>
            <a:ext cx="2084832" cy="2788920"/>
          </a:xfrm>
          <a:prstGeom prst="roundRect">
            <a:avLst>
              <a:gd name="adj" fmla="val 5263"/>
            </a:avLst>
          </a:prstGeom>
          <a:solidFill>
            <a:srgbClr val="141A33">
              <a:alpha val="84000"/>
            </a:srgbClr>
          </a:solidFill>
          <a:ln w="12700">
            <a:solidFill>
              <a:srgbClr val="EC4899">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25" name="Shape 19"/>
          <p:cNvSpPr/>
          <p:nvPr/>
        </p:nvSpPr>
        <p:spPr>
          <a:xfrm>
            <a:off x="10113264" y="2185416"/>
            <a:ext cx="841248" cy="841248"/>
          </a:xfrm>
          <a:prstGeom prst="ellipse">
            <a:avLst/>
          </a:prstGeom>
          <a:solidFill>
            <a:srgbClr val="EC4899">
              <a:alpha val="18000"/>
            </a:srgbClr>
          </a:solidFill>
          <a:ln w="13970">
            <a:solidFill>
              <a:srgbClr val="EC4899">
                <a:alpha val="75000"/>
              </a:srgbClr>
            </a:solidFill>
            <a:prstDash val="solid"/>
          </a:ln>
        </p:spPr>
        <p:txBody>
          <a:bodyPr/>
          <a:lstStyle/>
          <a:p>
            <a:endParaRPr lang="en-US"/>
          </a:p>
        </p:txBody>
      </p:sp>
      <p:pic>
        <p:nvPicPr>
          <p:cNvPr id="26" name="Image 4" descr="preencoded.png"/>
          <p:cNvPicPr>
            <a:picLocks noChangeAspect="1"/>
          </p:cNvPicPr>
          <p:nvPr/>
        </p:nvPicPr>
        <p:blipFill>
          <a:blip r:embed="rId8"/>
          <a:stretch>
            <a:fillRect/>
          </a:stretch>
        </p:blipFill>
        <p:spPr>
          <a:xfrm>
            <a:off x="10340401" y="2412553"/>
            <a:ext cx="386974" cy="386974"/>
          </a:xfrm>
          <a:prstGeom prst="rect">
            <a:avLst/>
          </a:prstGeom>
        </p:spPr>
      </p:pic>
      <p:sp>
        <p:nvSpPr>
          <p:cNvPr id="27" name="Text 20"/>
          <p:cNvSpPr/>
          <p:nvPr/>
        </p:nvSpPr>
        <p:spPr>
          <a:xfrm>
            <a:off x="9582912" y="3172968"/>
            <a:ext cx="1901952" cy="365760"/>
          </a:xfrm>
          <a:prstGeom prst="rect">
            <a:avLst/>
          </a:prstGeom>
          <a:noFill/>
          <a:ln/>
        </p:spPr>
        <p:txBody>
          <a:bodyPr wrap="square" lIns="0" tIns="0" rIns="0" bIns="0" rtlCol="0" anchor="ctr"/>
          <a:lstStyle/>
          <a:p>
            <a:pPr marL="0" indent="0" algn="ctr">
              <a:buNone/>
            </a:pPr>
            <a:r>
              <a:rPr lang="en-US" sz="1600" b="1" dirty="0">
                <a:solidFill>
                  <a:srgbClr val="EEF1FA"/>
                </a:solidFill>
                <a:latin typeface="Inter" pitchFamily="34" charset="0"/>
                <a:ea typeface="Inter" pitchFamily="34" charset="-122"/>
                <a:cs typeface="Inter" pitchFamily="34" charset="-120"/>
              </a:rPr>
              <a:t>Showroom</a:t>
            </a:r>
            <a:endParaRPr lang="en-US" sz="1600" dirty="0"/>
          </a:p>
        </p:txBody>
      </p:sp>
      <p:sp>
        <p:nvSpPr>
          <p:cNvPr id="28" name="Text 21"/>
          <p:cNvSpPr/>
          <p:nvPr/>
        </p:nvSpPr>
        <p:spPr>
          <a:xfrm>
            <a:off x="9692640" y="3575304"/>
            <a:ext cx="1682496" cy="960120"/>
          </a:xfrm>
          <a:prstGeom prst="rect">
            <a:avLst/>
          </a:prstGeom>
          <a:noFill/>
          <a:ln/>
        </p:spPr>
        <p:txBody>
          <a:bodyPr wrap="square" lIns="0" tIns="0" rIns="0" bIns="0" rtlCol="0" anchor="ctr"/>
          <a:lstStyle/>
          <a:p>
            <a:pPr marL="0" indent="0" algn="ctr">
              <a:lnSpc>
                <a:spcPct val="106000"/>
              </a:lnSpc>
              <a:buNone/>
            </a:pPr>
            <a:r>
              <a:rPr lang="en-US" sz="1150" dirty="0">
                <a:solidFill>
                  <a:srgbClr val="9AA3C0"/>
                </a:solidFill>
                <a:latin typeface="Inter" pitchFamily="34" charset="0"/>
                <a:ea typeface="Inter" pitchFamily="34" charset="-122"/>
                <a:cs typeface="Inter" pitchFamily="34" charset="-120"/>
              </a:rPr>
              <a:t>Showing the finished system working live.</a:t>
            </a:r>
            <a:endParaRPr lang="en-US" sz="1150" dirty="0"/>
          </a:p>
        </p:txBody>
      </p:sp>
      <p:sp>
        <p:nvSpPr>
          <p:cNvPr id="29" name="Shape 22"/>
          <p:cNvSpPr/>
          <p:nvPr/>
        </p:nvSpPr>
        <p:spPr>
          <a:xfrm>
            <a:off x="566928" y="4956048"/>
            <a:ext cx="11055096" cy="1078992"/>
          </a:xfrm>
          <a:prstGeom prst="roundRect">
            <a:avLst>
              <a:gd name="adj" fmla="val 10169"/>
            </a:avLst>
          </a:prstGeom>
          <a:solidFill>
            <a:srgbClr val="141A33">
              <a:alpha val="88000"/>
            </a:srgbClr>
          </a:solidFill>
          <a:ln w="12700">
            <a:solidFill>
              <a:srgbClr val="A78BFA">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30" name="Shape 23"/>
          <p:cNvSpPr/>
          <p:nvPr/>
        </p:nvSpPr>
        <p:spPr>
          <a:xfrm>
            <a:off x="859536" y="5138928"/>
            <a:ext cx="694944" cy="694944"/>
          </a:xfrm>
          <a:prstGeom prst="ellipse">
            <a:avLst/>
          </a:prstGeom>
          <a:solidFill>
            <a:srgbClr val="A78BFA">
              <a:alpha val="18000"/>
            </a:srgbClr>
          </a:solidFill>
          <a:ln w="13970">
            <a:solidFill>
              <a:srgbClr val="A78BFA">
                <a:alpha val="75000"/>
              </a:srgbClr>
            </a:solidFill>
            <a:prstDash val="solid"/>
          </a:ln>
        </p:spPr>
        <p:txBody>
          <a:bodyPr/>
          <a:lstStyle/>
          <a:p>
            <a:endParaRPr lang="en-US"/>
          </a:p>
        </p:txBody>
      </p:sp>
      <p:pic>
        <p:nvPicPr>
          <p:cNvPr id="31" name="Image 5" descr="preencoded.png"/>
          <p:cNvPicPr>
            <a:picLocks noChangeAspect="1"/>
          </p:cNvPicPr>
          <p:nvPr/>
        </p:nvPicPr>
        <p:blipFill>
          <a:blip r:embed="rId9"/>
          <a:stretch>
            <a:fillRect/>
          </a:stretch>
        </p:blipFill>
        <p:spPr>
          <a:xfrm>
            <a:off x="1047171" y="5326563"/>
            <a:ext cx="319674" cy="319674"/>
          </a:xfrm>
          <a:prstGeom prst="rect">
            <a:avLst/>
          </a:prstGeom>
        </p:spPr>
      </p:pic>
      <p:sp>
        <p:nvSpPr>
          <p:cNvPr id="32" name="Text 24"/>
          <p:cNvSpPr/>
          <p:nvPr/>
        </p:nvSpPr>
        <p:spPr>
          <a:xfrm>
            <a:off x="1719072" y="4956048"/>
            <a:ext cx="9692640" cy="1078992"/>
          </a:xfrm>
          <a:prstGeom prst="rect">
            <a:avLst/>
          </a:prstGeom>
          <a:noFill/>
          <a:ln/>
        </p:spPr>
        <p:txBody>
          <a:bodyPr wrap="square" lIns="0" tIns="0" rIns="0" bIns="0" rtlCol="0" anchor="ctr"/>
          <a:lstStyle/>
          <a:p>
            <a:pPr marL="0" indent="0">
              <a:lnSpc>
                <a:spcPct val="105000"/>
              </a:lnSpc>
              <a:buNone/>
            </a:pPr>
            <a:r>
              <a:rPr lang="en-US" sz="1300" b="1" dirty="0">
                <a:solidFill>
                  <a:srgbClr val="A78BFA"/>
                </a:solidFill>
                <a:latin typeface="Inter" pitchFamily="34" charset="0"/>
                <a:ea typeface="Inter" pitchFamily="34" charset="-122"/>
                <a:cs typeface="Inter" pitchFamily="34" charset="-120"/>
              </a:rPr>
              <a:t>In plain terms:  </a:t>
            </a:r>
            <a:r>
              <a:rPr lang="en-US" sz="1300" dirty="0">
                <a:solidFill>
                  <a:srgbClr val="EEF1FA"/>
                </a:solidFill>
                <a:latin typeface="Inter" pitchFamily="34" charset="0"/>
                <a:ea typeface="Inter" pitchFamily="34" charset="-122"/>
                <a:cs typeface="Inter" pitchFamily="34" charset="-120"/>
              </a:rPr>
              <a:t>every question is answered from at least two of these angles, and the main one from three. The single place they almost disagree - the sneaky “infiltration” attack - is exactly where we flag our biggest caveat.</a:t>
            </a:r>
            <a:endParaRPr lang="en-US" sz="1300" dirty="0"/>
          </a:p>
        </p:txBody>
      </p:sp>
      <p:sp>
        <p:nvSpPr>
          <p:cNvPr id="33" name="Text 25"/>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34" name="Text 26"/>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5 / 14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A78BFA"/>
                </a:solidFill>
                <a:latin typeface="JetBrains Mono" pitchFamily="34" charset="0"/>
                <a:ea typeface="JetBrains Mono" pitchFamily="34" charset="-122"/>
                <a:cs typeface="JetBrains Mono" pitchFamily="34" charset="-120"/>
              </a:rPr>
              <a:t>SYSTEM</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How raw traffic becomes a decision</a:t>
            </a:r>
            <a:endParaRPr lang="en-US" sz="3100" dirty="0"/>
          </a:p>
        </p:txBody>
      </p:sp>
      <p:sp>
        <p:nvSpPr>
          <p:cNvPr id="4" name="Shape 2"/>
          <p:cNvSpPr/>
          <p:nvPr/>
        </p:nvSpPr>
        <p:spPr>
          <a:xfrm>
            <a:off x="566928" y="2331720"/>
            <a:ext cx="2395728" cy="1783080"/>
          </a:xfrm>
          <a:prstGeom prst="roundRect">
            <a:avLst>
              <a:gd name="adj" fmla="val 6154"/>
            </a:avLst>
          </a:prstGeom>
          <a:solidFill>
            <a:srgbClr val="141A33">
              <a:alpha val="86000"/>
            </a:srgbClr>
          </a:solidFill>
          <a:ln w="12700">
            <a:solidFill>
              <a:srgbClr val="7C9AED">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5" name="Shape 3"/>
          <p:cNvSpPr/>
          <p:nvPr/>
        </p:nvSpPr>
        <p:spPr>
          <a:xfrm>
            <a:off x="804672" y="2587752"/>
            <a:ext cx="676656" cy="676656"/>
          </a:xfrm>
          <a:prstGeom prst="ellipse">
            <a:avLst/>
          </a:prstGeom>
          <a:solidFill>
            <a:srgbClr val="7C9AED">
              <a:alpha val="18000"/>
            </a:srgbClr>
          </a:solidFill>
          <a:ln w="13970">
            <a:solidFill>
              <a:srgbClr val="7C9AED">
                <a:alpha val="75000"/>
              </a:srgbClr>
            </a:solidFill>
            <a:prstDash val="solid"/>
          </a:ln>
        </p:spPr>
        <p:txBody>
          <a:bodyPr/>
          <a:lstStyle/>
          <a:p>
            <a:endParaRPr lang="en-US"/>
          </a:p>
        </p:txBody>
      </p:sp>
      <p:pic>
        <p:nvPicPr>
          <p:cNvPr id="6" name="Image 0" descr="preencoded.png"/>
          <p:cNvPicPr>
            <a:picLocks noChangeAspect="1"/>
          </p:cNvPicPr>
          <p:nvPr/>
        </p:nvPicPr>
        <p:blipFill>
          <a:blip r:embed="rId4"/>
          <a:stretch>
            <a:fillRect/>
          </a:stretch>
        </p:blipFill>
        <p:spPr>
          <a:xfrm>
            <a:off x="987369" y="2770449"/>
            <a:ext cx="311262" cy="311262"/>
          </a:xfrm>
          <a:prstGeom prst="rect">
            <a:avLst/>
          </a:prstGeom>
        </p:spPr>
      </p:pic>
      <p:sp>
        <p:nvSpPr>
          <p:cNvPr id="7" name="Text 4"/>
          <p:cNvSpPr/>
          <p:nvPr/>
        </p:nvSpPr>
        <p:spPr>
          <a:xfrm>
            <a:off x="768096" y="3282696"/>
            <a:ext cx="1993392" cy="329184"/>
          </a:xfrm>
          <a:prstGeom prst="rect">
            <a:avLst/>
          </a:prstGeom>
          <a:noFill/>
          <a:ln/>
        </p:spPr>
        <p:txBody>
          <a:bodyPr wrap="square" lIns="0" tIns="0" rIns="0" bIns="0" rtlCol="0" anchor="ctr"/>
          <a:lstStyle/>
          <a:p>
            <a:pPr marL="0" indent="0">
              <a:buNone/>
            </a:pPr>
            <a:r>
              <a:rPr lang="en-US" sz="1450" b="1" dirty="0">
                <a:solidFill>
                  <a:srgbClr val="EEF1FA"/>
                </a:solidFill>
                <a:latin typeface="Inter" pitchFamily="34" charset="0"/>
                <a:ea typeface="Inter" pitchFamily="34" charset="-122"/>
                <a:cs typeface="Inter" pitchFamily="34" charset="-120"/>
              </a:rPr>
              <a:t>Traffic in</a:t>
            </a:r>
            <a:endParaRPr lang="en-US" sz="1450" dirty="0"/>
          </a:p>
        </p:txBody>
      </p:sp>
      <p:sp>
        <p:nvSpPr>
          <p:cNvPr id="8" name="Text 5"/>
          <p:cNvSpPr/>
          <p:nvPr/>
        </p:nvSpPr>
        <p:spPr>
          <a:xfrm>
            <a:off x="768096" y="3593592"/>
            <a:ext cx="1993392" cy="256032"/>
          </a:xfrm>
          <a:prstGeom prst="rect">
            <a:avLst/>
          </a:prstGeom>
          <a:noFill/>
          <a:ln/>
        </p:spPr>
        <p:txBody>
          <a:bodyPr wrap="square" lIns="0" tIns="0" rIns="0" bIns="0" rtlCol="0" anchor="ctr"/>
          <a:lstStyle/>
          <a:p>
            <a:pPr marL="0" indent="0">
              <a:buNone/>
            </a:pPr>
            <a:r>
              <a:rPr lang="en-US" sz="1000" dirty="0">
                <a:solidFill>
                  <a:srgbClr val="7C9AED"/>
                </a:solidFill>
                <a:latin typeface="JetBrains Mono" pitchFamily="34" charset="0"/>
                <a:ea typeface="JetBrains Mono" pitchFamily="34" charset="-122"/>
                <a:cs typeface="JetBrains Mono" pitchFamily="34" charset="-120"/>
              </a:rPr>
              <a:t>capture</a:t>
            </a:r>
            <a:endParaRPr lang="en-US" sz="1000" dirty="0"/>
          </a:p>
        </p:txBody>
      </p:sp>
      <p:sp>
        <p:nvSpPr>
          <p:cNvPr id="9" name="Text 6"/>
          <p:cNvSpPr/>
          <p:nvPr/>
        </p:nvSpPr>
        <p:spPr>
          <a:xfrm>
            <a:off x="768096" y="3813048"/>
            <a:ext cx="1993392" cy="256032"/>
          </a:xfrm>
          <a:prstGeom prst="rect">
            <a:avLst/>
          </a:prstGeom>
          <a:noFill/>
          <a:ln/>
        </p:spPr>
        <p:txBody>
          <a:bodyPr wrap="square" lIns="0" tIns="0" rIns="0" bIns="0" rtlCol="0" anchor="ctr"/>
          <a:lstStyle/>
          <a:p>
            <a:pPr marL="0" indent="0">
              <a:buNone/>
            </a:pPr>
            <a:r>
              <a:rPr lang="en-US" sz="900" dirty="0">
                <a:solidFill>
                  <a:srgbClr val="6B7396"/>
                </a:solidFill>
                <a:latin typeface="JetBrains Mono" pitchFamily="34" charset="0"/>
                <a:ea typeface="JetBrains Mono" pitchFamily="34" charset="-122"/>
                <a:cs typeface="JetBrains Mono" pitchFamily="34" charset="-120"/>
              </a:rPr>
              <a:t>Scapy · CICFlowMeter</a:t>
            </a:r>
            <a:endParaRPr lang="en-US" sz="900" dirty="0"/>
          </a:p>
        </p:txBody>
      </p:sp>
      <p:sp>
        <p:nvSpPr>
          <p:cNvPr id="10" name="Shape 7"/>
          <p:cNvSpPr/>
          <p:nvPr/>
        </p:nvSpPr>
        <p:spPr>
          <a:xfrm>
            <a:off x="2999232" y="3223260"/>
            <a:ext cx="417576" cy="0"/>
          </a:xfrm>
          <a:prstGeom prst="line">
            <a:avLst/>
          </a:prstGeom>
          <a:noFill/>
          <a:ln w="20320">
            <a:solidFill>
              <a:srgbClr val="A78BFA">
                <a:alpha val="90000"/>
              </a:srgbClr>
            </a:solidFill>
            <a:prstDash val="solid"/>
            <a:tailEnd type="triangle"/>
          </a:ln>
        </p:spPr>
        <p:txBody>
          <a:bodyPr/>
          <a:lstStyle/>
          <a:p>
            <a:endParaRPr lang="en-US"/>
          </a:p>
        </p:txBody>
      </p:sp>
      <p:sp>
        <p:nvSpPr>
          <p:cNvPr id="11" name="Shape 8"/>
          <p:cNvSpPr/>
          <p:nvPr/>
        </p:nvSpPr>
        <p:spPr>
          <a:xfrm>
            <a:off x="3453384" y="2331720"/>
            <a:ext cx="2395728" cy="1783080"/>
          </a:xfrm>
          <a:prstGeom prst="roundRect">
            <a:avLst>
              <a:gd name="adj" fmla="val 6154"/>
            </a:avLst>
          </a:prstGeom>
          <a:solidFill>
            <a:srgbClr val="141A33">
              <a:alpha val="86000"/>
            </a:srgbClr>
          </a:solidFill>
          <a:ln w="12700">
            <a:solidFill>
              <a:srgbClr val="22D3EE">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2" name="Shape 9"/>
          <p:cNvSpPr/>
          <p:nvPr/>
        </p:nvSpPr>
        <p:spPr>
          <a:xfrm>
            <a:off x="3691128" y="2587752"/>
            <a:ext cx="676656" cy="676656"/>
          </a:xfrm>
          <a:prstGeom prst="ellipse">
            <a:avLst/>
          </a:prstGeom>
          <a:solidFill>
            <a:srgbClr val="22D3EE">
              <a:alpha val="18000"/>
            </a:srgbClr>
          </a:solidFill>
          <a:ln w="13970">
            <a:solidFill>
              <a:srgbClr val="22D3EE">
                <a:alpha val="75000"/>
              </a:srgbClr>
            </a:solidFill>
            <a:prstDash val="solid"/>
          </a:ln>
        </p:spPr>
        <p:txBody>
          <a:bodyPr/>
          <a:lstStyle/>
          <a:p>
            <a:endParaRPr lang="en-US"/>
          </a:p>
        </p:txBody>
      </p:sp>
      <p:pic>
        <p:nvPicPr>
          <p:cNvPr id="13" name="Image 1" descr="preencoded.png"/>
          <p:cNvPicPr>
            <a:picLocks noChangeAspect="1"/>
          </p:cNvPicPr>
          <p:nvPr/>
        </p:nvPicPr>
        <p:blipFill>
          <a:blip r:embed="rId5"/>
          <a:stretch>
            <a:fillRect/>
          </a:stretch>
        </p:blipFill>
        <p:spPr>
          <a:xfrm>
            <a:off x="3873825" y="2770449"/>
            <a:ext cx="311262" cy="311262"/>
          </a:xfrm>
          <a:prstGeom prst="rect">
            <a:avLst/>
          </a:prstGeom>
        </p:spPr>
      </p:pic>
      <p:sp>
        <p:nvSpPr>
          <p:cNvPr id="14" name="Text 10"/>
          <p:cNvSpPr/>
          <p:nvPr/>
        </p:nvSpPr>
        <p:spPr>
          <a:xfrm>
            <a:off x="3654552" y="3282696"/>
            <a:ext cx="1993392" cy="329184"/>
          </a:xfrm>
          <a:prstGeom prst="rect">
            <a:avLst/>
          </a:prstGeom>
          <a:noFill/>
          <a:ln/>
        </p:spPr>
        <p:txBody>
          <a:bodyPr wrap="square" lIns="0" tIns="0" rIns="0" bIns="0" rtlCol="0" anchor="ctr"/>
          <a:lstStyle/>
          <a:p>
            <a:pPr marL="0" indent="0">
              <a:buNone/>
            </a:pPr>
            <a:r>
              <a:rPr lang="en-US" sz="1450" b="1" dirty="0">
                <a:solidFill>
                  <a:srgbClr val="EEF1FA"/>
                </a:solidFill>
                <a:latin typeface="Inter" pitchFamily="34" charset="0"/>
                <a:ea typeface="Inter" pitchFamily="34" charset="-122"/>
                <a:cs typeface="Inter" pitchFamily="34" charset="-120"/>
              </a:rPr>
              <a:t>Summarise it</a:t>
            </a:r>
            <a:endParaRPr lang="en-US" sz="1450" dirty="0"/>
          </a:p>
        </p:txBody>
      </p:sp>
      <p:sp>
        <p:nvSpPr>
          <p:cNvPr id="15" name="Text 11"/>
          <p:cNvSpPr/>
          <p:nvPr/>
        </p:nvSpPr>
        <p:spPr>
          <a:xfrm>
            <a:off x="3654552" y="3593592"/>
            <a:ext cx="1993392" cy="256032"/>
          </a:xfrm>
          <a:prstGeom prst="rect">
            <a:avLst/>
          </a:prstGeom>
          <a:noFill/>
          <a:ln/>
        </p:spPr>
        <p:txBody>
          <a:bodyPr wrap="square" lIns="0" tIns="0" rIns="0" bIns="0" rtlCol="0" anchor="ctr"/>
          <a:lstStyle/>
          <a:p>
            <a:pPr marL="0" indent="0">
              <a:buNone/>
            </a:pPr>
            <a:r>
              <a:rPr lang="en-US" sz="1000" dirty="0">
                <a:solidFill>
                  <a:srgbClr val="22D3EE"/>
                </a:solidFill>
                <a:latin typeface="JetBrains Mono" pitchFamily="34" charset="0"/>
                <a:ea typeface="JetBrains Mono" pitchFamily="34" charset="-122"/>
                <a:cs typeface="JetBrains Mono" pitchFamily="34" charset="-120"/>
              </a:rPr>
              <a:t>~20 signals</a:t>
            </a:r>
            <a:endParaRPr lang="en-US" sz="1000" dirty="0"/>
          </a:p>
        </p:txBody>
      </p:sp>
      <p:sp>
        <p:nvSpPr>
          <p:cNvPr id="16" name="Text 12"/>
          <p:cNvSpPr/>
          <p:nvPr/>
        </p:nvSpPr>
        <p:spPr>
          <a:xfrm>
            <a:off x="3654552" y="3813048"/>
            <a:ext cx="1993392" cy="256032"/>
          </a:xfrm>
          <a:prstGeom prst="rect">
            <a:avLst/>
          </a:prstGeom>
          <a:noFill/>
          <a:ln/>
        </p:spPr>
        <p:txBody>
          <a:bodyPr wrap="square" lIns="0" tIns="0" rIns="0" bIns="0" rtlCol="0" anchor="ctr"/>
          <a:lstStyle/>
          <a:p>
            <a:pPr marL="0" indent="0">
              <a:buNone/>
            </a:pPr>
            <a:r>
              <a:rPr lang="en-US" sz="900" dirty="0">
                <a:solidFill>
                  <a:srgbClr val="6B7396"/>
                </a:solidFill>
                <a:latin typeface="JetBrains Mono" pitchFamily="34" charset="0"/>
                <a:ea typeface="JetBrains Mono" pitchFamily="34" charset="-122"/>
                <a:cs typeface="JetBrains Mono" pitchFamily="34" charset="-120"/>
              </a:rPr>
              <a:t>RobustScaler · OHE</a:t>
            </a:r>
            <a:endParaRPr lang="en-US" sz="900" dirty="0"/>
          </a:p>
        </p:txBody>
      </p:sp>
      <p:sp>
        <p:nvSpPr>
          <p:cNvPr id="17" name="Shape 13"/>
          <p:cNvSpPr/>
          <p:nvPr/>
        </p:nvSpPr>
        <p:spPr>
          <a:xfrm>
            <a:off x="5885688" y="3223260"/>
            <a:ext cx="417576" cy="0"/>
          </a:xfrm>
          <a:prstGeom prst="line">
            <a:avLst/>
          </a:prstGeom>
          <a:noFill/>
          <a:ln w="20320">
            <a:solidFill>
              <a:srgbClr val="A78BFA">
                <a:alpha val="90000"/>
              </a:srgbClr>
            </a:solidFill>
            <a:prstDash val="solid"/>
            <a:tailEnd type="triangle"/>
          </a:ln>
        </p:spPr>
        <p:txBody>
          <a:bodyPr/>
          <a:lstStyle/>
          <a:p>
            <a:endParaRPr lang="en-US"/>
          </a:p>
        </p:txBody>
      </p:sp>
      <p:sp>
        <p:nvSpPr>
          <p:cNvPr id="18" name="Shape 14"/>
          <p:cNvSpPr/>
          <p:nvPr/>
        </p:nvSpPr>
        <p:spPr>
          <a:xfrm>
            <a:off x="6339840" y="2331720"/>
            <a:ext cx="2395728" cy="1783080"/>
          </a:xfrm>
          <a:prstGeom prst="roundRect">
            <a:avLst>
              <a:gd name="adj" fmla="val 6154"/>
            </a:avLst>
          </a:prstGeom>
          <a:solidFill>
            <a:srgbClr val="141A33">
              <a:alpha val="86000"/>
            </a:srgbClr>
          </a:solidFill>
          <a:ln w="12700">
            <a:solidFill>
              <a:srgbClr val="8B5CF6">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9" name="Shape 15"/>
          <p:cNvSpPr/>
          <p:nvPr/>
        </p:nvSpPr>
        <p:spPr>
          <a:xfrm>
            <a:off x="6577584" y="2587752"/>
            <a:ext cx="676656" cy="676656"/>
          </a:xfrm>
          <a:prstGeom prst="ellipse">
            <a:avLst/>
          </a:prstGeom>
          <a:solidFill>
            <a:srgbClr val="8B5CF6">
              <a:alpha val="18000"/>
            </a:srgbClr>
          </a:solidFill>
          <a:ln w="13970">
            <a:solidFill>
              <a:srgbClr val="8B5CF6">
                <a:alpha val="75000"/>
              </a:srgbClr>
            </a:solidFill>
            <a:prstDash val="solid"/>
          </a:ln>
        </p:spPr>
        <p:txBody>
          <a:bodyPr/>
          <a:lstStyle/>
          <a:p>
            <a:endParaRPr lang="en-US"/>
          </a:p>
        </p:txBody>
      </p:sp>
      <p:pic>
        <p:nvPicPr>
          <p:cNvPr id="20" name="Image 2" descr="preencoded.png"/>
          <p:cNvPicPr>
            <a:picLocks noChangeAspect="1"/>
          </p:cNvPicPr>
          <p:nvPr/>
        </p:nvPicPr>
        <p:blipFill>
          <a:blip r:embed="rId6"/>
          <a:stretch>
            <a:fillRect/>
          </a:stretch>
        </p:blipFill>
        <p:spPr>
          <a:xfrm>
            <a:off x="6760281" y="2770449"/>
            <a:ext cx="311262" cy="311262"/>
          </a:xfrm>
          <a:prstGeom prst="rect">
            <a:avLst/>
          </a:prstGeom>
        </p:spPr>
      </p:pic>
      <p:sp>
        <p:nvSpPr>
          <p:cNvPr id="21" name="Text 16"/>
          <p:cNvSpPr/>
          <p:nvPr/>
        </p:nvSpPr>
        <p:spPr>
          <a:xfrm>
            <a:off x="6541008" y="3282696"/>
            <a:ext cx="1993392" cy="329184"/>
          </a:xfrm>
          <a:prstGeom prst="rect">
            <a:avLst/>
          </a:prstGeom>
          <a:noFill/>
          <a:ln/>
        </p:spPr>
        <p:txBody>
          <a:bodyPr wrap="square" lIns="0" tIns="0" rIns="0" bIns="0" rtlCol="0" anchor="ctr"/>
          <a:lstStyle/>
          <a:p>
            <a:pPr marL="0" indent="0">
              <a:buNone/>
            </a:pPr>
            <a:r>
              <a:rPr lang="en-US" sz="1450" b="1" dirty="0">
                <a:solidFill>
                  <a:srgbClr val="EEF1FA"/>
                </a:solidFill>
                <a:latin typeface="Inter" pitchFamily="34" charset="0"/>
                <a:ea typeface="Inter" pitchFamily="34" charset="-122"/>
                <a:cs typeface="Inter" pitchFamily="34" charset="-120"/>
              </a:rPr>
              <a:t>Score it</a:t>
            </a:r>
            <a:endParaRPr lang="en-US" sz="1450" dirty="0"/>
          </a:p>
        </p:txBody>
      </p:sp>
      <p:sp>
        <p:nvSpPr>
          <p:cNvPr id="22" name="Text 17"/>
          <p:cNvSpPr/>
          <p:nvPr/>
        </p:nvSpPr>
        <p:spPr>
          <a:xfrm>
            <a:off x="6541008" y="3593592"/>
            <a:ext cx="1993392" cy="256032"/>
          </a:xfrm>
          <a:prstGeom prst="rect">
            <a:avLst/>
          </a:prstGeom>
          <a:noFill/>
          <a:ln/>
        </p:spPr>
        <p:txBody>
          <a:bodyPr wrap="square" lIns="0" tIns="0" rIns="0" bIns="0" rtlCol="0" anchor="ctr"/>
          <a:lstStyle/>
          <a:p>
            <a:pPr marL="0" indent="0">
              <a:buNone/>
            </a:pPr>
            <a:r>
              <a:rPr lang="en-US" sz="1000" dirty="0">
                <a:solidFill>
                  <a:srgbClr val="8B5CF6"/>
                </a:solidFill>
                <a:latin typeface="JetBrains Mono" pitchFamily="34" charset="0"/>
                <a:ea typeface="JetBrains Mono" pitchFamily="34" charset="-122"/>
                <a:cs typeface="JetBrains Mono" pitchFamily="34" charset="-120"/>
              </a:rPr>
              <a:t>attack?</a:t>
            </a:r>
            <a:endParaRPr lang="en-US" sz="1000" dirty="0"/>
          </a:p>
        </p:txBody>
      </p:sp>
      <p:sp>
        <p:nvSpPr>
          <p:cNvPr id="23" name="Text 18"/>
          <p:cNvSpPr/>
          <p:nvPr/>
        </p:nvSpPr>
        <p:spPr>
          <a:xfrm>
            <a:off x="6541008" y="3813048"/>
            <a:ext cx="1993392" cy="256032"/>
          </a:xfrm>
          <a:prstGeom prst="rect">
            <a:avLst/>
          </a:prstGeom>
          <a:noFill/>
          <a:ln/>
        </p:spPr>
        <p:txBody>
          <a:bodyPr wrap="square" lIns="0" tIns="0" rIns="0" bIns="0" rtlCol="0" anchor="ctr"/>
          <a:lstStyle/>
          <a:p>
            <a:pPr marL="0" indent="0">
              <a:buNone/>
            </a:pPr>
            <a:r>
              <a:rPr lang="en-US" sz="900" dirty="0">
                <a:solidFill>
                  <a:srgbClr val="6B7396"/>
                </a:solidFill>
                <a:latin typeface="JetBrains Mono" pitchFamily="34" charset="0"/>
                <a:ea typeface="JetBrains Mono" pitchFamily="34" charset="-122"/>
                <a:cs typeface="JetBrains Mono" pitchFamily="34" charset="-120"/>
              </a:rPr>
              <a:t>FastAPI · Pydantic</a:t>
            </a:r>
            <a:endParaRPr lang="en-US" sz="900" dirty="0"/>
          </a:p>
        </p:txBody>
      </p:sp>
      <p:sp>
        <p:nvSpPr>
          <p:cNvPr id="24" name="Shape 19"/>
          <p:cNvSpPr/>
          <p:nvPr/>
        </p:nvSpPr>
        <p:spPr>
          <a:xfrm>
            <a:off x="8772144" y="3223260"/>
            <a:ext cx="417576" cy="0"/>
          </a:xfrm>
          <a:prstGeom prst="line">
            <a:avLst/>
          </a:prstGeom>
          <a:noFill/>
          <a:ln w="20320">
            <a:solidFill>
              <a:srgbClr val="A78BFA">
                <a:alpha val="90000"/>
              </a:srgbClr>
            </a:solidFill>
            <a:prstDash val="solid"/>
            <a:tailEnd type="triangle"/>
          </a:ln>
        </p:spPr>
        <p:txBody>
          <a:bodyPr/>
          <a:lstStyle/>
          <a:p>
            <a:endParaRPr lang="en-US"/>
          </a:p>
        </p:txBody>
      </p:sp>
      <p:sp>
        <p:nvSpPr>
          <p:cNvPr id="25" name="Shape 20"/>
          <p:cNvSpPr/>
          <p:nvPr/>
        </p:nvSpPr>
        <p:spPr>
          <a:xfrm>
            <a:off x="9226296" y="2331720"/>
            <a:ext cx="2395728" cy="1783080"/>
          </a:xfrm>
          <a:prstGeom prst="roundRect">
            <a:avLst>
              <a:gd name="adj" fmla="val 6154"/>
            </a:avLst>
          </a:prstGeom>
          <a:solidFill>
            <a:srgbClr val="141A33">
              <a:alpha val="86000"/>
            </a:srgbClr>
          </a:solidFill>
          <a:ln w="12700">
            <a:solidFill>
              <a:srgbClr val="EC4899">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26" name="Shape 21"/>
          <p:cNvSpPr/>
          <p:nvPr/>
        </p:nvSpPr>
        <p:spPr>
          <a:xfrm>
            <a:off x="9464040" y="2587752"/>
            <a:ext cx="676656" cy="676656"/>
          </a:xfrm>
          <a:prstGeom prst="ellipse">
            <a:avLst/>
          </a:prstGeom>
          <a:solidFill>
            <a:srgbClr val="EC4899">
              <a:alpha val="18000"/>
            </a:srgbClr>
          </a:solidFill>
          <a:ln w="13970">
            <a:solidFill>
              <a:srgbClr val="EC4899">
                <a:alpha val="75000"/>
              </a:srgbClr>
            </a:solidFill>
            <a:prstDash val="solid"/>
          </a:ln>
        </p:spPr>
        <p:txBody>
          <a:bodyPr/>
          <a:lstStyle/>
          <a:p>
            <a:endParaRPr lang="en-US"/>
          </a:p>
        </p:txBody>
      </p:sp>
      <p:pic>
        <p:nvPicPr>
          <p:cNvPr id="27" name="Image 3" descr="preencoded.png"/>
          <p:cNvPicPr>
            <a:picLocks noChangeAspect="1"/>
          </p:cNvPicPr>
          <p:nvPr/>
        </p:nvPicPr>
        <p:blipFill>
          <a:blip r:embed="rId7"/>
          <a:stretch>
            <a:fillRect/>
          </a:stretch>
        </p:blipFill>
        <p:spPr>
          <a:xfrm>
            <a:off x="9646737" y="2770449"/>
            <a:ext cx="311262" cy="311262"/>
          </a:xfrm>
          <a:prstGeom prst="rect">
            <a:avLst/>
          </a:prstGeom>
        </p:spPr>
      </p:pic>
      <p:sp>
        <p:nvSpPr>
          <p:cNvPr id="28" name="Text 22"/>
          <p:cNvSpPr/>
          <p:nvPr/>
        </p:nvSpPr>
        <p:spPr>
          <a:xfrm>
            <a:off x="9427464" y="3282696"/>
            <a:ext cx="1993392" cy="329184"/>
          </a:xfrm>
          <a:prstGeom prst="rect">
            <a:avLst/>
          </a:prstGeom>
          <a:noFill/>
          <a:ln/>
        </p:spPr>
        <p:txBody>
          <a:bodyPr wrap="square" lIns="0" tIns="0" rIns="0" bIns="0" rtlCol="0" anchor="ctr"/>
          <a:lstStyle/>
          <a:p>
            <a:pPr marL="0" indent="0">
              <a:buNone/>
            </a:pPr>
            <a:r>
              <a:rPr lang="en-US" sz="1450" b="1" dirty="0">
                <a:solidFill>
                  <a:srgbClr val="EEF1FA"/>
                </a:solidFill>
                <a:latin typeface="Inter" pitchFamily="34" charset="0"/>
                <a:ea typeface="Inter" pitchFamily="34" charset="-122"/>
                <a:cs typeface="Inter" pitchFamily="34" charset="-120"/>
              </a:rPr>
              <a:t>Show it</a:t>
            </a:r>
            <a:endParaRPr lang="en-US" sz="1450" dirty="0"/>
          </a:p>
        </p:txBody>
      </p:sp>
      <p:sp>
        <p:nvSpPr>
          <p:cNvPr id="29" name="Text 23"/>
          <p:cNvSpPr/>
          <p:nvPr/>
        </p:nvSpPr>
        <p:spPr>
          <a:xfrm>
            <a:off x="9427464" y="3593592"/>
            <a:ext cx="1993392" cy="256032"/>
          </a:xfrm>
          <a:prstGeom prst="rect">
            <a:avLst/>
          </a:prstGeom>
          <a:noFill/>
          <a:ln/>
        </p:spPr>
        <p:txBody>
          <a:bodyPr wrap="square" lIns="0" tIns="0" rIns="0" bIns="0" rtlCol="0" anchor="ctr"/>
          <a:lstStyle/>
          <a:p>
            <a:pPr marL="0" indent="0">
              <a:buNone/>
            </a:pPr>
            <a:r>
              <a:rPr lang="en-US" sz="1000" dirty="0">
                <a:solidFill>
                  <a:srgbClr val="EC4899"/>
                </a:solidFill>
                <a:latin typeface="JetBrains Mono" pitchFamily="34" charset="0"/>
                <a:ea typeface="JetBrains Mono" pitchFamily="34" charset="-122"/>
                <a:cs typeface="JetBrains Mono" pitchFamily="34" charset="-120"/>
              </a:rPr>
              <a:t>for the team</a:t>
            </a:r>
            <a:endParaRPr lang="en-US" sz="1000" dirty="0"/>
          </a:p>
        </p:txBody>
      </p:sp>
      <p:sp>
        <p:nvSpPr>
          <p:cNvPr id="30" name="Text 24"/>
          <p:cNvSpPr/>
          <p:nvPr/>
        </p:nvSpPr>
        <p:spPr>
          <a:xfrm>
            <a:off x="9427464" y="3813048"/>
            <a:ext cx="1993392" cy="256032"/>
          </a:xfrm>
          <a:prstGeom prst="rect">
            <a:avLst/>
          </a:prstGeom>
          <a:noFill/>
          <a:ln/>
        </p:spPr>
        <p:txBody>
          <a:bodyPr wrap="square" lIns="0" tIns="0" rIns="0" bIns="0" rtlCol="0" anchor="ctr"/>
          <a:lstStyle/>
          <a:p>
            <a:pPr marL="0" indent="0">
              <a:buNone/>
            </a:pPr>
            <a:r>
              <a:rPr lang="en-US" sz="900" dirty="0">
                <a:solidFill>
                  <a:srgbClr val="6B7396"/>
                </a:solidFill>
                <a:latin typeface="JetBrains Mono" pitchFamily="34" charset="0"/>
                <a:ea typeface="JetBrains Mono" pitchFamily="34" charset="-122"/>
                <a:cs typeface="JetBrains Mono" pitchFamily="34" charset="-120"/>
              </a:rPr>
              <a:t>React · Plotly</a:t>
            </a:r>
            <a:endParaRPr lang="en-US" sz="900" dirty="0"/>
          </a:p>
        </p:txBody>
      </p:sp>
      <p:sp>
        <p:nvSpPr>
          <p:cNvPr id="31" name="Shape 25"/>
          <p:cNvSpPr/>
          <p:nvPr/>
        </p:nvSpPr>
        <p:spPr>
          <a:xfrm>
            <a:off x="7537704" y="4114800"/>
            <a:ext cx="0" cy="384048"/>
          </a:xfrm>
          <a:prstGeom prst="line">
            <a:avLst/>
          </a:prstGeom>
          <a:noFill/>
          <a:ln w="20320">
            <a:solidFill>
              <a:srgbClr val="10B981"/>
            </a:solidFill>
            <a:prstDash val="solid"/>
            <a:tailEnd type="triangle"/>
          </a:ln>
        </p:spPr>
        <p:txBody>
          <a:bodyPr/>
          <a:lstStyle/>
          <a:p>
            <a:endParaRPr lang="en-US"/>
          </a:p>
        </p:txBody>
      </p:sp>
      <p:sp>
        <p:nvSpPr>
          <p:cNvPr id="32" name="Shape 26"/>
          <p:cNvSpPr/>
          <p:nvPr/>
        </p:nvSpPr>
        <p:spPr>
          <a:xfrm>
            <a:off x="6120384" y="4608576"/>
            <a:ext cx="2834640" cy="1207008"/>
          </a:xfrm>
          <a:prstGeom prst="roundRect">
            <a:avLst>
              <a:gd name="adj" fmla="val 9091"/>
            </a:avLst>
          </a:prstGeom>
          <a:solidFill>
            <a:srgbClr val="141A33">
              <a:alpha val="86000"/>
            </a:srgbClr>
          </a:solidFill>
          <a:ln w="12700">
            <a:solidFill>
              <a:srgbClr val="10B981">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33" name="Shape 27"/>
          <p:cNvSpPr/>
          <p:nvPr/>
        </p:nvSpPr>
        <p:spPr>
          <a:xfrm>
            <a:off x="6394704" y="4818888"/>
            <a:ext cx="694944" cy="694944"/>
          </a:xfrm>
          <a:prstGeom prst="ellipse">
            <a:avLst/>
          </a:prstGeom>
          <a:solidFill>
            <a:srgbClr val="10B981">
              <a:alpha val="18000"/>
            </a:srgbClr>
          </a:solidFill>
          <a:ln w="13970">
            <a:solidFill>
              <a:srgbClr val="10B981">
                <a:alpha val="75000"/>
              </a:srgbClr>
            </a:solidFill>
            <a:prstDash val="solid"/>
          </a:ln>
        </p:spPr>
        <p:txBody>
          <a:bodyPr/>
          <a:lstStyle/>
          <a:p>
            <a:endParaRPr lang="en-US"/>
          </a:p>
        </p:txBody>
      </p:sp>
      <p:pic>
        <p:nvPicPr>
          <p:cNvPr id="34" name="Image 4" descr="preencoded.png"/>
          <p:cNvPicPr>
            <a:picLocks noChangeAspect="1"/>
          </p:cNvPicPr>
          <p:nvPr/>
        </p:nvPicPr>
        <p:blipFill>
          <a:blip r:embed="rId8"/>
          <a:stretch>
            <a:fillRect/>
          </a:stretch>
        </p:blipFill>
        <p:spPr>
          <a:xfrm>
            <a:off x="6582339" y="5006523"/>
            <a:ext cx="319674" cy="319674"/>
          </a:xfrm>
          <a:prstGeom prst="rect">
            <a:avLst/>
          </a:prstGeom>
        </p:spPr>
      </p:pic>
      <p:sp>
        <p:nvSpPr>
          <p:cNvPr id="35" name="Text 28"/>
          <p:cNvSpPr/>
          <p:nvPr/>
        </p:nvSpPr>
        <p:spPr>
          <a:xfrm>
            <a:off x="7208520" y="4736592"/>
            <a:ext cx="1828800" cy="914400"/>
          </a:xfrm>
          <a:prstGeom prst="rect">
            <a:avLst/>
          </a:prstGeom>
          <a:noFill/>
          <a:ln/>
        </p:spPr>
        <p:txBody>
          <a:bodyPr wrap="square" lIns="0" tIns="0" rIns="0" bIns="0" rtlCol="0" anchor="ctr"/>
          <a:lstStyle/>
          <a:p>
            <a:pPr marL="0" indent="0">
              <a:lnSpc>
                <a:spcPct val="105000"/>
              </a:lnSpc>
              <a:buNone/>
            </a:pPr>
            <a:r>
              <a:rPr lang="en-US" sz="1450" b="1" dirty="0">
                <a:solidFill>
                  <a:srgbClr val="EEF1FA"/>
                </a:solidFill>
                <a:latin typeface="Inter" pitchFamily="34" charset="0"/>
                <a:ea typeface="Inter" pitchFamily="34" charset="-122"/>
                <a:cs typeface="Inter" pitchFamily="34" charset="-120"/>
              </a:rPr>
              <a:t>SQLite</a:t>
            </a:r>
            <a:endParaRPr lang="en-US" sz="1450" dirty="0"/>
          </a:p>
          <a:p>
            <a:pPr marL="0" indent="0">
              <a:lnSpc>
                <a:spcPct val="105000"/>
              </a:lnSpc>
              <a:buNone/>
            </a:pPr>
            <a:r>
              <a:rPr lang="en-US" sz="1100" dirty="0">
                <a:solidFill>
                  <a:srgbClr val="9AA3C0"/>
                </a:solidFill>
                <a:latin typeface="Inter" pitchFamily="34" charset="0"/>
                <a:ea typeface="Inter" pitchFamily="34" charset="-122"/>
                <a:cs typeface="Inter" pitchFamily="34" charset="-120"/>
              </a:rPr>
              <a:t>keeps a full history</a:t>
            </a:r>
            <a:endParaRPr lang="en-US" sz="1450" dirty="0"/>
          </a:p>
        </p:txBody>
      </p:sp>
      <p:sp>
        <p:nvSpPr>
          <p:cNvPr id="36" name="Text 29"/>
          <p:cNvSpPr/>
          <p:nvPr/>
        </p:nvSpPr>
        <p:spPr>
          <a:xfrm>
            <a:off x="566927" y="6053328"/>
            <a:ext cx="6193353" cy="548640"/>
          </a:xfrm>
          <a:prstGeom prst="rect">
            <a:avLst/>
          </a:prstGeom>
          <a:noFill/>
          <a:ln/>
        </p:spPr>
        <p:txBody>
          <a:bodyPr wrap="square" lIns="0" tIns="0" rIns="0" bIns="0" rtlCol="0" anchor="t"/>
          <a:lstStyle/>
          <a:p>
            <a:pPr marL="0" indent="0">
              <a:lnSpc>
                <a:spcPct val="105000"/>
              </a:lnSpc>
              <a:buNone/>
            </a:pPr>
            <a:r>
              <a:rPr lang="en-US" sz="1150" dirty="0">
                <a:solidFill>
                  <a:schemeClr val="bg2"/>
                </a:solidFill>
                <a:latin typeface="Inter" pitchFamily="34" charset="0"/>
                <a:ea typeface="Inter" pitchFamily="34" charset="-122"/>
                <a:cs typeface="Inter" pitchFamily="34" charset="-120"/>
              </a:rPr>
              <a:t>The model is saved together with its data-prep, so it behaves exactly the same in testing as in real use.</a:t>
            </a:r>
            <a:endParaRPr lang="en-US" sz="1150" dirty="0">
              <a:solidFill>
                <a:schemeClr val="bg2"/>
              </a:solidFill>
            </a:endParaRPr>
          </a:p>
        </p:txBody>
      </p:sp>
      <p:sp>
        <p:nvSpPr>
          <p:cNvPr id="37" name="Text 30"/>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38" name="Text 31"/>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6 / 14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22D3EE"/>
                </a:solidFill>
                <a:latin typeface="JetBrains Mono" pitchFamily="34" charset="0"/>
                <a:ea typeface="JetBrains Mono" pitchFamily="34" charset="-122"/>
                <a:cs typeface="JetBrains Mono" pitchFamily="34" charset="-120"/>
              </a:rPr>
              <a:t>SRQ1 · THE SIGNALS</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About twenty traffic signals do most of the work</a:t>
            </a:r>
            <a:endParaRPr lang="en-US" sz="3100" dirty="0"/>
          </a:p>
        </p:txBody>
      </p:sp>
      <p:sp>
        <p:nvSpPr>
          <p:cNvPr id="4" name="Shape 2"/>
          <p:cNvSpPr/>
          <p:nvPr/>
        </p:nvSpPr>
        <p:spPr>
          <a:xfrm>
            <a:off x="566928" y="1828800"/>
            <a:ext cx="5989320" cy="4206240"/>
          </a:xfrm>
          <a:prstGeom prst="roundRect">
            <a:avLst>
              <a:gd name="adj" fmla="val 2609"/>
            </a:avLst>
          </a:prstGeom>
          <a:solidFill>
            <a:srgbClr val="141A33">
              <a:alpha val="84000"/>
            </a:srgbClr>
          </a:solidFill>
          <a:ln w="12700">
            <a:solidFill>
              <a:srgbClr val="22D3EE">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5" name="Text 3"/>
          <p:cNvSpPr/>
          <p:nvPr/>
        </p:nvSpPr>
        <p:spPr>
          <a:xfrm>
            <a:off x="868680" y="2084832"/>
            <a:ext cx="5486400" cy="365760"/>
          </a:xfrm>
          <a:prstGeom prst="rect">
            <a:avLst/>
          </a:prstGeom>
          <a:noFill/>
          <a:ln/>
        </p:spPr>
        <p:txBody>
          <a:bodyPr wrap="square" lIns="0" tIns="0" rIns="0" bIns="0" rtlCol="0" anchor="ctr"/>
          <a:lstStyle/>
          <a:p>
            <a:pPr marL="0" indent="0">
              <a:buNone/>
            </a:pPr>
            <a:r>
              <a:rPr lang="en-US" sz="1500" b="1" dirty="0">
                <a:solidFill>
                  <a:srgbClr val="EEF1FA"/>
                </a:solidFill>
                <a:latin typeface="Inter" pitchFamily="34" charset="0"/>
                <a:ea typeface="Inter" pitchFamily="34" charset="-122"/>
                <a:cs typeface="Inter" pitchFamily="34" charset="-120"/>
              </a:rPr>
              <a:t>Three kinds of traffic signal (~20 in total)</a:t>
            </a:r>
            <a:endParaRPr lang="en-US" sz="1500" dirty="0"/>
          </a:p>
        </p:txBody>
      </p:sp>
      <p:sp>
        <p:nvSpPr>
          <p:cNvPr id="6" name="Shape 4"/>
          <p:cNvSpPr/>
          <p:nvPr/>
        </p:nvSpPr>
        <p:spPr>
          <a:xfrm>
            <a:off x="886968" y="2651760"/>
            <a:ext cx="146304" cy="146304"/>
          </a:xfrm>
          <a:prstGeom prst="ellipse">
            <a:avLst/>
          </a:prstGeom>
          <a:solidFill>
            <a:srgbClr val="22D3EE"/>
          </a:solidFill>
          <a:ln w="12700">
            <a:solidFill>
              <a:srgbClr val="22D3EE"/>
            </a:solidFill>
            <a:prstDash val="solid"/>
          </a:ln>
        </p:spPr>
        <p:txBody>
          <a:bodyPr/>
          <a:lstStyle/>
          <a:p>
            <a:endParaRPr lang="en-US"/>
          </a:p>
        </p:txBody>
      </p:sp>
      <p:sp>
        <p:nvSpPr>
          <p:cNvPr id="7" name="Text 5"/>
          <p:cNvSpPr/>
          <p:nvPr/>
        </p:nvSpPr>
        <p:spPr>
          <a:xfrm>
            <a:off x="1143000" y="2560320"/>
            <a:ext cx="5212080" cy="310896"/>
          </a:xfrm>
          <a:prstGeom prst="rect">
            <a:avLst/>
          </a:prstGeom>
          <a:noFill/>
          <a:ln/>
        </p:spPr>
        <p:txBody>
          <a:bodyPr wrap="square" lIns="0" tIns="0" rIns="0" bIns="0" rtlCol="0" anchor="ctr"/>
          <a:lstStyle/>
          <a:p>
            <a:pPr marL="0" indent="0">
              <a:buNone/>
            </a:pPr>
            <a:r>
              <a:rPr lang="en-US" sz="1400" b="1" dirty="0">
                <a:solidFill>
                  <a:srgbClr val="22D3EE"/>
                </a:solidFill>
                <a:latin typeface="Inter" pitchFamily="34" charset="0"/>
                <a:ea typeface="Inter" pitchFamily="34" charset="-122"/>
                <a:cs typeface="Inter" pitchFamily="34" charset="-120"/>
              </a:rPr>
              <a:t>Volume</a:t>
            </a:r>
            <a:endParaRPr lang="en-US" sz="1400" dirty="0"/>
          </a:p>
        </p:txBody>
      </p:sp>
      <p:sp>
        <p:nvSpPr>
          <p:cNvPr id="8" name="Text 6"/>
          <p:cNvSpPr/>
          <p:nvPr/>
        </p:nvSpPr>
        <p:spPr>
          <a:xfrm>
            <a:off x="1143000" y="2871216"/>
            <a:ext cx="5120640" cy="548640"/>
          </a:xfrm>
          <a:prstGeom prst="rect">
            <a:avLst/>
          </a:prstGeom>
          <a:noFill/>
          <a:ln/>
        </p:spPr>
        <p:txBody>
          <a:bodyPr wrap="square" lIns="0" tIns="0" rIns="0" bIns="0" rtlCol="0" anchor="ctr"/>
          <a:lstStyle/>
          <a:p>
            <a:pPr marL="0" indent="0">
              <a:lnSpc>
                <a:spcPct val="105000"/>
              </a:lnSpc>
              <a:buNone/>
            </a:pPr>
            <a:r>
              <a:rPr lang="en-US" sz="1400" dirty="0">
                <a:solidFill>
                  <a:srgbClr val="9AA3C0"/>
                </a:solidFill>
                <a:latin typeface="JetBrains Mono" pitchFamily="34" charset="0"/>
                <a:ea typeface="JetBrains Mono" pitchFamily="34" charset="-122"/>
                <a:cs typeface="JetBrains Mono" pitchFamily="34" charset="-120"/>
              </a:rPr>
              <a:t>how long it lasts, how many packets and bytes, how fast</a:t>
            </a:r>
            <a:endParaRPr lang="en-US" sz="1400" dirty="0"/>
          </a:p>
        </p:txBody>
      </p:sp>
      <p:sp>
        <p:nvSpPr>
          <p:cNvPr id="9" name="Shape 7"/>
          <p:cNvSpPr/>
          <p:nvPr/>
        </p:nvSpPr>
        <p:spPr>
          <a:xfrm>
            <a:off x="886968" y="3694176"/>
            <a:ext cx="146304" cy="146304"/>
          </a:xfrm>
          <a:prstGeom prst="ellipse">
            <a:avLst/>
          </a:prstGeom>
          <a:solidFill>
            <a:srgbClr val="8B5CF6"/>
          </a:solidFill>
          <a:ln w="12700">
            <a:solidFill>
              <a:srgbClr val="8B5CF6"/>
            </a:solidFill>
            <a:prstDash val="solid"/>
          </a:ln>
        </p:spPr>
        <p:txBody>
          <a:bodyPr/>
          <a:lstStyle/>
          <a:p>
            <a:endParaRPr lang="en-US"/>
          </a:p>
        </p:txBody>
      </p:sp>
      <p:sp>
        <p:nvSpPr>
          <p:cNvPr id="10" name="Text 8"/>
          <p:cNvSpPr/>
          <p:nvPr/>
        </p:nvSpPr>
        <p:spPr>
          <a:xfrm>
            <a:off x="1143000" y="3602736"/>
            <a:ext cx="5212080" cy="310896"/>
          </a:xfrm>
          <a:prstGeom prst="rect">
            <a:avLst/>
          </a:prstGeom>
          <a:noFill/>
          <a:ln/>
        </p:spPr>
        <p:txBody>
          <a:bodyPr wrap="square" lIns="0" tIns="0" rIns="0" bIns="0" rtlCol="0" anchor="ctr"/>
          <a:lstStyle/>
          <a:p>
            <a:pPr marL="0" indent="0">
              <a:buNone/>
            </a:pPr>
            <a:r>
              <a:rPr lang="en-US" sz="1400" b="1" dirty="0">
                <a:solidFill>
                  <a:srgbClr val="8B5CF6"/>
                </a:solidFill>
                <a:latin typeface="Inter" pitchFamily="34" charset="0"/>
                <a:ea typeface="Inter" pitchFamily="34" charset="-122"/>
                <a:cs typeface="Inter" pitchFamily="34" charset="-120"/>
              </a:rPr>
              <a:t>Shape</a:t>
            </a:r>
            <a:endParaRPr lang="en-US" sz="1400" dirty="0"/>
          </a:p>
        </p:txBody>
      </p:sp>
      <p:sp>
        <p:nvSpPr>
          <p:cNvPr id="11" name="Text 9"/>
          <p:cNvSpPr/>
          <p:nvPr/>
        </p:nvSpPr>
        <p:spPr>
          <a:xfrm>
            <a:off x="1143000" y="3913632"/>
            <a:ext cx="5120640" cy="548640"/>
          </a:xfrm>
          <a:prstGeom prst="rect">
            <a:avLst/>
          </a:prstGeom>
          <a:noFill/>
          <a:ln/>
        </p:spPr>
        <p:txBody>
          <a:bodyPr wrap="square" lIns="0" tIns="0" rIns="0" bIns="0" rtlCol="0" anchor="ctr"/>
          <a:lstStyle/>
          <a:p>
            <a:pPr marL="0" indent="0">
              <a:lnSpc>
                <a:spcPct val="105000"/>
              </a:lnSpc>
              <a:buNone/>
            </a:pPr>
            <a:r>
              <a:rPr lang="en-US" sz="1400" dirty="0">
                <a:solidFill>
                  <a:srgbClr val="9AA3C0"/>
                </a:solidFill>
                <a:latin typeface="JetBrains Mono" pitchFamily="34" charset="0"/>
                <a:ea typeface="JetBrains Mono" pitchFamily="34" charset="-122"/>
                <a:cs typeface="JetBrains Mono" pitchFamily="34" charset="-120"/>
              </a:rPr>
              <a:t>typical and largest packet sizes, and the timing between them</a:t>
            </a:r>
            <a:endParaRPr lang="en-US" sz="1400" dirty="0"/>
          </a:p>
        </p:txBody>
      </p:sp>
      <p:sp>
        <p:nvSpPr>
          <p:cNvPr id="12" name="Shape 10"/>
          <p:cNvSpPr/>
          <p:nvPr/>
        </p:nvSpPr>
        <p:spPr>
          <a:xfrm>
            <a:off x="886968" y="4736592"/>
            <a:ext cx="146304" cy="146304"/>
          </a:xfrm>
          <a:prstGeom prst="ellipse">
            <a:avLst/>
          </a:prstGeom>
          <a:solidFill>
            <a:srgbClr val="10B981"/>
          </a:solidFill>
          <a:ln w="12700">
            <a:solidFill>
              <a:srgbClr val="10B981"/>
            </a:solidFill>
            <a:prstDash val="solid"/>
          </a:ln>
        </p:spPr>
        <p:txBody>
          <a:bodyPr/>
          <a:lstStyle/>
          <a:p>
            <a:endParaRPr lang="en-US"/>
          </a:p>
        </p:txBody>
      </p:sp>
      <p:sp>
        <p:nvSpPr>
          <p:cNvPr id="13" name="Text 11"/>
          <p:cNvSpPr/>
          <p:nvPr/>
        </p:nvSpPr>
        <p:spPr>
          <a:xfrm>
            <a:off x="1143000" y="4645152"/>
            <a:ext cx="5212080" cy="310896"/>
          </a:xfrm>
          <a:prstGeom prst="rect">
            <a:avLst/>
          </a:prstGeom>
          <a:noFill/>
          <a:ln/>
        </p:spPr>
        <p:txBody>
          <a:bodyPr wrap="square" lIns="0" tIns="0" rIns="0" bIns="0" rtlCol="0" anchor="ctr"/>
          <a:lstStyle/>
          <a:p>
            <a:pPr marL="0" indent="0">
              <a:buNone/>
            </a:pPr>
            <a:r>
              <a:rPr lang="en-US" sz="1400" b="1" dirty="0">
                <a:solidFill>
                  <a:srgbClr val="10B981"/>
                </a:solidFill>
                <a:latin typeface="Inter" pitchFamily="34" charset="0"/>
                <a:ea typeface="Inter" pitchFamily="34" charset="-122"/>
                <a:cs typeface="Inter" pitchFamily="34" charset="-120"/>
              </a:rPr>
              <a:t>Handshake clues</a:t>
            </a:r>
            <a:endParaRPr lang="en-US" sz="1400" dirty="0"/>
          </a:p>
        </p:txBody>
      </p:sp>
      <p:sp>
        <p:nvSpPr>
          <p:cNvPr id="14" name="Text 12"/>
          <p:cNvSpPr/>
          <p:nvPr/>
        </p:nvSpPr>
        <p:spPr>
          <a:xfrm>
            <a:off x="1143000" y="4956048"/>
            <a:ext cx="5120640" cy="548640"/>
          </a:xfrm>
          <a:prstGeom prst="rect">
            <a:avLst/>
          </a:prstGeom>
          <a:noFill/>
          <a:ln/>
        </p:spPr>
        <p:txBody>
          <a:bodyPr wrap="square" lIns="0" tIns="0" rIns="0" bIns="0" rtlCol="0" anchor="ctr"/>
          <a:lstStyle/>
          <a:p>
            <a:pPr marL="0" indent="0">
              <a:lnSpc>
                <a:spcPct val="105000"/>
              </a:lnSpc>
              <a:buNone/>
            </a:pPr>
            <a:r>
              <a:rPr lang="en-US" sz="1400" dirty="0">
                <a:solidFill>
                  <a:srgbClr val="9AA3C0"/>
                </a:solidFill>
                <a:latin typeface="JetBrains Mono" pitchFamily="34" charset="0"/>
                <a:ea typeface="JetBrains Mono" pitchFamily="34" charset="-122"/>
                <a:cs typeface="JetBrains Mono" pitchFamily="34" charset="-120"/>
              </a:rPr>
              <a:t>the connection “flags” that reveal scans and password-guessing</a:t>
            </a:r>
            <a:endParaRPr lang="en-US" sz="1400" dirty="0"/>
          </a:p>
        </p:txBody>
      </p:sp>
      <p:sp>
        <p:nvSpPr>
          <p:cNvPr id="16" name="Text 14"/>
          <p:cNvSpPr/>
          <p:nvPr/>
        </p:nvSpPr>
        <p:spPr>
          <a:xfrm>
            <a:off x="7004304" y="1681096"/>
            <a:ext cx="4297680" cy="696344"/>
          </a:xfrm>
          <a:prstGeom prst="rect">
            <a:avLst/>
          </a:prstGeom>
          <a:noFill/>
          <a:ln>
            <a:solidFill>
              <a:srgbClr val="FB53FF"/>
            </a:solidFill>
          </a:ln>
        </p:spPr>
        <p:txBody>
          <a:bodyPr wrap="square" lIns="0" tIns="0" rIns="0" bIns="0" rtlCol="0" anchor="ctr"/>
          <a:lstStyle/>
          <a:p>
            <a:pPr marL="0" indent="0" algn="ctr">
              <a:buNone/>
            </a:pPr>
            <a:r>
              <a:rPr lang="en-US" b="1" kern="0" spc="150" dirty="0">
                <a:solidFill>
                  <a:srgbClr val="FB53FF"/>
                </a:solidFill>
                <a:latin typeface="JetBrains Mono" pitchFamily="34" charset="0"/>
                <a:ea typeface="JetBrains Mono" pitchFamily="34" charset="-122"/>
                <a:cs typeface="JetBrains Mono" pitchFamily="34" charset="-120"/>
              </a:rPr>
              <a:t>What I learned during development</a:t>
            </a:r>
            <a:endParaRPr lang="en-US" b="1" dirty="0">
              <a:solidFill>
                <a:srgbClr val="FB53FF"/>
              </a:solidFill>
            </a:endParaRPr>
          </a:p>
        </p:txBody>
      </p:sp>
      <p:sp>
        <p:nvSpPr>
          <p:cNvPr id="18" name="Text 16"/>
          <p:cNvSpPr/>
          <p:nvPr/>
        </p:nvSpPr>
        <p:spPr>
          <a:xfrm>
            <a:off x="8732520" y="3127248"/>
            <a:ext cx="2377440" cy="365760"/>
          </a:xfrm>
          <a:prstGeom prst="rect">
            <a:avLst/>
          </a:prstGeom>
          <a:noFill/>
          <a:ln/>
        </p:spPr>
        <p:txBody>
          <a:bodyPr wrap="square" lIns="0" tIns="0" rIns="0" bIns="0" rtlCol="0" anchor="ctr"/>
          <a:lstStyle/>
          <a:p>
            <a:pPr marL="0" indent="0">
              <a:buNone/>
            </a:pPr>
            <a:endParaRPr lang="en-US" sz="1200" dirty="0"/>
          </a:p>
        </p:txBody>
      </p:sp>
      <p:sp>
        <p:nvSpPr>
          <p:cNvPr id="19" name="Text 17"/>
          <p:cNvSpPr/>
          <p:nvPr/>
        </p:nvSpPr>
        <p:spPr>
          <a:xfrm>
            <a:off x="7132320" y="2450592"/>
            <a:ext cx="4343400" cy="822960"/>
          </a:xfrm>
          <a:prstGeom prst="rect">
            <a:avLst/>
          </a:prstGeom>
          <a:noFill/>
          <a:ln/>
        </p:spPr>
        <p:txBody>
          <a:bodyPr wrap="square" lIns="0" tIns="0" rIns="0" bIns="0" rtlCol="0" anchor="ctr"/>
          <a:lstStyle/>
          <a:p>
            <a:pPr marL="0" indent="0">
              <a:lnSpc>
                <a:spcPct val="108000"/>
              </a:lnSpc>
              <a:buNone/>
            </a:pPr>
            <a:r>
              <a:rPr lang="en-US" sz="1400" b="1" dirty="0">
                <a:solidFill>
                  <a:schemeClr val="bg2"/>
                </a:solidFill>
                <a:latin typeface="Inter" pitchFamily="34" charset="0"/>
                <a:ea typeface="Inter" pitchFamily="34" charset="-122"/>
                <a:cs typeface="Inter" pitchFamily="34" charset="-120"/>
              </a:rPr>
              <a:t>Preparing the data numbers the right way(normalizing) matters: a few Outliers can otherwise throw the whole model off.</a:t>
            </a:r>
            <a:endParaRPr lang="en-US" sz="1400" b="1" dirty="0">
              <a:solidFill>
                <a:schemeClr val="bg2"/>
              </a:solidFill>
            </a:endParaRPr>
          </a:p>
        </p:txBody>
      </p:sp>
      <p:sp>
        <p:nvSpPr>
          <p:cNvPr id="20" name="Shape 18"/>
          <p:cNvSpPr/>
          <p:nvPr/>
        </p:nvSpPr>
        <p:spPr>
          <a:xfrm>
            <a:off x="6733032" y="3823592"/>
            <a:ext cx="4892040" cy="1353312"/>
          </a:xfrm>
          <a:prstGeom prst="roundRect">
            <a:avLst>
              <a:gd name="adj" fmla="val 8108"/>
            </a:avLst>
          </a:prstGeom>
          <a:solidFill>
            <a:srgbClr val="141A33">
              <a:alpha val="86000"/>
            </a:srgbClr>
          </a:solidFill>
          <a:ln w="12700">
            <a:solidFill>
              <a:srgbClr val="10B981">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21" name="Shape 19"/>
          <p:cNvSpPr/>
          <p:nvPr/>
        </p:nvSpPr>
        <p:spPr>
          <a:xfrm>
            <a:off x="6967728" y="4033394"/>
            <a:ext cx="676656" cy="676656"/>
          </a:xfrm>
          <a:prstGeom prst="ellipse">
            <a:avLst/>
          </a:prstGeom>
          <a:solidFill>
            <a:srgbClr val="10B981">
              <a:alpha val="18000"/>
            </a:srgbClr>
          </a:solidFill>
          <a:ln w="13970">
            <a:solidFill>
              <a:srgbClr val="00FF00">
                <a:alpha val="75000"/>
              </a:srgbClr>
            </a:solidFill>
            <a:prstDash val="solid"/>
          </a:ln>
        </p:spPr>
        <p:txBody>
          <a:bodyPr/>
          <a:lstStyle/>
          <a:p>
            <a:endParaRPr lang="en-US"/>
          </a:p>
        </p:txBody>
      </p:sp>
      <p:pic>
        <p:nvPicPr>
          <p:cNvPr id="22" name="Image 0" descr="preencoded.png"/>
          <p:cNvPicPr>
            <a:picLocks noChangeAspect="1"/>
          </p:cNvPicPr>
          <p:nvPr/>
        </p:nvPicPr>
        <p:blipFill>
          <a:blip r:embed="rId4"/>
          <a:stretch>
            <a:fillRect/>
          </a:stretch>
        </p:blipFill>
        <p:spPr>
          <a:xfrm>
            <a:off x="7153473" y="4225745"/>
            <a:ext cx="311262" cy="311262"/>
          </a:xfrm>
          <a:prstGeom prst="rect">
            <a:avLst/>
          </a:prstGeom>
        </p:spPr>
      </p:pic>
      <p:sp>
        <p:nvSpPr>
          <p:cNvPr id="23" name="Text 20"/>
          <p:cNvSpPr/>
          <p:nvPr/>
        </p:nvSpPr>
        <p:spPr>
          <a:xfrm>
            <a:off x="7775448" y="3823592"/>
            <a:ext cx="3657600" cy="1353312"/>
          </a:xfrm>
          <a:prstGeom prst="rect">
            <a:avLst/>
          </a:prstGeom>
          <a:noFill/>
          <a:ln/>
        </p:spPr>
        <p:txBody>
          <a:bodyPr wrap="square" lIns="0" tIns="0" rIns="0" bIns="0" rtlCol="0" anchor="ctr"/>
          <a:lstStyle/>
          <a:p>
            <a:pPr marL="0" indent="0">
              <a:lnSpc>
                <a:spcPct val="105000"/>
              </a:lnSpc>
              <a:buNone/>
            </a:pPr>
            <a:r>
              <a:rPr lang="en-US" sz="1400" b="1" dirty="0">
                <a:solidFill>
                  <a:srgbClr val="10B981"/>
                </a:solidFill>
                <a:latin typeface="Inter" pitchFamily="34" charset="0"/>
                <a:ea typeface="Inter" pitchFamily="34" charset="-122"/>
                <a:cs typeface="Inter" pitchFamily="34" charset="-120"/>
              </a:rPr>
              <a:t>Same in testing and in real life.  </a:t>
            </a:r>
            <a:r>
              <a:rPr lang="en-US" sz="1400" dirty="0">
                <a:solidFill>
                  <a:srgbClr val="EEF1FA"/>
                </a:solidFill>
                <a:latin typeface="Inter" pitchFamily="34" charset="0"/>
                <a:ea typeface="Inter" pitchFamily="34" charset="-122"/>
                <a:cs typeface="Inter" pitchFamily="34" charset="-120"/>
              </a:rPr>
              <a:t>We bundle the data-prep steps with the model, so it can’t behave differently once it’s deployed.</a:t>
            </a:r>
            <a:endParaRPr lang="en-US" sz="1400" dirty="0"/>
          </a:p>
        </p:txBody>
      </p:sp>
      <p:sp>
        <p:nvSpPr>
          <p:cNvPr id="24" name="Text 21"/>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25" name="Text 22"/>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7 / 14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8B5CF6"/>
                </a:solidFill>
                <a:latin typeface="JetBrains Mono" pitchFamily="34" charset="0"/>
                <a:ea typeface="JetBrains Mono" pitchFamily="34" charset="-122"/>
                <a:cs typeface="JetBrains Mono" pitchFamily="34" charset="-120"/>
              </a:rPr>
              <a:t>SRQ2 · ALGORITHMS</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A surprising near-tie for first place</a:t>
            </a:r>
            <a:endParaRPr lang="en-US" sz="3100" dirty="0"/>
          </a:p>
        </p:txBody>
      </p:sp>
      <p:sp>
        <p:nvSpPr>
          <p:cNvPr id="4" name="Shape 2"/>
          <p:cNvSpPr/>
          <p:nvPr/>
        </p:nvSpPr>
        <p:spPr>
          <a:xfrm>
            <a:off x="566928" y="1828800"/>
            <a:ext cx="6720840" cy="4206240"/>
          </a:xfrm>
          <a:prstGeom prst="roundRect">
            <a:avLst>
              <a:gd name="adj" fmla="val 2609"/>
            </a:avLst>
          </a:prstGeom>
          <a:solidFill>
            <a:srgbClr val="141A33">
              <a:alpha val="82000"/>
            </a:srgbClr>
          </a:solidFill>
          <a:ln w="12700">
            <a:solidFill>
              <a:srgbClr val="8B5CF6">
                <a:alpha val="58000"/>
              </a:srgbClr>
            </a:solidFill>
            <a:prstDash val="solid"/>
          </a:ln>
          <a:effectLst>
            <a:outerShdw blurRad="177800" dist="63500" dir="5400000" algn="bl" rotWithShape="0">
              <a:srgbClr val="000000">
                <a:alpha val="45000"/>
              </a:srgbClr>
            </a:outerShdw>
          </a:effectLst>
        </p:spPr>
        <p:txBody>
          <a:bodyPr/>
          <a:lstStyle/>
          <a:p>
            <a:endParaRPr lang="en-US" dirty="0"/>
          </a:p>
        </p:txBody>
      </p:sp>
      <p:sp>
        <p:nvSpPr>
          <p:cNvPr id="5" name="Text 3"/>
          <p:cNvSpPr/>
          <p:nvPr/>
        </p:nvSpPr>
        <p:spPr>
          <a:xfrm>
            <a:off x="868680" y="2029968"/>
            <a:ext cx="6309360" cy="310896"/>
          </a:xfrm>
          <a:prstGeom prst="rect">
            <a:avLst/>
          </a:prstGeom>
          <a:noFill/>
          <a:ln/>
        </p:spPr>
        <p:txBody>
          <a:bodyPr wrap="square" lIns="0" tIns="0" rIns="0" bIns="0" rtlCol="0" anchor="ctr"/>
          <a:lstStyle/>
          <a:p>
            <a:pPr marL="0" indent="0">
              <a:buNone/>
            </a:pPr>
            <a:r>
              <a:rPr lang="en-US" sz="1000" b="1" kern="0" spc="50" dirty="0">
                <a:solidFill>
                  <a:srgbClr val="FFC000"/>
                </a:solidFill>
                <a:latin typeface="JetBrains Mono" pitchFamily="34" charset="0"/>
                <a:ea typeface="JetBrains Mono" pitchFamily="34" charset="-122"/>
                <a:cs typeface="JetBrains Mono" pitchFamily="34" charset="-120"/>
              </a:rPr>
              <a:t>Overall accuracy - tested on 20,000 results</a:t>
            </a:r>
            <a:endParaRPr lang="en-US" sz="1000" b="1" dirty="0">
              <a:solidFill>
                <a:srgbClr val="FFC000"/>
              </a:solidFill>
            </a:endParaRPr>
          </a:p>
        </p:txBody>
      </p:sp>
      <p:graphicFrame>
        <p:nvGraphicFramePr>
          <p:cNvPr id="6" name="Chart 0"/>
          <p:cNvGraphicFramePr/>
          <p:nvPr/>
        </p:nvGraphicFramePr>
        <p:xfrm>
          <a:off x="713232" y="2432304"/>
          <a:ext cx="6446520" cy="34747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4"/>
          <p:cNvSpPr/>
          <p:nvPr/>
        </p:nvSpPr>
        <p:spPr>
          <a:xfrm>
            <a:off x="7461504" y="1828800"/>
            <a:ext cx="4160520" cy="4206240"/>
          </a:xfrm>
          <a:prstGeom prst="roundRect">
            <a:avLst>
              <a:gd name="adj" fmla="val 2637"/>
            </a:avLst>
          </a:prstGeom>
          <a:solidFill>
            <a:srgbClr val="141A33">
              <a:alpha val="84000"/>
            </a:srgbClr>
          </a:solidFill>
          <a:ln w="12700">
            <a:solidFill>
              <a:srgbClr val="10B981">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8" name="Text 5"/>
          <p:cNvSpPr/>
          <p:nvPr/>
        </p:nvSpPr>
        <p:spPr>
          <a:xfrm>
            <a:off x="7735824" y="2066544"/>
            <a:ext cx="3657600" cy="365760"/>
          </a:xfrm>
          <a:prstGeom prst="rect">
            <a:avLst/>
          </a:prstGeom>
          <a:noFill/>
          <a:ln/>
        </p:spPr>
        <p:txBody>
          <a:bodyPr wrap="square" lIns="0" tIns="0" rIns="0" bIns="0" rtlCol="0" anchor="ctr"/>
          <a:lstStyle/>
          <a:p>
            <a:pPr marL="0" indent="0" algn="ctr">
              <a:buNone/>
            </a:pPr>
            <a:r>
              <a:rPr lang="en-US" sz="1550" b="1" dirty="0">
                <a:solidFill>
                  <a:srgbClr val="EEF1FA"/>
                </a:solidFill>
                <a:latin typeface="Inter" pitchFamily="34" charset="0"/>
                <a:ea typeface="Inter" pitchFamily="34" charset="-122"/>
                <a:cs typeface="Inter" pitchFamily="34" charset="-120"/>
              </a:rPr>
              <a:t>Why “Gradient Boosting” won</a:t>
            </a:r>
            <a:endParaRPr lang="en-US" sz="1550" dirty="0"/>
          </a:p>
        </p:txBody>
      </p:sp>
      <p:sp>
        <p:nvSpPr>
          <p:cNvPr id="9" name="Text 6"/>
          <p:cNvSpPr/>
          <p:nvPr/>
        </p:nvSpPr>
        <p:spPr>
          <a:xfrm>
            <a:off x="7735824" y="2542032"/>
            <a:ext cx="3657600" cy="310896"/>
          </a:xfrm>
          <a:prstGeom prst="rect">
            <a:avLst/>
          </a:prstGeom>
          <a:noFill/>
          <a:ln/>
        </p:spPr>
        <p:txBody>
          <a:bodyPr wrap="square" lIns="0" tIns="0" rIns="0" bIns="0" rtlCol="0" anchor="ctr"/>
          <a:lstStyle/>
          <a:p>
            <a:pPr marL="0" indent="0">
              <a:buNone/>
            </a:pPr>
            <a:r>
              <a:rPr lang="en-US" sz="1600" b="1" dirty="0">
                <a:solidFill>
                  <a:srgbClr val="A78BFA"/>
                </a:solidFill>
                <a:latin typeface="JetBrains Mono" pitchFamily="34" charset="0"/>
                <a:ea typeface="JetBrains Mono" pitchFamily="34" charset="-122"/>
                <a:cs typeface="JetBrains Mono" pitchFamily="34" charset="-120"/>
              </a:rPr>
              <a:t>1. Names the attack</a:t>
            </a:r>
            <a:endParaRPr lang="en-US" sz="1600" dirty="0"/>
          </a:p>
        </p:txBody>
      </p:sp>
      <p:sp>
        <p:nvSpPr>
          <p:cNvPr id="10" name="Text 7"/>
          <p:cNvSpPr/>
          <p:nvPr/>
        </p:nvSpPr>
        <p:spPr>
          <a:xfrm>
            <a:off x="7781544" y="2784628"/>
            <a:ext cx="3611880" cy="566928"/>
          </a:xfrm>
          <a:prstGeom prst="rect">
            <a:avLst/>
          </a:prstGeom>
          <a:noFill/>
          <a:ln/>
        </p:spPr>
        <p:txBody>
          <a:bodyPr wrap="square" lIns="0" tIns="0" rIns="0" bIns="0" rtlCol="0" anchor="ctr"/>
          <a:lstStyle/>
          <a:p>
            <a:pPr marL="0" indent="0">
              <a:lnSpc>
                <a:spcPct val="105000"/>
              </a:lnSpc>
              <a:buNone/>
            </a:pPr>
            <a:r>
              <a:rPr lang="en-US" sz="1400" dirty="0">
                <a:solidFill>
                  <a:srgbClr val="00B050"/>
                </a:solidFill>
                <a:latin typeface="Inter" pitchFamily="34" charset="0"/>
                <a:ea typeface="Inter" pitchFamily="34" charset="-122"/>
                <a:cs typeface="Inter" pitchFamily="34" charset="-120"/>
              </a:rPr>
              <a:t>It tells 8 attack types apart, not just “attack/not” a harder job, same score.</a:t>
            </a:r>
            <a:endParaRPr lang="en-US" sz="1400" dirty="0">
              <a:solidFill>
                <a:srgbClr val="00B050"/>
              </a:solidFill>
            </a:endParaRPr>
          </a:p>
        </p:txBody>
      </p:sp>
      <p:sp>
        <p:nvSpPr>
          <p:cNvPr id="11" name="Text 8"/>
          <p:cNvSpPr/>
          <p:nvPr/>
        </p:nvSpPr>
        <p:spPr>
          <a:xfrm>
            <a:off x="7735824" y="3529584"/>
            <a:ext cx="3657600" cy="310896"/>
          </a:xfrm>
          <a:prstGeom prst="rect">
            <a:avLst/>
          </a:prstGeom>
          <a:noFill/>
          <a:ln/>
        </p:spPr>
        <p:txBody>
          <a:bodyPr wrap="square" lIns="0" tIns="0" rIns="0" bIns="0" rtlCol="0" anchor="ctr"/>
          <a:lstStyle/>
          <a:p>
            <a:pPr marL="0" indent="0">
              <a:buNone/>
            </a:pPr>
            <a:r>
              <a:rPr lang="en-US" sz="1600" b="1" dirty="0">
                <a:solidFill>
                  <a:srgbClr val="22D3EE"/>
                </a:solidFill>
                <a:latin typeface="JetBrains Mono" pitchFamily="34" charset="0"/>
                <a:ea typeface="JetBrains Mono" pitchFamily="34" charset="-122"/>
                <a:cs typeface="JetBrains Mono" pitchFamily="34" charset="-120"/>
              </a:rPr>
              <a:t>2. Much faster</a:t>
            </a:r>
            <a:endParaRPr lang="en-US" sz="1600" dirty="0"/>
          </a:p>
        </p:txBody>
      </p:sp>
      <p:sp>
        <p:nvSpPr>
          <p:cNvPr id="12" name="Text 9"/>
          <p:cNvSpPr/>
          <p:nvPr/>
        </p:nvSpPr>
        <p:spPr>
          <a:xfrm>
            <a:off x="7780424" y="3744748"/>
            <a:ext cx="3611880" cy="566928"/>
          </a:xfrm>
          <a:prstGeom prst="rect">
            <a:avLst/>
          </a:prstGeom>
          <a:noFill/>
          <a:ln/>
        </p:spPr>
        <p:txBody>
          <a:bodyPr wrap="square" lIns="0" tIns="0" rIns="0" bIns="0" rtlCol="0" anchor="ctr"/>
          <a:lstStyle/>
          <a:p>
            <a:pPr marL="0" indent="0">
              <a:lnSpc>
                <a:spcPct val="105000"/>
              </a:lnSpc>
              <a:buNone/>
            </a:pPr>
            <a:r>
              <a:rPr lang="en-US" sz="1400" dirty="0">
                <a:solidFill>
                  <a:srgbClr val="FFC000"/>
                </a:solidFill>
                <a:latin typeface="Inter" pitchFamily="34" charset="0"/>
                <a:ea typeface="Inter" pitchFamily="34" charset="-122"/>
                <a:cs typeface="Inter" pitchFamily="34" charset="-120"/>
              </a:rPr>
              <a:t>About 8× quicker than the runner-up.</a:t>
            </a:r>
            <a:endParaRPr lang="en-US" sz="1400" dirty="0">
              <a:solidFill>
                <a:srgbClr val="FFC000"/>
              </a:solidFill>
            </a:endParaRPr>
          </a:p>
        </p:txBody>
      </p:sp>
      <p:sp>
        <p:nvSpPr>
          <p:cNvPr id="13" name="Text 10"/>
          <p:cNvSpPr/>
          <p:nvPr/>
        </p:nvSpPr>
        <p:spPr>
          <a:xfrm>
            <a:off x="7735824" y="4517136"/>
            <a:ext cx="3657600" cy="310896"/>
          </a:xfrm>
          <a:prstGeom prst="rect">
            <a:avLst/>
          </a:prstGeom>
          <a:noFill/>
          <a:ln/>
        </p:spPr>
        <p:txBody>
          <a:bodyPr wrap="square" lIns="0" tIns="0" rIns="0" bIns="0" rtlCol="0" anchor="ctr"/>
          <a:lstStyle/>
          <a:p>
            <a:pPr marL="0" indent="0">
              <a:buNone/>
            </a:pPr>
            <a:r>
              <a:rPr lang="en-US" sz="1600" b="1" dirty="0">
                <a:solidFill>
                  <a:srgbClr val="10B981"/>
                </a:solidFill>
                <a:latin typeface="JetBrains Mono" pitchFamily="34" charset="0"/>
                <a:ea typeface="JetBrains Mono" pitchFamily="34" charset="-122"/>
                <a:cs typeface="JetBrains Mono" pitchFamily="34" charset="-120"/>
              </a:rPr>
              <a:t>3. Cleaner results</a:t>
            </a:r>
            <a:endParaRPr lang="en-US" sz="1600" dirty="0"/>
          </a:p>
        </p:txBody>
      </p:sp>
      <p:sp>
        <p:nvSpPr>
          <p:cNvPr id="14" name="Text 11"/>
          <p:cNvSpPr/>
          <p:nvPr/>
        </p:nvSpPr>
        <p:spPr>
          <a:xfrm>
            <a:off x="7780424" y="4750028"/>
            <a:ext cx="3611880" cy="566928"/>
          </a:xfrm>
          <a:prstGeom prst="rect">
            <a:avLst/>
          </a:prstGeom>
          <a:noFill/>
          <a:ln/>
        </p:spPr>
        <p:txBody>
          <a:bodyPr wrap="square" lIns="0" tIns="0" rIns="0" bIns="0" rtlCol="0" anchor="ctr"/>
          <a:lstStyle/>
          <a:p>
            <a:pPr marL="0" indent="0">
              <a:lnSpc>
                <a:spcPct val="105000"/>
              </a:lnSpc>
              <a:buNone/>
            </a:pPr>
            <a:r>
              <a:rPr lang="en-US" sz="1400" b="1" dirty="0">
                <a:solidFill>
                  <a:srgbClr val="FB53FF"/>
                </a:solidFill>
                <a:latin typeface="Inter" pitchFamily="34" charset="0"/>
                <a:ea typeface="Inter" pitchFamily="34" charset="-122"/>
                <a:cs typeface="Inter" pitchFamily="34" charset="-120"/>
              </a:rPr>
              <a:t>Separates attacks from benign more reliably.</a:t>
            </a:r>
            <a:endParaRPr lang="en-US" sz="1400" b="1" dirty="0">
              <a:solidFill>
                <a:srgbClr val="FB53FF"/>
              </a:solidFill>
            </a:endParaRPr>
          </a:p>
        </p:txBody>
      </p:sp>
      <p:sp>
        <p:nvSpPr>
          <p:cNvPr id="15" name="Shape 12"/>
          <p:cNvSpPr/>
          <p:nvPr/>
        </p:nvSpPr>
        <p:spPr>
          <a:xfrm>
            <a:off x="7735824" y="5532120"/>
            <a:ext cx="3611880" cy="0"/>
          </a:xfrm>
          <a:prstGeom prst="line">
            <a:avLst/>
          </a:prstGeom>
          <a:noFill/>
          <a:ln w="9525">
            <a:solidFill>
              <a:srgbClr val="33305F"/>
            </a:solidFill>
            <a:prstDash val="solid"/>
          </a:ln>
        </p:spPr>
        <p:txBody>
          <a:bodyPr/>
          <a:lstStyle/>
          <a:p>
            <a:endParaRPr lang="en-US"/>
          </a:p>
        </p:txBody>
      </p:sp>
      <p:sp>
        <p:nvSpPr>
          <p:cNvPr id="16" name="Text 13"/>
          <p:cNvSpPr/>
          <p:nvPr/>
        </p:nvSpPr>
        <p:spPr>
          <a:xfrm>
            <a:off x="7735824" y="5596128"/>
            <a:ext cx="3611880" cy="384048"/>
          </a:xfrm>
          <a:prstGeom prst="rect">
            <a:avLst/>
          </a:prstGeom>
          <a:noFill/>
          <a:ln/>
        </p:spPr>
        <p:txBody>
          <a:bodyPr wrap="square" lIns="0" tIns="0" rIns="0" bIns="0" rtlCol="0" anchor="ctr"/>
          <a:lstStyle/>
          <a:p>
            <a:pPr marL="0" indent="0">
              <a:lnSpc>
                <a:spcPct val="100000"/>
              </a:lnSpc>
              <a:buNone/>
            </a:pPr>
            <a:r>
              <a:rPr lang="en-US" sz="1050" i="1" dirty="0">
                <a:solidFill>
                  <a:srgbClr val="6B7396"/>
                </a:solidFill>
                <a:latin typeface="Inter" pitchFamily="34" charset="0"/>
                <a:ea typeface="Inter" pitchFamily="34" charset="-122"/>
                <a:cs typeface="Inter" pitchFamily="34" charset="-120"/>
              </a:rPr>
              <a:t>Our rule: when scores are this close, pick the method that also tells you which attack it is.</a:t>
            </a:r>
            <a:endParaRPr lang="en-US" sz="1050" dirty="0"/>
          </a:p>
        </p:txBody>
      </p:sp>
      <p:sp>
        <p:nvSpPr>
          <p:cNvPr id="17" name="Text 14"/>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18" name="Text 15"/>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8 / 14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10B981"/>
                </a:solidFill>
                <a:latin typeface="JetBrains Mono" pitchFamily="34" charset="0"/>
                <a:ea typeface="JetBrains Mono" pitchFamily="34" charset="-122"/>
                <a:cs typeface="JetBrains Mono" pitchFamily="34" charset="-120"/>
              </a:rPr>
              <a:t>SRQ3 · SRQ4 · SPEED &amp; FALSE ALARMS</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Fast — and quiet</a:t>
            </a:r>
            <a:endParaRPr lang="en-US" sz="3100" dirty="0"/>
          </a:p>
        </p:txBody>
      </p:sp>
      <p:sp>
        <p:nvSpPr>
          <p:cNvPr id="4" name="Shape 2"/>
          <p:cNvSpPr/>
          <p:nvPr/>
        </p:nvSpPr>
        <p:spPr>
          <a:xfrm>
            <a:off x="566928" y="1874520"/>
            <a:ext cx="2670048" cy="2148840"/>
          </a:xfrm>
          <a:prstGeom prst="roundRect">
            <a:avLst>
              <a:gd name="adj" fmla="val 5106"/>
            </a:avLst>
          </a:prstGeom>
          <a:solidFill>
            <a:srgbClr val="141A33">
              <a:alpha val="84000"/>
            </a:srgbClr>
          </a:solidFill>
          <a:ln w="12700">
            <a:solidFill>
              <a:srgbClr val="22D3EE">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5" name="Text 3"/>
          <p:cNvSpPr/>
          <p:nvPr/>
        </p:nvSpPr>
        <p:spPr>
          <a:xfrm>
            <a:off x="786384" y="2121408"/>
            <a:ext cx="2231136" cy="914400"/>
          </a:xfrm>
          <a:prstGeom prst="rect">
            <a:avLst/>
          </a:prstGeom>
          <a:noFill/>
          <a:ln/>
        </p:spPr>
        <p:txBody>
          <a:bodyPr wrap="square" lIns="0" tIns="0" rIns="0" bIns="0" rtlCol="0" anchor="ctr"/>
          <a:lstStyle/>
          <a:p>
            <a:pPr marL="0" indent="0">
              <a:buNone/>
            </a:pPr>
            <a:r>
              <a:rPr lang="en-US" sz="4600" b="1" dirty="0">
                <a:solidFill>
                  <a:srgbClr val="22D3EE"/>
                </a:solidFill>
                <a:latin typeface="Inter" pitchFamily="34" charset="0"/>
                <a:ea typeface="Inter" pitchFamily="34" charset="-122"/>
                <a:cs typeface="Inter" pitchFamily="34" charset="-120"/>
              </a:rPr>
              <a:t>6.9</a:t>
            </a:r>
            <a:endParaRPr lang="en-US" sz="4600" dirty="0"/>
          </a:p>
        </p:txBody>
      </p:sp>
      <p:sp>
        <p:nvSpPr>
          <p:cNvPr id="6" name="Text 4"/>
          <p:cNvSpPr/>
          <p:nvPr/>
        </p:nvSpPr>
        <p:spPr>
          <a:xfrm>
            <a:off x="804672" y="3035808"/>
            <a:ext cx="2212848" cy="310896"/>
          </a:xfrm>
          <a:prstGeom prst="rect">
            <a:avLst/>
          </a:prstGeom>
          <a:noFill/>
          <a:ln/>
        </p:spPr>
        <p:txBody>
          <a:bodyPr wrap="square" lIns="0" tIns="0" rIns="0" bIns="0" rtlCol="0" anchor="ctr"/>
          <a:lstStyle/>
          <a:p>
            <a:pPr marL="0" indent="0">
              <a:buNone/>
            </a:pPr>
            <a:r>
              <a:rPr lang="en-US" sz="1250" b="1" dirty="0">
                <a:solidFill>
                  <a:srgbClr val="EEF1FA"/>
                </a:solidFill>
                <a:latin typeface="JetBrains Mono" pitchFamily="34" charset="0"/>
                <a:ea typeface="JetBrains Mono" pitchFamily="34" charset="-122"/>
                <a:cs typeface="JetBrains Mono" pitchFamily="34" charset="-120"/>
              </a:rPr>
              <a:t>millionths of a sec</a:t>
            </a:r>
            <a:endParaRPr lang="en-US" sz="1250" dirty="0"/>
          </a:p>
        </p:txBody>
      </p:sp>
      <p:sp>
        <p:nvSpPr>
          <p:cNvPr id="7" name="Text 5"/>
          <p:cNvSpPr/>
          <p:nvPr/>
        </p:nvSpPr>
        <p:spPr>
          <a:xfrm>
            <a:off x="804672" y="3383280"/>
            <a:ext cx="2212848" cy="457200"/>
          </a:xfrm>
          <a:prstGeom prst="rect">
            <a:avLst/>
          </a:prstGeom>
          <a:noFill/>
          <a:ln/>
        </p:spPr>
        <p:txBody>
          <a:bodyPr wrap="square" lIns="0" tIns="0" rIns="0" bIns="0" rtlCol="0" anchor="ctr"/>
          <a:lstStyle/>
          <a:p>
            <a:pPr marL="0" indent="0">
              <a:lnSpc>
                <a:spcPct val="100000"/>
              </a:lnSpc>
              <a:buNone/>
            </a:pPr>
            <a:r>
              <a:rPr lang="en-US" sz="1100" dirty="0">
                <a:solidFill>
                  <a:srgbClr val="9AA3C0"/>
                </a:solidFill>
                <a:latin typeface="Inter" pitchFamily="34" charset="0"/>
                <a:ea typeface="Inter" pitchFamily="34" charset="-122"/>
                <a:cs typeface="Inter" pitchFamily="34" charset="-120"/>
              </a:rPr>
              <a:t>to check one connection</a:t>
            </a:r>
            <a:endParaRPr lang="en-US" sz="1100" dirty="0"/>
          </a:p>
        </p:txBody>
      </p:sp>
      <p:sp>
        <p:nvSpPr>
          <p:cNvPr id="8" name="Shape 6"/>
          <p:cNvSpPr/>
          <p:nvPr/>
        </p:nvSpPr>
        <p:spPr>
          <a:xfrm>
            <a:off x="3361944" y="1874520"/>
            <a:ext cx="2670048" cy="2148840"/>
          </a:xfrm>
          <a:prstGeom prst="roundRect">
            <a:avLst>
              <a:gd name="adj" fmla="val 5106"/>
            </a:avLst>
          </a:prstGeom>
          <a:solidFill>
            <a:srgbClr val="141A33">
              <a:alpha val="84000"/>
            </a:srgbClr>
          </a:solidFill>
          <a:ln w="12700">
            <a:solidFill>
              <a:srgbClr val="A78BFA">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9" name="Text 7"/>
          <p:cNvSpPr/>
          <p:nvPr/>
        </p:nvSpPr>
        <p:spPr>
          <a:xfrm>
            <a:off x="3581400" y="2121408"/>
            <a:ext cx="2231136" cy="914400"/>
          </a:xfrm>
          <a:prstGeom prst="rect">
            <a:avLst/>
          </a:prstGeom>
          <a:noFill/>
          <a:ln/>
        </p:spPr>
        <p:txBody>
          <a:bodyPr wrap="square" lIns="0" tIns="0" rIns="0" bIns="0" rtlCol="0" anchor="ctr"/>
          <a:lstStyle/>
          <a:p>
            <a:pPr marL="0" indent="0">
              <a:buNone/>
            </a:pPr>
            <a:r>
              <a:rPr lang="en-US" sz="4600" b="1" dirty="0">
                <a:solidFill>
                  <a:srgbClr val="A78BFA"/>
                </a:solidFill>
                <a:latin typeface="Inter" pitchFamily="34" charset="0"/>
                <a:ea typeface="Inter" pitchFamily="34" charset="-122"/>
                <a:cs typeface="Inter" pitchFamily="34" charset="-120"/>
              </a:rPr>
              <a:t>~140k</a:t>
            </a:r>
            <a:endParaRPr lang="en-US" sz="4600" dirty="0"/>
          </a:p>
        </p:txBody>
      </p:sp>
      <p:sp>
        <p:nvSpPr>
          <p:cNvPr id="10" name="Text 8"/>
          <p:cNvSpPr/>
          <p:nvPr/>
        </p:nvSpPr>
        <p:spPr>
          <a:xfrm>
            <a:off x="3599688" y="3035808"/>
            <a:ext cx="2212848" cy="310896"/>
          </a:xfrm>
          <a:prstGeom prst="rect">
            <a:avLst/>
          </a:prstGeom>
          <a:noFill/>
          <a:ln/>
        </p:spPr>
        <p:txBody>
          <a:bodyPr wrap="square" lIns="0" tIns="0" rIns="0" bIns="0" rtlCol="0" anchor="ctr"/>
          <a:lstStyle/>
          <a:p>
            <a:pPr marL="0" indent="0">
              <a:buNone/>
            </a:pPr>
            <a:r>
              <a:rPr lang="en-US" sz="1250" b="1" dirty="0">
                <a:solidFill>
                  <a:srgbClr val="EEF1FA"/>
                </a:solidFill>
                <a:latin typeface="JetBrains Mono" pitchFamily="34" charset="0"/>
                <a:ea typeface="JetBrains Mono" pitchFamily="34" charset="-122"/>
                <a:cs typeface="JetBrains Mono" pitchFamily="34" charset="-120"/>
              </a:rPr>
              <a:t>connections / sec</a:t>
            </a:r>
            <a:endParaRPr lang="en-US" sz="1250" dirty="0"/>
          </a:p>
        </p:txBody>
      </p:sp>
      <p:sp>
        <p:nvSpPr>
          <p:cNvPr id="11" name="Text 9"/>
          <p:cNvSpPr/>
          <p:nvPr/>
        </p:nvSpPr>
        <p:spPr>
          <a:xfrm>
            <a:off x="3599688" y="3383280"/>
            <a:ext cx="2212848" cy="457200"/>
          </a:xfrm>
          <a:prstGeom prst="rect">
            <a:avLst/>
          </a:prstGeom>
          <a:noFill/>
          <a:ln/>
        </p:spPr>
        <p:txBody>
          <a:bodyPr wrap="square" lIns="0" tIns="0" rIns="0" bIns="0" rtlCol="0" anchor="ctr"/>
          <a:lstStyle/>
          <a:p>
            <a:pPr marL="0" indent="0">
              <a:lnSpc>
                <a:spcPct val="100000"/>
              </a:lnSpc>
              <a:buNone/>
            </a:pPr>
            <a:r>
              <a:rPr lang="en-US" sz="1100" dirty="0">
                <a:solidFill>
                  <a:srgbClr val="9AA3C0"/>
                </a:solidFill>
                <a:latin typeface="Inter" pitchFamily="34" charset="0"/>
                <a:ea typeface="Inter" pitchFamily="34" charset="-122"/>
                <a:cs typeface="Inter" pitchFamily="34" charset="-120"/>
              </a:rPr>
              <a:t>on a single laptop</a:t>
            </a:r>
            <a:endParaRPr lang="en-US" sz="1100" dirty="0"/>
          </a:p>
        </p:txBody>
      </p:sp>
      <p:sp>
        <p:nvSpPr>
          <p:cNvPr id="12" name="Shape 10"/>
          <p:cNvSpPr/>
          <p:nvPr/>
        </p:nvSpPr>
        <p:spPr>
          <a:xfrm>
            <a:off x="6156960" y="1874520"/>
            <a:ext cx="2670048" cy="2148840"/>
          </a:xfrm>
          <a:prstGeom prst="roundRect">
            <a:avLst>
              <a:gd name="adj" fmla="val 5106"/>
            </a:avLst>
          </a:prstGeom>
          <a:solidFill>
            <a:srgbClr val="141A33">
              <a:alpha val="84000"/>
            </a:srgbClr>
          </a:solidFill>
          <a:ln w="12700">
            <a:solidFill>
              <a:srgbClr val="10B981">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3" name="Text 11"/>
          <p:cNvSpPr/>
          <p:nvPr/>
        </p:nvSpPr>
        <p:spPr>
          <a:xfrm>
            <a:off x="6376416" y="2121408"/>
            <a:ext cx="2231136" cy="914400"/>
          </a:xfrm>
          <a:prstGeom prst="rect">
            <a:avLst/>
          </a:prstGeom>
          <a:noFill/>
          <a:ln/>
        </p:spPr>
        <p:txBody>
          <a:bodyPr wrap="square" lIns="0" tIns="0" rIns="0" bIns="0" rtlCol="0" anchor="ctr"/>
          <a:lstStyle/>
          <a:p>
            <a:pPr marL="0" indent="0">
              <a:buNone/>
            </a:pPr>
            <a:r>
              <a:rPr lang="en-US" sz="4600" b="1" dirty="0">
                <a:solidFill>
                  <a:srgbClr val="10B981"/>
                </a:solidFill>
                <a:latin typeface="Inter" pitchFamily="34" charset="0"/>
                <a:ea typeface="Inter" pitchFamily="34" charset="-122"/>
                <a:cs typeface="Inter" pitchFamily="34" charset="-120"/>
              </a:rPr>
              <a:t>&lt; 1</a:t>
            </a:r>
            <a:endParaRPr lang="en-US" sz="4600" dirty="0"/>
          </a:p>
        </p:txBody>
      </p:sp>
      <p:sp>
        <p:nvSpPr>
          <p:cNvPr id="14" name="Text 12"/>
          <p:cNvSpPr/>
          <p:nvPr/>
        </p:nvSpPr>
        <p:spPr>
          <a:xfrm>
            <a:off x="6394704" y="3035808"/>
            <a:ext cx="2212848" cy="310896"/>
          </a:xfrm>
          <a:prstGeom prst="rect">
            <a:avLst/>
          </a:prstGeom>
          <a:noFill/>
          <a:ln/>
        </p:spPr>
        <p:txBody>
          <a:bodyPr wrap="square" lIns="0" tIns="0" rIns="0" bIns="0" rtlCol="0" anchor="ctr"/>
          <a:lstStyle/>
          <a:p>
            <a:pPr marL="0" indent="0">
              <a:buNone/>
            </a:pPr>
            <a:r>
              <a:rPr lang="en-US" sz="1250" b="1" dirty="0">
                <a:solidFill>
                  <a:srgbClr val="EEF1FA"/>
                </a:solidFill>
                <a:latin typeface="JetBrains Mono" pitchFamily="34" charset="0"/>
                <a:ea typeface="JetBrains Mono" pitchFamily="34" charset="-122"/>
                <a:cs typeface="JetBrains Mono" pitchFamily="34" charset="-120"/>
              </a:rPr>
              <a:t>millisecond</a:t>
            </a:r>
            <a:endParaRPr lang="en-US" sz="1250" dirty="0"/>
          </a:p>
        </p:txBody>
      </p:sp>
      <p:sp>
        <p:nvSpPr>
          <p:cNvPr id="15" name="Text 13"/>
          <p:cNvSpPr/>
          <p:nvPr/>
        </p:nvSpPr>
        <p:spPr>
          <a:xfrm>
            <a:off x="6394704" y="3383280"/>
            <a:ext cx="2212848" cy="457200"/>
          </a:xfrm>
          <a:prstGeom prst="rect">
            <a:avLst/>
          </a:prstGeom>
          <a:noFill/>
          <a:ln/>
        </p:spPr>
        <p:txBody>
          <a:bodyPr wrap="square" lIns="0" tIns="0" rIns="0" bIns="0" rtlCol="0" anchor="ctr"/>
          <a:lstStyle/>
          <a:p>
            <a:pPr marL="0" indent="0">
              <a:lnSpc>
                <a:spcPct val="100000"/>
              </a:lnSpc>
              <a:buNone/>
            </a:pPr>
            <a:r>
              <a:rPr lang="en-US" sz="1100" dirty="0">
                <a:solidFill>
                  <a:srgbClr val="9AA3C0"/>
                </a:solidFill>
                <a:latin typeface="Inter" pitchFamily="34" charset="0"/>
                <a:ea typeface="Inter" pitchFamily="34" charset="-122"/>
                <a:cs typeface="Inter" pitchFamily="34" charset="-120"/>
              </a:rPr>
              <a:t>from start to finish</a:t>
            </a:r>
            <a:endParaRPr lang="en-US" sz="1100" dirty="0"/>
          </a:p>
        </p:txBody>
      </p:sp>
      <p:sp>
        <p:nvSpPr>
          <p:cNvPr id="16" name="Shape 14"/>
          <p:cNvSpPr/>
          <p:nvPr/>
        </p:nvSpPr>
        <p:spPr>
          <a:xfrm>
            <a:off x="8951976" y="1874520"/>
            <a:ext cx="2670048" cy="2148840"/>
          </a:xfrm>
          <a:prstGeom prst="roundRect">
            <a:avLst>
              <a:gd name="adj" fmla="val 5106"/>
            </a:avLst>
          </a:prstGeom>
          <a:solidFill>
            <a:srgbClr val="141A33">
              <a:alpha val="84000"/>
            </a:srgbClr>
          </a:solidFill>
          <a:ln w="12700">
            <a:solidFill>
              <a:srgbClr val="F4A00D">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7" name="Text 15"/>
          <p:cNvSpPr/>
          <p:nvPr/>
        </p:nvSpPr>
        <p:spPr>
          <a:xfrm>
            <a:off x="9171432" y="2121408"/>
            <a:ext cx="2231136" cy="914400"/>
          </a:xfrm>
          <a:prstGeom prst="rect">
            <a:avLst/>
          </a:prstGeom>
          <a:noFill/>
          <a:ln/>
        </p:spPr>
        <p:txBody>
          <a:bodyPr wrap="square" lIns="0" tIns="0" rIns="0" bIns="0" rtlCol="0" anchor="ctr"/>
          <a:lstStyle/>
          <a:p>
            <a:pPr marL="0" indent="0">
              <a:buNone/>
            </a:pPr>
            <a:r>
              <a:rPr lang="en-US" sz="4600" b="1" dirty="0">
                <a:solidFill>
                  <a:srgbClr val="F4A00D"/>
                </a:solidFill>
                <a:latin typeface="Inter" pitchFamily="34" charset="0"/>
                <a:ea typeface="Inter" pitchFamily="34" charset="-122"/>
                <a:cs typeface="Inter" pitchFamily="34" charset="-120"/>
              </a:rPr>
              <a:t>0.7%</a:t>
            </a:r>
            <a:endParaRPr lang="en-US" sz="4600" dirty="0"/>
          </a:p>
        </p:txBody>
      </p:sp>
      <p:sp>
        <p:nvSpPr>
          <p:cNvPr id="18" name="Text 16"/>
          <p:cNvSpPr/>
          <p:nvPr/>
        </p:nvSpPr>
        <p:spPr>
          <a:xfrm>
            <a:off x="9189720" y="3035808"/>
            <a:ext cx="2212848" cy="310896"/>
          </a:xfrm>
          <a:prstGeom prst="rect">
            <a:avLst/>
          </a:prstGeom>
          <a:noFill/>
          <a:ln/>
        </p:spPr>
        <p:txBody>
          <a:bodyPr wrap="square" lIns="0" tIns="0" rIns="0" bIns="0" rtlCol="0" anchor="ctr"/>
          <a:lstStyle/>
          <a:p>
            <a:pPr marL="0" indent="0">
              <a:buNone/>
            </a:pPr>
            <a:r>
              <a:rPr lang="en-US" sz="1250" b="1" dirty="0">
                <a:solidFill>
                  <a:srgbClr val="EEF1FA"/>
                </a:solidFill>
                <a:latin typeface="JetBrains Mono" pitchFamily="34" charset="0"/>
                <a:ea typeface="JetBrains Mono" pitchFamily="34" charset="-122"/>
                <a:cs typeface="JetBrains Mono" pitchFamily="34" charset="-120"/>
              </a:rPr>
              <a:t>false alarms</a:t>
            </a:r>
            <a:endParaRPr lang="en-US" sz="1250" dirty="0"/>
          </a:p>
        </p:txBody>
      </p:sp>
      <p:sp>
        <p:nvSpPr>
          <p:cNvPr id="19" name="Text 17"/>
          <p:cNvSpPr/>
          <p:nvPr/>
        </p:nvSpPr>
        <p:spPr>
          <a:xfrm>
            <a:off x="9189720" y="3383280"/>
            <a:ext cx="2212848" cy="457200"/>
          </a:xfrm>
          <a:prstGeom prst="rect">
            <a:avLst/>
          </a:prstGeom>
          <a:noFill/>
          <a:ln/>
        </p:spPr>
        <p:txBody>
          <a:bodyPr wrap="square" lIns="0" tIns="0" rIns="0" bIns="0" rtlCol="0" anchor="ctr"/>
          <a:lstStyle/>
          <a:p>
            <a:pPr marL="0" indent="0">
              <a:lnSpc>
                <a:spcPct val="100000"/>
              </a:lnSpc>
              <a:buNone/>
            </a:pPr>
            <a:r>
              <a:rPr lang="en-US" sz="1100" dirty="0">
                <a:solidFill>
                  <a:srgbClr val="9AA3C0"/>
                </a:solidFill>
                <a:latin typeface="Inter" pitchFamily="34" charset="0"/>
                <a:ea typeface="Inter" pitchFamily="34" charset="-122"/>
                <a:cs typeface="Inter" pitchFamily="34" charset="-120"/>
              </a:rPr>
              <a:t>just 25 of 3,500 normal connections</a:t>
            </a:r>
            <a:endParaRPr lang="en-US" sz="1100" dirty="0"/>
          </a:p>
        </p:txBody>
      </p:sp>
      <p:sp>
        <p:nvSpPr>
          <p:cNvPr id="20" name="Shape 18"/>
          <p:cNvSpPr/>
          <p:nvPr/>
        </p:nvSpPr>
        <p:spPr>
          <a:xfrm>
            <a:off x="566928" y="4315968"/>
            <a:ext cx="11055096" cy="1737360"/>
          </a:xfrm>
          <a:prstGeom prst="roundRect">
            <a:avLst>
              <a:gd name="adj" fmla="val 6316"/>
            </a:avLst>
          </a:prstGeom>
          <a:solidFill>
            <a:srgbClr val="141A33">
              <a:alpha val="86000"/>
            </a:srgbClr>
          </a:solidFill>
          <a:ln w="12700">
            <a:solidFill>
              <a:srgbClr val="8B5CF6">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21" name="Text 19"/>
          <p:cNvSpPr/>
          <p:nvPr/>
        </p:nvSpPr>
        <p:spPr>
          <a:xfrm>
            <a:off x="877824" y="4535424"/>
            <a:ext cx="5486400" cy="365760"/>
          </a:xfrm>
          <a:prstGeom prst="rect">
            <a:avLst/>
          </a:prstGeom>
          <a:noFill/>
          <a:ln/>
        </p:spPr>
        <p:txBody>
          <a:bodyPr wrap="square" lIns="0" tIns="0" rIns="0" bIns="0" rtlCol="0" anchor="ctr"/>
          <a:lstStyle/>
          <a:p>
            <a:pPr marL="0" indent="0">
              <a:buNone/>
            </a:pPr>
            <a:r>
              <a:rPr lang="en-US" sz="1600" b="1" dirty="0">
                <a:solidFill>
                  <a:srgbClr val="EEF1FA"/>
                </a:solidFill>
                <a:latin typeface="Inter" pitchFamily="34" charset="0"/>
                <a:ea typeface="Inter" pitchFamily="34" charset="-122"/>
                <a:cs typeface="Inter" pitchFamily="34" charset="-120"/>
              </a:rPr>
              <a:t>Two ways we keep false alarms down</a:t>
            </a:r>
            <a:endParaRPr lang="en-US" sz="1600" dirty="0"/>
          </a:p>
        </p:txBody>
      </p:sp>
      <p:sp>
        <p:nvSpPr>
          <p:cNvPr id="22" name="Shape 20"/>
          <p:cNvSpPr/>
          <p:nvPr/>
        </p:nvSpPr>
        <p:spPr>
          <a:xfrm>
            <a:off x="877824" y="5074920"/>
            <a:ext cx="658368" cy="658368"/>
          </a:xfrm>
          <a:prstGeom prst="ellipse">
            <a:avLst/>
          </a:prstGeom>
          <a:solidFill>
            <a:srgbClr val="22D3EE">
              <a:alpha val="18000"/>
            </a:srgbClr>
          </a:solidFill>
          <a:ln w="13970">
            <a:solidFill>
              <a:srgbClr val="22D3EE">
                <a:alpha val="75000"/>
              </a:srgbClr>
            </a:solidFill>
            <a:prstDash val="solid"/>
          </a:ln>
        </p:spPr>
        <p:txBody>
          <a:bodyPr/>
          <a:lstStyle/>
          <a:p>
            <a:endParaRPr lang="en-US"/>
          </a:p>
        </p:txBody>
      </p:sp>
      <p:pic>
        <p:nvPicPr>
          <p:cNvPr id="23" name="Image 0" descr="preencoded.png"/>
          <p:cNvPicPr>
            <a:picLocks noChangeAspect="1"/>
          </p:cNvPicPr>
          <p:nvPr/>
        </p:nvPicPr>
        <p:blipFill>
          <a:blip r:embed="rId4"/>
          <a:stretch>
            <a:fillRect/>
          </a:stretch>
        </p:blipFill>
        <p:spPr>
          <a:xfrm>
            <a:off x="1055583" y="5252679"/>
            <a:ext cx="302849" cy="302849"/>
          </a:xfrm>
          <a:prstGeom prst="rect">
            <a:avLst/>
          </a:prstGeom>
        </p:spPr>
      </p:pic>
      <p:sp>
        <p:nvSpPr>
          <p:cNvPr id="24" name="Text 21"/>
          <p:cNvSpPr/>
          <p:nvPr/>
        </p:nvSpPr>
        <p:spPr>
          <a:xfrm>
            <a:off x="1682496" y="4983480"/>
            <a:ext cx="4206240" cy="868680"/>
          </a:xfrm>
          <a:prstGeom prst="rect">
            <a:avLst/>
          </a:prstGeom>
          <a:noFill/>
          <a:ln/>
        </p:spPr>
        <p:txBody>
          <a:bodyPr wrap="square" lIns="0" tIns="0" rIns="0" bIns="0" rtlCol="0" anchor="ctr"/>
          <a:lstStyle/>
          <a:p>
            <a:pPr marL="0" indent="0">
              <a:lnSpc>
                <a:spcPct val="105000"/>
              </a:lnSpc>
              <a:buNone/>
            </a:pPr>
            <a:r>
              <a:rPr lang="en-US" sz="1300" b="1" dirty="0">
                <a:solidFill>
                  <a:srgbClr val="22D3EE"/>
                </a:solidFill>
                <a:latin typeface="Inter" pitchFamily="34" charset="0"/>
                <a:ea typeface="Inter" pitchFamily="34" charset="-122"/>
                <a:cs typeface="Inter" pitchFamily="34" charset="-120"/>
              </a:rPr>
              <a:t>1 · A sensitivity dial
</a:t>
            </a:r>
            <a:r>
              <a:rPr lang="en-US" sz="1150" dirty="0">
                <a:solidFill>
                  <a:srgbClr val="9AA3C0"/>
                </a:solidFill>
                <a:latin typeface="Inter" pitchFamily="34" charset="0"/>
                <a:ea typeface="Inter" pitchFamily="34" charset="-122"/>
                <a:cs typeface="Inter" pitchFamily="34" charset="-120"/>
              </a:rPr>
              <a:t>Turn it up or down for each investigation — no rebuilding needed.</a:t>
            </a:r>
            <a:endParaRPr lang="en-US" sz="1300" dirty="0"/>
          </a:p>
        </p:txBody>
      </p:sp>
      <p:sp>
        <p:nvSpPr>
          <p:cNvPr id="25" name="Shape 22"/>
          <p:cNvSpPr/>
          <p:nvPr/>
        </p:nvSpPr>
        <p:spPr>
          <a:xfrm>
            <a:off x="6272784" y="5074920"/>
            <a:ext cx="658368" cy="658368"/>
          </a:xfrm>
          <a:prstGeom prst="ellipse">
            <a:avLst/>
          </a:prstGeom>
          <a:solidFill>
            <a:srgbClr val="F4A00D">
              <a:alpha val="18000"/>
            </a:srgbClr>
          </a:solidFill>
          <a:ln w="13970">
            <a:solidFill>
              <a:srgbClr val="F4A00D">
                <a:alpha val="75000"/>
              </a:srgbClr>
            </a:solidFill>
            <a:prstDash val="solid"/>
          </a:ln>
        </p:spPr>
        <p:txBody>
          <a:bodyPr/>
          <a:lstStyle/>
          <a:p>
            <a:endParaRPr lang="en-US"/>
          </a:p>
        </p:txBody>
      </p:sp>
      <p:pic>
        <p:nvPicPr>
          <p:cNvPr id="26" name="Image 1" descr="preencoded.png"/>
          <p:cNvPicPr>
            <a:picLocks noChangeAspect="1"/>
          </p:cNvPicPr>
          <p:nvPr/>
        </p:nvPicPr>
        <p:blipFill>
          <a:blip r:embed="rId5"/>
          <a:stretch>
            <a:fillRect/>
          </a:stretch>
        </p:blipFill>
        <p:spPr>
          <a:xfrm>
            <a:off x="6450543" y="5252679"/>
            <a:ext cx="302849" cy="302849"/>
          </a:xfrm>
          <a:prstGeom prst="rect">
            <a:avLst/>
          </a:prstGeom>
        </p:spPr>
      </p:pic>
      <p:sp>
        <p:nvSpPr>
          <p:cNvPr id="27" name="Text 23"/>
          <p:cNvSpPr/>
          <p:nvPr/>
        </p:nvSpPr>
        <p:spPr>
          <a:xfrm>
            <a:off x="7077456" y="4983480"/>
            <a:ext cx="4297680" cy="868680"/>
          </a:xfrm>
          <a:prstGeom prst="rect">
            <a:avLst/>
          </a:prstGeom>
          <a:noFill/>
          <a:ln/>
        </p:spPr>
        <p:txBody>
          <a:bodyPr wrap="square" lIns="0" tIns="0" rIns="0" bIns="0" rtlCol="0" anchor="ctr"/>
          <a:lstStyle/>
          <a:p>
            <a:pPr marL="0" indent="0">
              <a:lnSpc>
                <a:spcPct val="105000"/>
              </a:lnSpc>
              <a:buNone/>
            </a:pPr>
            <a:r>
              <a:rPr lang="en-US" sz="1300" b="1" dirty="0">
                <a:solidFill>
                  <a:srgbClr val="F4A00D"/>
                </a:solidFill>
                <a:latin typeface="Inter" pitchFamily="34" charset="0"/>
                <a:ea typeface="Inter" pitchFamily="34" charset="-122"/>
                <a:cs typeface="Inter" pitchFamily="34" charset="-120"/>
              </a:rPr>
              <a:t>2 · Sort by seriousness
</a:t>
            </a:r>
            <a:r>
              <a:rPr lang="en-US" sz="1150" dirty="0">
                <a:solidFill>
                  <a:srgbClr val="9AA3C0"/>
                </a:solidFill>
                <a:latin typeface="Inter" pitchFamily="34" charset="0"/>
                <a:ea typeface="Inter" pitchFamily="34" charset="-122"/>
                <a:cs typeface="Inter" pitchFamily="34" charset="-120"/>
              </a:rPr>
              <a:t>Only medium-and-above alerts pop up; the quieter ones are still recorded.</a:t>
            </a:r>
            <a:endParaRPr lang="en-US" sz="1300" dirty="0"/>
          </a:p>
        </p:txBody>
      </p:sp>
      <p:sp>
        <p:nvSpPr>
          <p:cNvPr id="28" name="Text 24"/>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29" name="Text 25"/>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9 / 14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EC4899"/>
                </a:solidFill>
                <a:latin typeface="JetBrains Mono" pitchFamily="34" charset="0"/>
                <a:ea typeface="JetBrains Mono" pitchFamily="34" charset="-122"/>
                <a:cs typeface="JetBrains Mono" pitchFamily="34" charset="-120"/>
              </a:rPr>
              <a:t>SRQ5 · ANALYST UX</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Easy to read — even with no technical background</a:t>
            </a:r>
            <a:endParaRPr lang="en-US" sz="3100" dirty="0"/>
          </a:p>
        </p:txBody>
      </p:sp>
      <p:sp>
        <p:nvSpPr>
          <p:cNvPr id="4" name="Shape 2"/>
          <p:cNvSpPr/>
          <p:nvPr/>
        </p:nvSpPr>
        <p:spPr>
          <a:xfrm>
            <a:off x="566928" y="1828800"/>
            <a:ext cx="6812280" cy="4224528"/>
          </a:xfrm>
          <a:prstGeom prst="roundRect">
            <a:avLst>
              <a:gd name="adj" fmla="val 2597"/>
            </a:avLst>
          </a:prstGeom>
          <a:solidFill>
            <a:srgbClr val="141A33">
              <a:alpha val="88000"/>
            </a:srgbClr>
          </a:solidFill>
          <a:ln w="12700">
            <a:solidFill>
              <a:srgbClr val="EC4899">
                <a:alpha val="58000"/>
              </a:srgbClr>
            </a:solidFill>
            <a:prstDash val="solid"/>
          </a:ln>
          <a:effectLst>
            <a:outerShdw blurRad="177800" dist="63500" dir="5400000" algn="bl" rotWithShape="0">
              <a:srgbClr val="000000">
                <a:alpha val="45000"/>
              </a:srgbClr>
            </a:outerShdw>
          </a:effectLst>
        </p:spPr>
        <p:txBody>
          <a:bodyPr/>
          <a:lstStyle/>
          <a:p>
            <a:endParaRPr lang="en-US"/>
          </a:p>
        </p:txBody>
      </p:sp>
      <p:pic>
        <p:nvPicPr>
          <p:cNvPr id="5" name="Image 0" descr="/mnt/user-data/uploads/1780521358932_image.png"/>
          <p:cNvPicPr>
            <a:picLocks noChangeAspect="1"/>
          </p:cNvPicPr>
          <p:nvPr/>
        </p:nvPicPr>
        <p:blipFill>
          <a:blip r:embed="rId4"/>
          <a:stretch>
            <a:fillRect/>
          </a:stretch>
        </p:blipFill>
        <p:spPr>
          <a:xfrm>
            <a:off x="716280" y="1828800"/>
            <a:ext cx="6483096" cy="3986784"/>
          </a:xfrm>
          <a:prstGeom prst="rect">
            <a:avLst/>
          </a:prstGeom>
        </p:spPr>
      </p:pic>
      <p:sp>
        <p:nvSpPr>
          <p:cNvPr id="6" name="Text 3"/>
          <p:cNvSpPr/>
          <p:nvPr/>
        </p:nvSpPr>
        <p:spPr>
          <a:xfrm>
            <a:off x="731520" y="5907024"/>
            <a:ext cx="6400800" cy="0"/>
          </a:xfrm>
          <a:prstGeom prst="rect">
            <a:avLst/>
          </a:prstGeom>
          <a:noFill/>
          <a:ln/>
        </p:spPr>
        <p:txBody>
          <a:bodyPr wrap="square" lIns="0" tIns="0" rIns="0" bIns="0" rtlCol="0" anchor="ctr"/>
          <a:lstStyle/>
          <a:p>
            <a:pPr marL="0" indent="0">
              <a:buNone/>
            </a:pPr>
            <a:r>
              <a:rPr lang="en-US" sz="850" dirty="0">
                <a:solidFill>
                  <a:srgbClr val="6B7396"/>
                </a:solidFill>
                <a:latin typeface="JetBrains Mono" pitchFamily="34" charset="0"/>
                <a:ea typeface="JetBrains Mono" pitchFamily="34" charset="-122"/>
                <a:cs typeface="JetBrains Mono" pitchFamily="34" charset="-120"/>
              </a:rPr>
              <a:t>Live dashboard — overview, alerts, and manual testing</a:t>
            </a:r>
            <a:endParaRPr lang="en-US" sz="850" dirty="0"/>
          </a:p>
        </p:txBody>
      </p:sp>
      <p:sp>
        <p:nvSpPr>
          <p:cNvPr id="7" name="Shape 4"/>
          <p:cNvSpPr/>
          <p:nvPr/>
        </p:nvSpPr>
        <p:spPr>
          <a:xfrm>
            <a:off x="7552944" y="1874520"/>
            <a:ext cx="4069080" cy="1280160"/>
          </a:xfrm>
          <a:prstGeom prst="roundRect">
            <a:avLst>
              <a:gd name="adj" fmla="val 8571"/>
            </a:avLst>
          </a:prstGeom>
          <a:solidFill>
            <a:srgbClr val="141A33">
              <a:alpha val="84000"/>
            </a:srgbClr>
          </a:solidFill>
          <a:ln w="12700">
            <a:solidFill>
              <a:srgbClr val="EF4444">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8" name="Shape 5"/>
          <p:cNvSpPr/>
          <p:nvPr/>
        </p:nvSpPr>
        <p:spPr>
          <a:xfrm>
            <a:off x="7772400" y="2176272"/>
            <a:ext cx="676656" cy="676656"/>
          </a:xfrm>
          <a:prstGeom prst="ellipse">
            <a:avLst/>
          </a:prstGeom>
          <a:solidFill>
            <a:srgbClr val="EF4444">
              <a:alpha val="18000"/>
            </a:srgbClr>
          </a:solidFill>
          <a:ln w="13970">
            <a:solidFill>
              <a:srgbClr val="EF4444">
                <a:alpha val="75000"/>
              </a:srgbClr>
            </a:solidFill>
            <a:prstDash val="solid"/>
          </a:ln>
        </p:spPr>
        <p:txBody>
          <a:bodyPr/>
          <a:lstStyle/>
          <a:p>
            <a:endParaRPr lang="en-US"/>
          </a:p>
        </p:txBody>
      </p:sp>
      <p:pic>
        <p:nvPicPr>
          <p:cNvPr id="9" name="Image 1" descr="preencoded.png"/>
          <p:cNvPicPr>
            <a:picLocks noChangeAspect="1"/>
          </p:cNvPicPr>
          <p:nvPr/>
        </p:nvPicPr>
        <p:blipFill>
          <a:blip r:embed="rId5"/>
          <a:stretch>
            <a:fillRect/>
          </a:stretch>
        </p:blipFill>
        <p:spPr>
          <a:xfrm>
            <a:off x="7955097" y="2358969"/>
            <a:ext cx="311262" cy="311262"/>
          </a:xfrm>
          <a:prstGeom prst="rect">
            <a:avLst/>
          </a:prstGeom>
        </p:spPr>
      </p:pic>
      <p:sp>
        <p:nvSpPr>
          <p:cNvPr id="10" name="Text 6"/>
          <p:cNvSpPr/>
          <p:nvPr/>
        </p:nvSpPr>
        <p:spPr>
          <a:xfrm>
            <a:off x="8595360" y="2039112"/>
            <a:ext cx="2880360" cy="365760"/>
          </a:xfrm>
          <a:prstGeom prst="rect">
            <a:avLst/>
          </a:prstGeom>
          <a:noFill/>
          <a:ln/>
        </p:spPr>
        <p:txBody>
          <a:bodyPr wrap="square" lIns="0" tIns="0" rIns="0" bIns="0" rtlCol="0" anchor="ctr"/>
          <a:lstStyle/>
          <a:p>
            <a:pPr marL="0" indent="0">
              <a:buNone/>
            </a:pPr>
            <a:r>
              <a:rPr lang="en-US" sz="1350" b="1" dirty="0">
                <a:solidFill>
                  <a:srgbClr val="EEF1FA"/>
                </a:solidFill>
                <a:latin typeface="Inter" pitchFamily="34" charset="0"/>
                <a:ea typeface="Inter" pitchFamily="34" charset="-122"/>
                <a:cs typeface="Inter" pitchFamily="34" charset="-120"/>
              </a:rPr>
              <a:t>Colour-coded by seriousness</a:t>
            </a:r>
            <a:endParaRPr lang="en-US" sz="1350" dirty="0"/>
          </a:p>
        </p:txBody>
      </p:sp>
      <p:sp>
        <p:nvSpPr>
          <p:cNvPr id="11" name="Text 7"/>
          <p:cNvSpPr/>
          <p:nvPr/>
        </p:nvSpPr>
        <p:spPr>
          <a:xfrm>
            <a:off x="8595360" y="2404872"/>
            <a:ext cx="2907792" cy="658368"/>
          </a:xfrm>
          <a:prstGeom prst="rect">
            <a:avLst/>
          </a:prstGeom>
          <a:noFill/>
          <a:ln/>
        </p:spPr>
        <p:txBody>
          <a:bodyPr wrap="square" lIns="0" tIns="0" rIns="0" bIns="0" rtlCol="0" anchor="ctr"/>
          <a:lstStyle/>
          <a:p>
            <a:pPr marL="0" indent="0">
              <a:lnSpc>
                <a:spcPct val="104000"/>
              </a:lnSpc>
              <a:buNone/>
            </a:pPr>
            <a:r>
              <a:rPr lang="en-US" sz="1080" dirty="0">
                <a:solidFill>
                  <a:srgbClr val="9AA3C0"/>
                </a:solidFill>
                <a:latin typeface="Inter" pitchFamily="34" charset="0"/>
                <a:ea typeface="Inter" pitchFamily="34" charset="-122"/>
                <a:cs typeface="Inter" pitchFamily="34" charset="-120"/>
              </a:rPr>
              <a:t>See what matters at a glance — with text labels too, not just colour.</a:t>
            </a:r>
            <a:endParaRPr lang="en-US" sz="1080" dirty="0"/>
          </a:p>
        </p:txBody>
      </p:sp>
      <p:sp>
        <p:nvSpPr>
          <p:cNvPr id="12" name="Shape 8"/>
          <p:cNvSpPr/>
          <p:nvPr/>
        </p:nvSpPr>
        <p:spPr>
          <a:xfrm>
            <a:off x="7552944" y="3255264"/>
            <a:ext cx="4069080" cy="1280160"/>
          </a:xfrm>
          <a:prstGeom prst="roundRect">
            <a:avLst>
              <a:gd name="adj" fmla="val 8571"/>
            </a:avLst>
          </a:prstGeom>
          <a:solidFill>
            <a:srgbClr val="141A33">
              <a:alpha val="84000"/>
            </a:srgbClr>
          </a:solidFill>
          <a:ln w="12700">
            <a:solidFill>
              <a:srgbClr val="22D3EE">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3" name="Shape 9"/>
          <p:cNvSpPr/>
          <p:nvPr/>
        </p:nvSpPr>
        <p:spPr>
          <a:xfrm>
            <a:off x="7772400" y="3557016"/>
            <a:ext cx="676656" cy="676656"/>
          </a:xfrm>
          <a:prstGeom prst="ellipse">
            <a:avLst/>
          </a:prstGeom>
          <a:solidFill>
            <a:srgbClr val="22D3EE">
              <a:alpha val="18000"/>
            </a:srgbClr>
          </a:solidFill>
          <a:ln w="13970">
            <a:solidFill>
              <a:srgbClr val="22D3EE">
                <a:alpha val="75000"/>
              </a:srgbClr>
            </a:solidFill>
            <a:prstDash val="solid"/>
          </a:ln>
        </p:spPr>
        <p:txBody>
          <a:bodyPr/>
          <a:lstStyle/>
          <a:p>
            <a:endParaRPr lang="en-US"/>
          </a:p>
        </p:txBody>
      </p:sp>
      <p:pic>
        <p:nvPicPr>
          <p:cNvPr id="14" name="Image 2" descr="preencoded.png"/>
          <p:cNvPicPr>
            <a:picLocks noChangeAspect="1"/>
          </p:cNvPicPr>
          <p:nvPr/>
        </p:nvPicPr>
        <p:blipFill>
          <a:blip r:embed="rId6"/>
          <a:stretch>
            <a:fillRect/>
          </a:stretch>
        </p:blipFill>
        <p:spPr>
          <a:xfrm>
            <a:off x="7955097" y="3739713"/>
            <a:ext cx="311262" cy="311262"/>
          </a:xfrm>
          <a:prstGeom prst="rect">
            <a:avLst/>
          </a:prstGeom>
        </p:spPr>
      </p:pic>
      <p:sp>
        <p:nvSpPr>
          <p:cNvPr id="15" name="Text 10"/>
          <p:cNvSpPr/>
          <p:nvPr/>
        </p:nvSpPr>
        <p:spPr>
          <a:xfrm>
            <a:off x="8595360" y="3419856"/>
            <a:ext cx="2880360" cy="365760"/>
          </a:xfrm>
          <a:prstGeom prst="rect">
            <a:avLst/>
          </a:prstGeom>
          <a:noFill/>
          <a:ln/>
        </p:spPr>
        <p:txBody>
          <a:bodyPr wrap="square" lIns="0" tIns="0" rIns="0" bIns="0" rtlCol="0" anchor="ctr"/>
          <a:lstStyle/>
          <a:p>
            <a:pPr marL="0" indent="0">
              <a:buNone/>
            </a:pPr>
            <a:r>
              <a:rPr lang="en-US" sz="1350" b="1" dirty="0">
                <a:solidFill>
                  <a:srgbClr val="EEF1FA"/>
                </a:solidFill>
                <a:latin typeface="Inter" pitchFamily="34" charset="0"/>
                <a:ea typeface="Inter" pitchFamily="34" charset="-122"/>
                <a:cs typeface="Inter" pitchFamily="34" charset="-120"/>
              </a:rPr>
              <a:t>Full history beside the alerts</a:t>
            </a:r>
            <a:endParaRPr lang="en-US" sz="1350" dirty="0"/>
          </a:p>
        </p:txBody>
      </p:sp>
      <p:sp>
        <p:nvSpPr>
          <p:cNvPr id="16" name="Text 11"/>
          <p:cNvSpPr/>
          <p:nvPr/>
        </p:nvSpPr>
        <p:spPr>
          <a:xfrm>
            <a:off x="8595360" y="3785616"/>
            <a:ext cx="2907792" cy="658368"/>
          </a:xfrm>
          <a:prstGeom prst="rect">
            <a:avLst/>
          </a:prstGeom>
          <a:noFill/>
          <a:ln/>
        </p:spPr>
        <p:txBody>
          <a:bodyPr wrap="square" lIns="0" tIns="0" rIns="0" bIns="0" rtlCol="0" anchor="ctr"/>
          <a:lstStyle/>
          <a:p>
            <a:pPr marL="0" indent="0">
              <a:lnSpc>
                <a:spcPct val="104000"/>
              </a:lnSpc>
              <a:buNone/>
            </a:pPr>
            <a:r>
              <a:rPr lang="en-US" sz="1080" dirty="0">
                <a:solidFill>
                  <a:srgbClr val="9AA3C0"/>
                </a:solidFill>
                <a:latin typeface="Inter" pitchFamily="34" charset="0"/>
                <a:ea typeface="Inter" pitchFamily="34" charset="-122"/>
                <a:cs typeface="Inter" pitchFamily="34" charset="-120"/>
              </a:rPr>
              <a:t>Answers both “why was this flagged?” and “why wasn’t that one?”.</a:t>
            </a:r>
            <a:endParaRPr lang="en-US" sz="1080" dirty="0"/>
          </a:p>
        </p:txBody>
      </p:sp>
      <p:sp>
        <p:nvSpPr>
          <p:cNvPr id="17" name="Shape 12"/>
          <p:cNvSpPr/>
          <p:nvPr/>
        </p:nvSpPr>
        <p:spPr>
          <a:xfrm>
            <a:off x="7552944" y="4636008"/>
            <a:ext cx="4069080" cy="1280160"/>
          </a:xfrm>
          <a:prstGeom prst="roundRect">
            <a:avLst>
              <a:gd name="adj" fmla="val 8571"/>
            </a:avLst>
          </a:prstGeom>
          <a:solidFill>
            <a:srgbClr val="141A33">
              <a:alpha val="84000"/>
            </a:srgbClr>
          </a:solidFill>
          <a:ln w="12700">
            <a:solidFill>
              <a:srgbClr val="10B981">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8" name="Shape 13"/>
          <p:cNvSpPr/>
          <p:nvPr/>
        </p:nvSpPr>
        <p:spPr>
          <a:xfrm>
            <a:off x="7772400" y="4937760"/>
            <a:ext cx="676656" cy="676656"/>
          </a:xfrm>
          <a:prstGeom prst="ellipse">
            <a:avLst/>
          </a:prstGeom>
          <a:solidFill>
            <a:srgbClr val="10B981">
              <a:alpha val="18000"/>
            </a:srgbClr>
          </a:solidFill>
          <a:ln w="13970">
            <a:solidFill>
              <a:srgbClr val="10B981">
                <a:alpha val="75000"/>
              </a:srgbClr>
            </a:solidFill>
            <a:prstDash val="solid"/>
          </a:ln>
        </p:spPr>
        <p:txBody>
          <a:bodyPr/>
          <a:lstStyle/>
          <a:p>
            <a:endParaRPr lang="en-US"/>
          </a:p>
        </p:txBody>
      </p:sp>
      <p:pic>
        <p:nvPicPr>
          <p:cNvPr id="19" name="Image 3" descr="preencoded.png"/>
          <p:cNvPicPr>
            <a:picLocks noChangeAspect="1"/>
          </p:cNvPicPr>
          <p:nvPr/>
        </p:nvPicPr>
        <p:blipFill>
          <a:blip r:embed="rId7"/>
          <a:stretch>
            <a:fillRect/>
          </a:stretch>
        </p:blipFill>
        <p:spPr>
          <a:xfrm>
            <a:off x="7955097" y="5120457"/>
            <a:ext cx="311262" cy="311262"/>
          </a:xfrm>
          <a:prstGeom prst="rect">
            <a:avLst/>
          </a:prstGeom>
        </p:spPr>
      </p:pic>
      <p:sp>
        <p:nvSpPr>
          <p:cNvPr id="20" name="Text 14"/>
          <p:cNvSpPr/>
          <p:nvPr/>
        </p:nvSpPr>
        <p:spPr>
          <a:xfrm>
            <a:off x="8595360" y="4800600"/>
            <a:ext cx="2880360" cy="365760"/>
          </a:xfrm>
          <a:prstGeom prst="rect">
            <a:avLst/>
          </a:prstGeom>
          <a:noFill/>
          <a:ln/>
        </p:spPr>
        <p:txBody>
          <a:bodyPr wrap="square" lIns="0" tIns="0" rIns="0" bIns="0" rtlCol="0" anchor="ctr"/>
          <a:lstStyle/>
          <a:p>
            <a:pPr marL="0" indent="0">
              <a:buNone/>
            </a:pPr>
            <a:r>
              <a:rPr lang="en-US" sz="1350" b="1" dirty="0">
                <a:solidFill>
                  <a:srgbClr val="EEF1FA"/>
                </a:solidFill>
                <a:latin typeface="Inter" pitchFamily="34" charset="0"/>
                <a:ea typeface="Inter" pitchFamily="34" charset="-122"/>
                <a:cs typeface="Inter" pitchFamily="34" charset="-120"/>
              </a:rPr>
              <a:t>The attack type guides the response</a:t>
            </a:r>
            <a:endParaRPr lang="en-US" sz="1350" dirty="0"/>
          </a:p>
        </p:txBody>
      </p:sp>
      <p:sp>
        <p:nvSpPr>
          <p:cNvPr id="21" name="Text 15"/>
          <p:cNvSpPr/>
          <p:nvPr/>
        </p:nvSpPr>
        <p:spPr>
          <a:xfrm>
            <a:off x="8595360" y="5166360"/>
            <a:ext cx="2907792" cy="658368"/>
          </a:xfrm>
          <a:prstGeom prst="rect">
            <a:avLst/>
          </a:prstGeom>
          <a:noFill/>
          <a:ln/>
        </p:spPr>
        <p:txBody>
          <a:bodyPr wrap="square" lIns="0" tIns="0" rIns="0" bIns="0" rtlCol="0" anchor="ctr"/>
          <a:lstStyle/>
          <a:p>
            <a:pPr marL="0" indent="0">
              <a:lnSpc>
                <a:spcPct val="104000"/>
              </a:lnSpc>
              <a:buNone/>
            </a:pPr>
            <a:r>
              <a:rPr lang="en-US" sz="1080" dirty="0">
                <a:solidFill>
                  <a:srgbClr val="9AA3C0"/>
                </a:solidFill>
                <a:latin typeface="Inter" pitchFamily="34" charset="0"/>
                <a:ea typeface="Inter" pitchFamily="34" charset="-122"/>
                <a:cs typeface="Inter" pitchFamily="34" charset="-120"/>
              </a:rPr>
              <a:t>A port scan and a data theft need very different reactions.</a:t>
            </a:r>
            <a:endParaRPr lang="en-US" sz="1080" dirty="0"/>
          </a:p>
        </p:txBody>
      </p:sp>
      <p:sp>
        <p:nvSpPr>
          <p:cNvPr id="22" name="Text 16"/>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23" name="Text 17"/>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10 / 14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EF4444"/>
                </a:solidFill>
                <a:latin typeface="JetBrains Mono" pitchFamily="34" charset="0"/>
                <a:ea typeface="JetBrains Mono" pitchFamily="34" charset="-122"/>
                <a:cs typeface="JetBrains Mono" pitchFamily="34" charset="-120"/>
              </a:rPr>
              <a:t>SRQ6 · PER-CLASS</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What it’s great at - and the one thing it isn’t</a:t>
            </a:r>
            <a:endParaRPr lang="en-US" sz="3100" dirty="0"/>
          </a:p>
        </p:txBody>
      </p:sp>
      <p:sp>
        <p:nvSpPr>
          <p:cNvPr id="4" name="Shape 2"/>
          <p:cNvSpPr/>
          <p:nvPr/>
        </p:nvSpPr>
        <p:spPr>
          <a:xfrm>
            <a:off x="566928" y="1828800"/>
            <a:ext cx="6903720" cy="4206240"/>
          </a:xfrm>
          <a:prstGeom prst="roundRect">
            <a:avLst>
              <a:gd name="adj" fmla="val 2609"/>
            </a:avLst>
          </a:prstGeom>
          <a:solidFill>
            <a:srgbClr val="141A33">
              <a:alpha val="82000"/>
            </a:srgbClr>
          </a:solidFill>
          <a:ln w="12700">
            <a:solidFill>
              <a:srgbClr val="8B5CF6">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5" name="Text 3"/>
          <p:cNvSpPr/>
          <p:nvPr/>
        </p:nvSpPr>
        <p:spPr>
          <a:xfrm>
            <a:off x="868680" y="2029968"/>
            <a:ext cx="6492240" cy="310896"/>
          </a:xfrm>
          <a:prstGeom prst="rect">
            <a:avLst/>
          </a:prstGeom>
          <a:noFill/>
          <a:ln/>
        </p:spPr>
        <p:txBody>
          <a:bodyPr wrap="square" lIns="0" tIns="0" rIns="0" bIns="0" rtlCol="0" anchor="ctr"/>
          <a:lstStyle/>
          <a:p>
            <a:pPr marL="0" indent="0">
              <a:buNone/>
            </a:pPr>
            <a:r>
              <a:rPr lang="en-US" sz="1000" kern="0" spc="50" dirty="0">
                <a:solidFill>
                  <a:srgbClr val="9AA3C0"/>
                </a:solidFill>
                <a:latin typeface="JetBrains Mono" pitchFamily="34" charset="0"/>
                <a:ea typeface="JetBrains Mono" pitchFamily="34" charset="-122"/>
                <a:cs typeface="JetBrains Mono" pitchFamily="34" charset="-120"/>
              </a:rPr>
              <a:t>Accuracy by attack type</a:t>
            </a:r>
            <a:endParaRPr lang="en-US" sz="1000" dirty="0"/>
          </a:p>
        </p:txBody>
      </p:sp>
      <p:graphicFrame>
        <p:nvGraphicFramePr>
          <p:cNvPr id="6" name="Chart 0"/>
          <p:cNvGraphicFramePr/>
          <p:nvPr>
            <p:extLst>
              <p:ext uri="{D42A27DB-BD31-4B8C-83A1-F6EECF244321}">
                <p14:modId xmlns:p14="http://schemas.microsoft.com/office/powerpoint/2010/main" val="1624487393"/>
              </p:ext>
            </p:extLst>
          </p:nvPr>
        </p:nvGraphicFramePr>
        <p:xfrm>
          <a:off x="713232" y="2377440"/>
          <a:ext cx="662940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4"/>
          <p:cNvSpPr/>
          <p:nvPr/>
        </p:nvSpPr>
        <p:spPr>
          <a:xfrm>
            <a:off x="7644384" y="1828800"/>
            <a:ext cx="3977640" cy="4206240"/>
          </a:xfrm>
          <a:prstGeom prst="roundRect">
            <a:avLst>
              <a:gd name="adj" fmla="val 2759"/>
            </a:avLst>
          </a:prstGeom>
          <a:solidFill>
            <a:srgbClr val="141A33">
              <a:alpha val="84000"/>
            </a:srgbClr>
          </a:solidFill>
          <a:ln w="12700">
            <a:solidFill>
              <a:srgbClr val="EF4444">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8" name="Shape 5"/>
          <p:cNvSpPr/>
          <p:nvPr/>
        </p:nvSpPr>
        <p:spPr>
          <a:xfrm>
            <a:off x="7918704" y="2084832"/>
            <a:ext cx="731520" cy="731520"/>
          </a:xfrm>
          <a:prstGeom prst="ellipse">
            <a:avLst/>
          </a:prstGeom>
          <a:solidFill>
            <a:srgbClr val="EF4444">
              <a:alpha val="18000"/>
            </a:srgbClr>
          </a:solidFill>
          <a:ln w="13970">
            <a:solidFill>
              <a:srgbClr val="EF4444">
                <a:alpha val="75000"/>
              </a:srgbClr>
            </a:solidFill>
            <a:prstDash val="solid"/>
          </a:ln>
        </p:spPr>
        <p:txBody>
          <a:bodyPr/>
          <a:lstStyle/>
          <a:p>
            <a:endParaRPr lang="en-US"/>
          </a:p>
        </p:txBody>
      </p:sp>
      <p:pic>
        <p:nvPicPr>
          <p:cNvPr id="9" name="Image 0" descr="preencoded.png"/>
          <p:cNvPicPr>
            <a:picLocks noChangeAspect="1"/>
          </p:cNvPicPr>
          <p:nvPr/>
        </p:nvPicPr>
        <p:blipFill>
          <a:blip r:embed="rId5"/>
          <a:stretch>
            <a:fillRect/>
          </a:stretch>
        </p:blipFill>
        <p:spPr>
          <a:xfrm>
            <a:off x="8116214" y="2282342"/>
            <a:ext cx="336499" cy="336499"/>
          </a:xfrm>
          <a:prstGeom prst="rect">
            <a:avLst/>
          </a:prstGeom>
        </p:spPr>
      </p:pic>
      <p:sp>
        <p:nvSpPr>
          <p:cNvPr id="10" name="Text 6"/>
          <p:cNvSpPr/>
          <p:nvPr/>
        </p:nvSpPr>
        <p:spPr>
          <a:xfrm>
            <a:off x="8796528" y="2157984"/>
            <a:ext cx="2743200" cy="548640"/>
          </a:xfrm>
          <a:prstGeom prst="rect">
            <a:avLst/>
          </a:prstGeom>
          <a:noFill/>
          <a:ln/>
        </p:spPr>
        <p:txBody>
          <a:bodyPr wrap="square" lIns="0" tIns="0" rIns="0" bIns="0" rtlCol="0" anchor="ctr"/>
          <a:lstStyle/>
          <a:p>
            <a:pPr marL="0" indent="0">
              <a:lnSpc>
                <a:spcPct val="95000"/>
              </a:lnSpc>
              <a:buNone/>
            </a:pPr>
            <a:r>
              <a:rPr lang="en-US" sz="1650" b="1" dirty="0">
                <a:solidFill>
                  <a:srgbClr val="EF4444"/>
                </a:solidFill>
                <a:latin typeface="Inter" pitchFamily="34" charset="0"/>
                <a:ea typeface="Inter" pitchFamily="34" charset="-122"/>
                <a:cs typeface="Inter" pitchFamily="34" charset="-120"/>
              </a:rPr>
              <a:t>“Infiltration”: the hard one</a:t>
            </a:r>
            <a:endParaRPr lang="en-US" sz="1650" dirty="0"/>
          </a:p>
        </p:txBody>
      </p:sp>
      <p:sp>
        <p:nvSpPr>
          <p:cNvPr id="11" name="Text 7"/>
          <p:cNvSpPr/>
          <p:nvPr/>
        </p:nvSpPr>
        <p:spPr>
          <a:xfrm>
            <a:off x="7918704" y="2999232"/>
            <a:ext cx="3474720" cy="548640"/>
          </a:xfrm>
          <a:prstGeom prst="rect">
            <a:avLst/>
          </a:prstGeom>
          <a:noFill/>
          <a:ln/>
        </p:spPr>
        <p:txBody>
          <a:bodyPr wrap="square" lIns="0" tIns="0" rIns="0" bIns="0" rtlCol="0" anchor="ctr"/>
          <a:lstStyle/>
          <a:p>
            <a:pPr marL="0" indent="0">
              <a:lnSpc>
                <a:spcPct val="106000"/>
              </a:lnSpc>
              <a:buNone/>
            </a:pPr>
            <a:r>
              <a:rPr lang="en-US" sz="1250" dirty="0">
                <a:solidFill>
                  <a:srgbClr val="EEF1FA"/>
                </a:solidFill>
                <a:latin typeface="Inter" pitchFamily="34" charset="0"/>
                <a:ea typeface="Inter" pitchFamily="34" charset="-122"/>
                <a:cs typeface="Inter" pitchFamily="34" charset="-120"/>
              </a:rPr>
              <a:t>7 in 10 of these attacks look </a:t>
            </a:r>
            <a:r>
              <a:rPr lang="en-US" sz="1100" b="1" dirty="0">
                <a:solidFill>
                  <a:srgbClr val="EF4444"/>
                </a:solidFill>
                <a:latin typeface="JetBrains Mono" pitchFamily="34" charset="0"/>
                <a:ea typeface="JetBrains Mono" pitchFamily="34" charset="-122"/>
                <a:cs typeface="JetBrains Mono" pitchFamily="34" charset="-120"/>
              </a:rPr>
              <a:t>NORMAL</a:t>
            </a:r>
            <a:r>
              <a:rPr lang="en-US" sz="1250" dirty="0">
                <a:solidFill>
                  <a:srgbClr val="EEF1FA"/>
                </a:solidFill>
                <a:latin typeface="Inter" pitchFamily="34" charset="0"/>
                <a:ea typeface="Inter" pitchFamily="34" charset="-122"/>
                <a:cs typeface="Inter" pitchFamily="34" charset="-120"/>
              </a:rPr>
              <a:t> to it.</a:t>
            </a:r>
            <a:endParaRPr lang="en-US" sz="1250" dirty="0"/>
          </a:p>
        </p:txBody>
      </p:sp>
      <p:sp>
        <p:nvSpPr>
          <p:cNvPr id="12" name="Text 8"/>
          <p:cNvSpPr/>
          <p:nvPr/>
        </p:nvSpPr>
        <p:spPr>
          <a:xfrm>
            <a:off x="7918704" y="3611880"/>
            <a:ext cx="3474720" cy="1188720"/>
          </a:xfrm>
          <a:prstGeom prst="rect">
            <a:avLst/>
          </a:prstGeom>
          <a:noFill/>
          <a:ln/>
        </p:spPr>
        <p:txBody>
          <a:bodyPr wrap="square" lIns="0" tIns="0" rIns="0" bIns="0" rtlCol="0" anchor="ctr"/>
          <a:lstStyle/>
          <a:p>
            <a:pPr marL="0" indent="0">
              <a:lnSpc>
                <a:spcPct val="108000"/>
              </a:lnSpc>
              <a:buNone/>
            </a:pPr>
            <a:r>
              <a:rPr lang="en-US" sz="1150" dirty="0">
                <a:solidFill>
                  <a:srgbClr val="9AA3C0"/>
                </a:solidFill>
                <a:latin typeface="Inter" pitchFamily="34" charset="0"/>
                <a:ea typeface="Inter" pitchFamily="34" charset="-122"/>
                <a:cs typeface="Inter" pitchFamily="34" charset="-120"/>
              </a:rPr>
              <a:t>That’s not a flaw — this attack is designed to blend in and look normal. Even the standard industry dataset shows the same gap.</a:t>
            </a:r>
            <a:endParaRPr lang="en-US" sz="1150" dirty="0"/>
          </a:p>
        </p:txBody>
      </p:sp>
      <p:sp>
        <p:nvSpPr>
          <p:cNvPr id="13" name="Shape 9"/>
          <p:cNvSpPr/>
          <p:nvPr/>
        </p:nvSpPr>
        <p:spPr>
          <a:xfrm>
            <a:off x="7918704" y="5029200"/>
            <a:ext cx="3474720" cy="0"/>
          </a:xfrm>
          <a:prstGeom prst="line">
            <a:avLst/>
          </a:prstGeom>
          <a:noFill/>
          <a:ln w="9525">
            <a:solidFill>
              <a:srgbClr val="33305F"/>
            </a:solidFill>
            <a:prstDash val="solid"/>
          </a:ln>
        </p:spPr>
        <p:txBody>
          <a:bodyPr/>
          <a:lstStyle/>
          <a:p>
            <a:endParaRPr lang="en-US"/>
          </a:p>
        </p:txBody>
      </p:sp>
      <p:sp>
        <p:nvSpPr>
          <p:cNvPr id="14" name="Text 10"/>
          <p:cNvSpPr/>
          <p:nvPr/>
        </p:nvSpPr>
        <p:spPr>
          <a:xfrm>
            <a:off x="7918704" y="5120640"/>
            <a:ext cx="3474720" cy="868680"/>
          </a:xfrm>
          <a:prstGeom prst="rect">
            <a:avLst/>
          </a:prstGeom>
          <a:noFill/>
          <a:ln/>
        </p:spPr>
        <p:txBody>
          <a:bodyPr wrap="square" lIns="0" tIns="0" rIns="0" bIns="0" rtlCol="0" anchor="ctr"/>
          <a:lstStyle/>
          <a:p>
            <a:pPr marL="0" indent="0">
              <a:lnSpc>
                <a:spcPct val="106000"/>
              </a:lnSpc>
              <a:buNone/>
            </a:pPr>
            <a:r>
              <a:rPr lang="en-US" sz="1150" b="1" dirty="0">
                <a:solidFill>
                  <a:srgbClr val="10B981"/>
                </a:solidFill>
                <a:latin typeface="Inter" pitchFamily="34" charset="0"/>
                <a:ea typeface="Inter" pitchFamily="34" charset="-122"/>
                <a:cs typeface="Inter" pitchFamily="34" charset="-120"/>
              </a:rPr>
              <a:t>Being upfront:  </a:t>
            </a:r>
            <a:r>
              <a:rPr lang="en-US" sz="1150" dirty="0">
                <a:solidFill>
                  <a:srgbClr val="EEF1FA"/>
                </a:solidFill>
                <a:latin typeface="Inter" pitchFamily="34" charset="0"/>
                <a:ea typeface="Inter" pitchFamily="34" charset="-122"/>
                <a:cs typeface="Inter" pitchFamily="34" charset="-120"/>
              </a:rPr>
              <a:t>we’d pair it with a traditional tool (or an add-on that inspects encrypted traffic) to cover this blind spot.</a:t>
            </a:r>
            <a:endParaRPr lang="en-US" sz="1150" dirty="0"/>
          </a:p>
        </p:txBody>
      </p:sp>
      <p:sp>
        <p:nvSpPr>
          <p:cNvPr id="15" name="Text 11"/>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16" name="Text 12"/>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11 / 14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420624"/>
            <a:ext cx="10972800" cy="292608"/>
          </a:xfrm>
          <a:prstGeom prst="rect">
            <a:avLst/>
          </a:prstGeom>
          <a:noFill/>
          <a:ln/>
        </p:spPr>
        <p:txBody>
          <a:bodyPr wrap="square" lIns="0" tIns="0" rIns="0" bIns="0" rtlCol="0" anchor="ctr"/>
          <a:lstStyle/>
          <a:p>
            <a:pPr marL="0" indent="0" algn="l">
              <a:buNone/>
            </a:pPr>
            <a:r>
              <a:rPr lang="en-US" sz="1150" b="1" kern="0" spc="240" dirty="0">
                <a:solidFill>
                  <a:srgbClr val="EF4444"/>
                </a:solidFill>
                <a:latin typeface="JetBrains Mono" pitchFamily="34" charset="0"/>
                <a:ea typeface="JetBrains Mono" pitchFamily="34" charset="-122"/>
                <a:cs typeface="JetBrains Mono" pitchFamily="34" charset="-120"/>
              </a:rPr>
              <a:t>LIVE LAB · ATTACK &amp; DEFEND</a:t>
            </a:r>
            <a:endParaRPr lang="en-US" sz="115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lgn="l">
              <a:lnSpc>
                <a:spcPct val="98000"/>
              </a:lnSpc>
              <a:buNone/>
            </a:pPr>
            <a:r>
              <a:rPr lang="en-US" sz="3100" b="1" dirty="0">
                <a:solidFill>
                  <a:srgbClr val="EEF1FA"/>
                </a:solidFill>
                <a:latin typeface="Inter" pitchFamily="34" charset="0"/>
                <a:ea typeface="Inter" pitchFamily="34" charset="-122"/>
                <a:cs typeface="Inter" pitchFamily="34" charset="-120"/>
              </a:rPr>
              <a:t>The full loop: spot the attack, then block it - automatically</a:t>
            </a:r>
            <a:endParaRPr lang="en-US" sz="3100" dirty="0"/>
          </a:p>
        </p:txBody>
      </p:sp>
      <p:sp>
        <p:nvSpPr>
          <p:cNvPr id="4" name="Shape 2"/>
          <p:cNvSpPr/>
          <p:nvPr/>
        </p:nvSpPr>
        <p:spPr>
          <a:xfrm>
            <a:off x="566928" y="1874520"/>
            <a:ext cx="3456432" cy="2697480"/>
          </a:xfrm>
          <a:prstGeom prst="roundRect">
            <a:avLst>
              <a:gd name="adj" fmla="val 4068"/>
            </a:avLst>
          </a:prstGeom>
          <a:solidFill>
            <a:srgbClr val="141A33">
              <a:alpha val="84000"/>
            </a:srgbClr>
          </a:solidFill>
          <a:ln w="12700">
            <a:solidFill>
              <a:srgbClr val="EF4444">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5" name="Shape 3"/>
          <p:cNvSpPr/>
          <p:nvPr/>
        </p:nvSpPr>
        <p:spPr>
          <a:xfrm>
            <a:off x="841248" y="2167128"/>
            <a:ext cx="786384" cy="786384"/>
          </a:xfrm>
          <a:prstGeom prst="ellipse">
            <a:avLst/>
          </a:prstGeom>
          <a:solidFill>
            <a:srgbClr val="EF4444">
              <a:alpha val="18000"/>
            </a:srgbClr>
          </a:solidFill>
          <a:ln w="13970">
            <a:solidFill>
              <a:srgbClr val="EF4444">
                <a:alpha val="75000"/>
              </a:srgbClr>
            </a:solidFill>
            <a:prstDash val="solid"/>
          </a:ln>
        </p:spPr>
        <p:txBody>
          <a:bodyPr/>
          <a:lstStyle/>
          <a:p>
            <a:endParaRPr lang="en-US"/>
          </a:p>
        </p:txBody>
      </p:sp>
      <p:pic>
        <p:nvPicPr>
          <p:cNvPr id="6" name="Image 0" descr="preencoded.png"/>
          <p:cNvPicPr>
            <a:picLocks noChangeAspect="1"/>
          </p:cNvPicPr>
          <p:nvPr/>
        </p:nvPicPr>
        <p:blipFill>
          <a:blip r:embed="rId4"/>
          <a:stretch>
            <a:fillRect/>
          </a:stretch>
        </p:blipFill>
        <p:spPr>
          <a:xfrm>
            <a:off x="1053572" y="2379452"/>
            <a:ext cx="361737" cy="361737"/>
          </a:xfrm>
          <a:prstGeom prst="rect">
            <a:avLst/>
          </a:prstGeom>
        </p:spPr>
      </p:pic>
      <p:sp>
        <p:nvSpPr>
          <p:cNvPr id="7" name="Text 4"/>
          <p:cNvSpPr/>
          <p:nvPr/>
        </p:nvSpPr>
        <p:spPr>
          <a:xfrm>
            <a:off x="1755648" y="2203704"/>
            <a:ext cx="2084832" cy="384048"/>
          </a:xfrm>
          <a:prstGeom prst="rect">
            <a:avLst/>
          </a:prstGeom>
          <a:noFill/>
          <a:ln/>
        </p:spPr>
        <p:txBody>
          <a:bodyPr wrap="square" lIns="0" tIns="0" rIns="0" bIns="0" rtlCol="0" anchor="ctr"/>
          <a:lstStyle/>
          <a:p>
            <a:pPr marL="0" indent="0">
              <a:buNone/>
            </a:pPr>
            <a:r>
              <a:rPr lang="en-US" sz="1800" b="1" dirty="0">
                <a:solidFill>
                  <a:srgbClr val="EEF1FA"/>
                </a:solidFill>
                <a:latin typeface="Inter" pitchFamily="34" charset="0"/>
                <a:ea typeface="Inter" pitchFamily="34" charset="-122"/>
                <a:cs typeface="Inter" pitchFamily="34" charset="-120"/>
              </a:rPr>
              <a:t>The attacker</a:t>
            </a:r>
            <a:endParaRPr lang="en-US" sz="1800" dirty="0"/>
          </a:p>
        </p:txBody>
      </p:sp>
      <p:sp>
        <p:nvSpPr>
          <p:cNvPr id="8" name="Text 5"/>
          <p:cNvSpPr/>
          <p:nvPr/>
        </p:nvSpPr>
        <p:spPr>
          <a:xfrm>
            <a:off x="1755648" y="2606040"/>
            <a:ext cx="2084832" cy="274320"/>
          </a:xfrm>
          <a:prstGeom prst="rect">
            <a:avLst/>
          </a:prstGeom>
          <a:noFill/>
          <a:ln/>
        </p:spPr>
        <p:txBody>
          <a:bodyPr wrap="square" lIns="0" tIns="0" rIns="0" bIns="0" rtlCol="0" anchor="ctr"/>
          <a:lstStyle/>
          <a:p>
            <a:pPr marL="0" indent="0">
              <a:buNone/>
            </a:pPr>
            <a:r>
              <a:rPr lang="en-US" sz="1050" dirty="0">
                <a:solidFill>
                  <a:srgbClr val="EF4444"/>
                </a:solidFill>
                <a:latin typeface="JetBrains Mono" pitchFamily="34" charset="0"/>
                <a:ea typeface="JetBrains Mono" pitchFamily="34" charset="-122"/>
                <a:cs typeface="JetBrains Mono" pitchFamily="34" charset="-120"/>
              </a:rPr>
              <a:t>test machine</a:t>
            </a:r>
            <a:endParaRPr lang="en-US" sz="1050" dirty="0"/>
          </a:p>
        </p:txBody>
      </p:sp>
      <p:sp>
        <p:nvSpPr>
          <p:cNvPr id="9" name="Text 6"/>
          <p:cNvSpPr/>
          <p:nvPr/>
        </p:nvSpPr>
        <p:spPr>
          <a:xfrm>
            <a:off x="859536" y="3154680"/>
            <a:ext cx="2889504" cy="1234440"/>
          </a:xfrm>
          <a:prstGeom prst="rect">
            <a:avLst/>
          </a:prstGeom>
          <a:noFill/>
          <a:ln/>
        </p:spPr>
        <p:txBody>
          <a:bodyPr wrap="square" lIns="0" tIns="0" rIns="0" bIns="0" rtlCol="0" anchor="ctr"/>
          <a:lstStyle/>
          <a:p>
            <a:pPr marL="0" indent="0">
              <a:lnSpc>
                <a:spcPct val="110000"/>
              </a:lnSpc>
              <a:buNone/>
            </a:pPr>
            <a:r>
              <a:rPr lang="en-US" sz="1400" dirty="0">
                <a:solidFill>
                  <a:srgbClr val="9AA3C0"/>
                </a:solidFill>
                <a:latin typeface="Inter" pitchFamily="34" charset="0"/>
                <a:ea typeface="Inter" pitchFamily="34" charset="-122"/>
                <a:cs typeface="Inter" pitchFamily="34" charset="-120"/>
              </a:rPr>
              <a:t>A test “attacker” launches real attacks — port scans, floods, password guessing — at the target.</a:t>
            </a:r>
            <a:endParaRPr lang="en-US" sz="1400" dirty="0"/>
          </a:p>
        </p:txBody>
      </p:sp>
      <p:sp>
        <p:nvSpPr>
          <p:cNvPr id="10" name="Shape 7"/>
          <p:cNvSpPr/>
          <p:nvPr/>
        </p:nvSpPr>
        <p:spPr>
          <a:xfrm>
            <a:off x="4059936" y="3223260"/>
            <a:ext cx="269748" cy="0"/>
          </a:xfrm>
          <a:prstGeom prst="line">
            <a:avLst/>
          </a:prstGeom>
          <a:noFill/>
          <a:ln w="22860">
            <a:solidFill>
              <a:srgbClr val="A78BFA">
                <a:alpha val="95000"/>
              </a:srgbClr>
            </a:solidFill>
            <a:prstDash val="solid"/>
            <a:tailEnd type="triangle"/>
          </a:ln>
        </p:spPr>
        <p:txBody>
          <a:bodyPr/>
          <a:lstStyle/>
          <a:p>
            <a:endParaRPr lang="en-US"/>
          </a:p>
        </p:txBody>
      </p:sp>
      <p:sp>
        <p:nvSpPr>
          <p:cNvPr id="11" name="Shape 8"/>
          <p:cNvSpPr/>
          <p:nvPr/>
        </p:nvSpPr>
        <p:spPr>
          <a:xfrm>
            <a:off x="4366260" y="1874520"/>
            <a:ext cx="3456432" cy="2697480"/>
          </a:xfrm>
          <a:prstGeom prst="roundRect">
            <a:avLst>
              <a:gd name="adj" fmla="val 4068"/>
            </a:avLst>
          </a:prstGeom>
          <a:solidFill>
            <a:srgbClr val="141A33">
              <a:alpha val="84000"/>
            </a:srgbClr>
          </a:solidFill>
          <a:ln w="12700">
            <a:solidFill>
              <a:srgbClr val="22D3EE">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2" name="Shape 9"/>
          <p:cNvSpPr/>
          <p:nvPr/>
        </p:nvSpPr>
        <p:spPr>
          <a:xfrm>
            <a:off x="4640580" y="2167128"/>
            <a:ext cx="786384" cy="786384"/>
          </a:xfrm>
          <a:prstGeom prst="ellipse">
            <a:avLst/>
          </a:prstGeom>
          <a:solidFill>
            <a:srgbClr val="22D3EE">
              <a:alpha val="18000"/>
            </a:srgbClr>
          </a:solidFill>
          <a:ln w="13970">
            <a:solidFill>
              <a:srgbClr val="22D3EE">
                <a:alpha val="75000"/>
              </a:srgbClr>
            </a:solidFill>
            <a:prstDash val="solid"/>
          </a:ln>
        </p:spPr>
        <p:txBody>
          <a:bodyPr/>
          <a:lstStyle/>
          <a:p>
            <a:endParaRPr lang="en-US"/>
          </a:p>
        </p:txBody>
      </p:sp>
      <p:pic>
        <p:nvPicPr>
          <p:cNvPr id="13" name="Image 1" descr="preencoded.png"/>
          <p:cNvPicPr>
            <a:picLocks noChangeAspect="1"/>
          </p:cNvPicPr>
          <p:nvPr/>
        </p:nvPicPr>
        <p:blipFill>
          <a:blip r:embed="rId5"/>
          <a:stretch>
            <a:fillRect/>
          </a:stretch>
        </p:blipFill>
        <p:spPr>
          <a:xfrm>
            <a:off x="4852904" y="2379452"/>
            <a:ext cx="361737" cy="361737"/>
          </a:xfrm>
          <a:prstGeom prst="rect">
            <a:avLst/>
          </a:prstGeom>
        </p:spPr>
      </p:pic>
      <p:sp>
        <p:nvSpPr>
          <p:cNvPr id="14" name="Text 10"/>
          <p:cNvSpPr/>
          <p:nvPr/>
        </p:nvSpPr>
        <p:spPr>
          <a:xfrm>
            <a:off x="5554980" y="2203704"/>
            <a:ext cx="2084832" cy="384048"/>
          </a:xfrm>
          <a:prstGeom prst="rect">
            <a:avLst/>
          </a:prstGeom>
          <a:noFill/>
          <a:ln/>
        </p:spPr>
        <p:txBody>
          <a:bodyPr wrap="square" lIns="0" tIns="0" rIns="0" bIns="0" rtlCol="0" anchor="ctr"/>
          <a:lstStyle/>
          <a:p>
            <a:pPr marL="0" indent="0">
              <a:buNone/>
            </a:pPr>
            <a:r>
              <a:rPr lang="en-US" sz="1800" b="1" dirty="0">
                <a:solidFill>
                  <a:srgbClr val="EEF1FA"/>
                </a:solidFill>
                <a:latin typeface="Inter" pitchFamily="34" charset="0"/>
                <a:ea typeface="Inter" pitchFamily="34" charset="-122"/>
                <a:cs typeface="Inter" pitchFamily="34" charset="-120"/>
              </a:rPr>
              <a:t>The defender</a:t>
            </a:r>
            <a:endParaRPr lang="en-US" sz="1800" dirty="0"/>
          </a:p>
        </p:txBody>
      </p:sp>
      <p:sp>
        <p:nvSpPr>
          <p:cNvPr id="15" name="Text 11"/>
          <p:cNvSpPr/>
          <p:nvPr/>
        </p:nvSpPr>
        <p:spPr>
          <a:xfrm>
            <a:off x="5554980" y="2606040"/>
            <a:ext cx="2084832" cy="274320"/>
          </a:xfrm>
          <a:prstGeom prst="rect">
            <a:avLst/>
          </a:prstGeom>
          <a:noFill/>
          <a:ln/>
        </p:spPr>
        <p:txBody>
          <a:bodyPr wrap="square" lIns="0" tIns="0" rIns="0" bIns="0" rtlCol="0" anchor="ctr"/>
          <a:lstStyle/>
          <a:p>
            <a:pPr marL="0" indent="0">
              <a:buNone/>
            </a:pPr>
            <a:r>
              <a:rPr lang="en-US" sz="1050" dirty="0">
                <a:solidFill>
                  <a:srgbClr val="22D3EE"/>
                </a:solidFill>
                <a:latin typeface="JetBrains Mono" pitchFamily="34" charset="0"/>
                <a:ea typeface="JetBrains Mono" pitchFamily="34" charset="-122"/>
                <a:cs typeface="JetBrains Mono" pitchFamily="34" charset="-120"/>
              </a:rPr>
              <a:t>our system</a:t>
            </a:r>
            <a:endParaRPr lang="en-US" sz="1050" dirty="0"/>
          </a:p>
        </p:txBody>
      </p:sp>
      <p:sp>
        <p:nvSpPr>
          <p:cNvPr id="16" name="Text 12"/>
          <p:cNvSpPr/>
          <p:nvPr/>
        </p:nvSpPr>
        <p:spPr>
          <a:xfrm>
            <a:off x="4658868" y="3154680"/>
            <a:ext cx="2889504" cy="1234440"/>
          </a:xfrm>
          <a:prstGeom prst="rect">
            <a:avLst/>
          </a:prstGeom>
          <a:noFill/>
          <a:ln/>
        </p:spPr>
        <p:txBody>
          <a:bodyPr wrap="square" lIns="0" tIns="0" rIns="0" bIns="0" rtlCol="0" anchor="ctr"/>
          <a:lstStyle/>
          <a:p>
            <a:pPr marL="0" indent="0">
              <a:lnSpc>
                <a:spcPct val="110000"/>
              </a:lnSpc>
              <a:buNone/>
            </a:pPr>
            <a:r>
              <a:rPr lang="en-US" sz="1400" dirty="0">
                <a:solidFill>
                  <a:srgbClr val="9AA3C0"/>
                </a:solidFill>
                <a:latin typeface="Inter" pitchFamily="34" charset="0"/>
                <a:ea typeface="Inter" pitchFamily="34" charset="-122"/>
                <a:cs typeface="Inter" pitchFamily="34" charset="-120"/>
              </a:rPr>
              <a:t>It watches the traffic and asks the model in real time: is this an attack?</a:t>
            </a:r>
            <a:endParaRPr lang="en-US" sz="1400" dirty="0"/>
          </a:p>
        </p:txBody>
      </p:sp>
      <p:sp>
        <p:nvSpPr>
          <p:cNvPr id="17" name="Shape 13"/>
          <p:cNvSpPr/>
          <p:nvPr/>
        </p:nvSpPr>
        <p:spPr>
          <a:xfrm>
            <a:off x="7859268" y="3223260"/>
            <a:ext cx="269748" cy="0"/>
          </a:xfrm>
          <a:prstGeom prst="line">
            <a:avLst/>
          </a:prstGeom>
          <a:noFill/>
          <a:ln w="22860">
            <a:solidFill>
              <a:srgbClr val="A78BFA">
                <a:alpha val="95000"/>
              </a:srgbClr>
            </a:solidFill>
            <a:prstDash val="solid"/>
            <a:tailEnd type="triangle"/>
          </a:ln>
        </p:spPr>
        <p:txBody>
          <a:bodyPr/>
          <a:lstStyle/>
          <a:p>
            <a:endParaRPr lang="en-US"/>
          </a:p>
        </p:txBody>
      </p:sp>
      <p:sp>
        <p:nvSpPr>
          <p:cNvPr id="18" name="Shape 14"/>
          <p:cNvSpPr/>
          <p:nvPr/>
        </p:nvSpPr>
        <p:spPr>
          <a:xfrm>
            <a:off x="8165592" y="1874520"/>
            <a:ext cx="3456432" cy="2697480"/>
          </a:xfrm>
          <a:prstGeom prst="roundRect">
            <a:avLst>
              <a:gd name="adj" fmla="val 4068"/>
            </a:avLst>
          </a:prstGeom>
          <a:solidFill>
            <a:srgbClr val="141A33">
              <a:alpha val="84000"/>
            </a:srgbClr>
          </a:solidFill>
          <a:ln w="12700">
            <a:solidFill>
              <a:srgbClr val="10B981">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19" name="Shape 15"/>
          <p:cNvSpPr/>
          <p:nvPr/>
        </p:nvSpPr>
        <p:spPr>
          <a:xfrm>
            <a:off x="8439912" y="2167128"/>
            <a:ext cx="786384" cy="786384"/>
          </a:xfrm>
          <a:prstGeom prst="ellipse">
            <a:avLst/>
          </a:prstGeom>
          <a:solidFill>
            <a:srgbClr val="10B981">
              <a:alpha val="18000"/>
            </a:srgbClr>
          </a:solidFill>
          <a:ln w="13970">
            <a:solidFill>
              <a:srgbClr val="10B981">
                <a:alpha val="75000"/>
              </a:srgbClr>
            </a:solidFill>
            <a:prstDash val="solid"/>
          </a:ln>
        </p:spPr>
        <p:txBody>
          <a:bodyPr/>
          <a:lstStyle/>
          <a:p>
            <a:endParaRPr lang="en-US"/>
          </a:p>
        </p:txBody>
      </p:sp>
      <p:pic>
        <p:nvPicPr>
          <p:cNvPr id="20" name="Image 2" descr="preencoded.png"/>
          <p:cNvPicPr>
            <a:picLocks noChangeAspect="1"/>
          </p:cNvPicPr>
          <p:nvPr/>
        </p:nvPicPr>
        <p:blipFill>
          <a:blip r:embed="rId6"/>
          <a:stretch>
            <a:fillRect/>
          </a:stretch>
        </p:blipFill>
        <p:spPr>
          <a:xfrm>
            <a:off x="8652236" y="2379452"/>
            <a:ext cx="361737" cy="361737"/>
          </a:xfrm>
          <a:prstGeom prst="rect">
            <a:avLst/>
          </a:prstGeom>
        </p:spPr>
      </p:pic>
      <p:sp>
        <p:nvSpPr>
          <p:cNvPr id="21" name="Text 16"/>
          <p:cNvSpPr/>
          <p:nvPr/>
        </p:nvSpPr>
        <p:spPr>
          <a:xfrm>
            <a:off x="9354312" y="2203704"/>
            <a:ext cx="2084832" cy="384048"/>
          </a:xfrm>
          <a:prstGeom prst="rect">
            <a:avLst/>
          </a:prstGeom>
          <a:noFill/>
          <a:ln/>
        </p:spPr>
        <p:txBody>
          <a:bodyPr wrap="square" lIns="0" tIns="0" rIns="0" bIns="0" rtlCol="0" anchor="ctr"/>
          <a:lstStyle/>
          <a:p>
            <a:pPr marL="0" indent="0">
              <a:buNone/>
            </a:pPr>
            <a:r>
              <a:rPr lang="en-US" sz="1800" b="1" dirty="0">
                <a:solidFill>
                  <a:srgbClr val="EEF1FA"/>
                </a:solidFill>
                <a:latin typeface="Inter" pitchFamily="34" charset="0"/>
                <a:ea typeface="Inter" pitchFamily="34" charset="-122"/>
                <a:cs typeface="Inter" pitchFamily="34" charset="-120"/>
              </a:rPr>
              <a:t>Auto-block</a:t>
            </a:r>
            <a:endParaRPr lang="en-US" sz="1800" dirty="0"/>
          </a:p>
        </p:txBody>
      </p:sp>
      <p:sp>
        <p:nvSpPr>
          <p:cNvPr id="22" name="Text 17"/>
          <p:cNvSpPr/>
          <p:nvPr/>
        </p:nvSpPr>
        <p:spPr>
          <a:xfrm>
            <a:off x="9354312" y="2606040"/>
            <a:ext cx="2084832" cy="274320"/>
          </a:xfrm>
          <a:prstGeom prst="rect">
            <a:avLst/>
          </a:prstGeom>
          <a:noFill/>
          <a:ln/>
        </p:spPr>
        <p:txBody>
          <a:bodyPr wrap="square" lIns="0" tIns="0" rIns="0" bIns="0" rtlCol="0" anchor="ctr"/>
          <a:lstStyle/>
          <a:p>
            <a:pPr marL="0" indent="0">
              <a:buNone/>
            </a:pPr>
            <a:r>
              <a:rPr lang="en-US" sz="1050" dirty="0">
                <a:solidFill>
                  <a:srgbClr val="10B981"/>
                </a:solidFill>
                <a:latin typeface="JetBrains Mono" pitchFamily="34" charset="0"/>
                <a:ea typeface="JetBrains Mono" pitchFamily="34" charset="-122"/>
                <a:cs typeface="JetBrains Mono" pitchFamily="34" charset="-120"/>
              </a:rPr>
              <a:t>firewall</a:t>
            </a:r>
            <a:endParaRPr lang="en-US" sz="1050" dirty="0"/>
          </a:p>
        </p:txBody>
      </p:sp>
      <p:sp>
        <p:nvSpPr>
          <p:cNvPr id="23" name="Text 18"/>
          <p:cNvSpPr/>
          <p:nvPr/>
        </p:nvSpPr>
        <p:spPr>
          <a:xfrm>
            <a:off x="8458200" y="3154680"/>
            <a:ext cx="2889504" cy="1234440"/>
          </a:xfrm>
          <a:prstGeom prst="rect">
            <a:avLst/>
          </a:prstGeom>
          <a:noFill/>
          <a:ln/>
        </p:spPr>
        <p:txBody>
          <a:bodyPr wrap="square" lIns="0" tIns="0" rIns="0" bIns="0" rtlCol="0" anchor="ctr"/>
          <a:lstStyle/>
          <a:p>
            <a:pPr marL="0" indent="0">
              <a:lnSpc>
                <a:spcPct val="110000"/>
              </a:lnSpc>
              <a:buNone/>
            </a:pPr>
            <a:r>
              <a:rPr lang="en-US" sz="1400" dirty="0">
                <a:solidFill>
                  <a:srgbClr val="9AA3C0"/>
                </a:solidFill>
                <a:latin typeface="Inter" pitchFamily="34" charset="0"/>
                <a:ea typeface="Inter" pitchFamily="34" charset="-122"/>
                <a:cs typeface="Inter" pitchFamily="34" charset="-120"/>
              </a:rPr>
              <a:t>If it’s sure, it blocks the attacker’s address by itself. Their next attempts simply fail — that’s the proof.</a:t>
            </a:r>
            <a:endParaRPr lang="en-US" sz="1400" dirty="0"/>
          </a:p>
        </p:txBody>
      </p:sp>
      <p:sp>
        <p:nvSpPr>
          <p:cNvPr id="24" name="Shape 19"/>
          <p:cNvSpPr/>
          <p:nvPr/>
        </p:nvSpPr>
        <p:spPr>
          <a:xfrm>
            <a:off x="566928" y="4828032"/>
            <a:ext cx="11055096" cy="1207008"/>
          </a:xfrm>
          <a:prstGeom prst="roundRect">
            <a:avLst>
              <a:gd name="adj" fmla="val 9091"/>
            </a:avLst>
          </a:prstGeom>
          <a:solidFill>
            <a:srgbClr val="141A33">
              <a:alpha val="88000"/>
            </a:srgbClr>
          </a:solidFill>
          <a:ln w="12700">
            <a:solidFill>
              <a:srgbClr val="F4A00D">
                <a:alpha val="58000"/>
              </a:srgbClr>
            </a:solidFill>
            <a:prstDash val="solid"/>
          </a:ln>
          <a:effectLst>
            <a:outerShdw blurRad="177800" dist="63500" dir="5400000" algn="bl" rotWithShape="0">
              <a:srgbClr val="000000">
                <a:alpha val="45000"/>
              </a:srgbClr>
            </a:outerShdw>
          </a:effectLst>
        </p:spPr>
        <p:txBody>
          <a:bodyPr/>
          <a:lstStyle/>
          <a:p>
            <a:endParaRPr lang="en-US"/>
          </a:p>
        </p:txBody>
      </p:sp>
      <p:sp>
        <p:nvSpPr>
          <p:cNvPr id="25" name="Shape 20"/>
          <p:cNvSpPr/>
          <p:nvPr/>
        </p:nvSpPr>
        <p:spPr>
          <a:xfrm>
            <a:off x="841248" y="5029200"/>
            <a:ext cx="676656" cy="676656"/>
          </a:xfrm>
          <a:prstGeom prst="ellipse">
            <a:avLst/>
          </a:prstGeom>
          <a:solidFill>
            <a:srgbClr val="F4A00D">
              <a:alpha val="18000"/>
            </a:srgbClr>
          </a:solidFill>
          <a:ln w="13970">
            <a:solidFill>
              <a:srgbClr val="F4A00D">
                <a:alpha val="75000"/>
              </a:srgbClr>
            </a:solidFill>
            <a:prstDash val="solid"/>
          </a:ln>
        </p:spPr>
        <p:txBody>
          <a:bodyPr/>
          <a:lstStyle/>
          <a:p>
            <a:endParaRPr lang="en-US"/>
          </a:p>
        </p:txBody>
      </p:sp>
      <p:pic>
        <p:nvPicPr>
          <p:cNvPr id="26" name="Image 3" descr="preencoded.png"/>
          <p:cNvPicPr>
            <a:picLocks noChangeAspect="1"/>
          </p:cNvPicPr>
          <p:nvPr/>
        </p:nvPicPr>
        <p:blipFill>
          <a:blip r:embed="rId7"/>
          <a:stretch>
            <a:fillRect/>
          </a:stretch>
        </p:blipFill>
        <p:spPr>
          <a:xfrm>
            <a:off x="1023945" y="5211897"/>
            <a:ext cx="311262" cy="311262"/>
          </a:xfrm>
          <a:prstGeom prst="rect">
            <a:avLst/>
          </a:prstGeom>
        </p:spPr>
      </p:pic>
      <p:sp>
        <p:nvSpPr>
          <p:cNvPr id="27" name="Text 21"/>
          <p:cNvSpPr/>
          <p:nvPr/>
        </p:nvSpPr>
        <p:spPr>
          <a:xfrm>
            <a:off x="1700784" y="4828032"/>
            <a:ext cx="9692640" cy="1207008"/>
          </a:xfrm>
          <a:prstGeom prst="rect">
            <a:avLst/>
          </a:prstGeom>
          <a:noFill/>
          <a:ln/>
        </p:spPr>
        <p:txBody>
          <a:bodyPr wrap="square" lIns="0" tIns="0" rIns="0" bIns="0" rtlCol="0" anchor="ctr"/>
          <a:lstStyle/>
          <a:p>
            <a:pPr marL="0" indent="0">
              <a:lnSpc>
                <a:spcPct val="106000"/>
              </a:lnSpc>
              <a:buNone/>
            </a:pPr>
            <a:r>
              <a:rPr lang="en-US" sz="1250" b="1" dirty="0">
                <a:solidFill>
                  <a:srgbClr val="F4A00D"/>
                </a:solidFill>
                <a:latin typeface="Inter" pitchFamily="34" charset="0"/>
                <a:ea typeface="Inter" pitchFamily="34" charset="-122"/>
                <a:cs typeface="Inter" pitchFamily="34" charset="-120"/>
              </a:rPr>
              <a:t>Same model, real traffic.  </a:t>
            </a:r>
            <a:r>
              <a:rPr lang="en-US" sz="1250" dirty="0">
                <a:solidFill>
                  <a:srgbClr val="EEF1FA"/>
                </a:solidFill>
                <a:latin typeface="Inter" pitchFamily="34" charset="0"/>
                <a:ea typeface="Inter" pitchFamily="34" charset="-122"/>
                <a:cs typeface="Inter" pitchFamily="34" charset="-120"/>
              </a:rPr>
              <a:t>A complete “detect-and-block” loop you can trigger from a button on the dashboard. (Caveat for the report: in this lab the target and the monitor run together — a simplification we note.)</a:t>
            </a:r>
            <a:endParaRPr lang="en-US" sz="1250" dirty="0"/>
          </a:p>
        </p:txBody>
      </p:sp>
      <p:sp>
        <p:nvSpPr>
          <p:cNvPr id="28" name="Text 22"/>
          <p:cNvSpPr/>
          <p:nvPr/>
        </p:nvSpPr>
        <p:spPr>
          <a:xfrm>
            <a:off x="566928" y="6455664"/>
            <a:ext cx="5486400" cy="274320"/>
          </a:xfrm>
          <a:prstGeom prst="rect">
            <a:avLst/>
          </a:prstGeom>
          <a:noFill/>
          <a:ln/>
        </p:spPr>
        <p:txBody>
          <a:bodyPr wrap="square" lIns="0" tIns="0" rIns="0" bIns="0" rtlCol="0" anchor="ctr"/>
          <a:lstStyle/>
          <a:p>
            <a:pPr marL="0" indent="0" algn="l">
              <a:buNone/>
            </a:pPr>
            <a:r>
              <a:rPr lang="en-US" sz="850" dirty="0">
                <a:solidFill>
                  <a:srgbClr val="6B7396"/>
                </a:solidFill>
                <a:latin typeface="JetBrains Mono" pitchFamily="34" charset="0"/>
                <a:ea typeface="JetBrains Mono" pitchFamily="34" charset="-122"/>
                <a:cs typeface="JetBrains Mono" pitchFamily="34" charset="-120"/>
              </a:rPr>
              <a:t>Network Traffic Anomaly Detector</a:t>
            </a:r>
            <a:endParaRPr lang="en-US" sz="850" dirty="0"/>
          </a:p>
        </p:txBody>
      </p:sp>
      <p:sp>
        <p:nvSpPr>
          <p:cNvPr id="29" name="Text 23"/>
          <p:cNvSpPr/>
          <p:nvPr/>
        </p:nvSpPr>
        <p:spPr>
          <a:xfrm>
            <a:off x="10607040" y="6455664"/>
            <a:ext cx="1005840" cy="274320"/>
          </a:xfrm>
          <a:prstGeom prst="rect">
            <a:avLst/>
          </a:prstGeom>
          <a:noFill/>
          <a:ln/>
        </p:spPr>
        <p:txBody>
          <a:bodyPr wrap="square" lIns="0" tIns="0" rIns="0" bIns="0" rtlCol="0" anchor="ctr"/>
          <a:lstStyle/>
          <a:p>
            <a:pPr marL="0" indent="0" algn="r">
              <a:buNone/>
            </a:pPr>
            <a:r>
              <a:rPr lang="en-US" sz="850" dirty="0">
                <a:solidFill>
                  <a:srgbClr val="6B7396"/>
                </a:solidFill>
                <a:latin typeface="JetBrains Mono" pitchFamily="34" charset="0"/>
                <a:ea typeface="JetBrains Mono" pitchFamily="34" charset="-122"/>
                <a:cs typeface="JetBrains Mono" pitchFamily="34" charset="-120"/>
              </a:rPr>
              <a:t>12 / 14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286000"/>
            <a:ext cx="10972800" cy="457200"/>
          </a:xfrm>
          <a:prstGeom prst="rect">
            <a:avLst/>
          </a:prstGeom>
          <a:noFill/>
          <a:ln/>
        </p:spPr>
        <p:txBody>
          <a:bodyPr wrap="square" lIns="0" tIns="0" rIns="0" bIns="0" rtlCol="0" anchor="ctr"/>
          <a:lstStyle/>
          <a:p>
            <a:pPr marL="0" indent="0" algn="ctr">
              <a:buNone/>
            </a:pPr>
            <a:r>
              <a:rPr lang="en-US" sz="4800" b="1" kern="0" spc="300" dirty="0">
                <a:solidFill>
                  <a:srgbClr val="A78BFA"/>
                </a:solidFill>
                <a:latin typeface="JetBrains Mono" pitchFamily="34" charset="0"/>
                <a:ea typeface="JetBrains Mono" pitchFamily="34" charset="-122"/>
                <a:cs typeface="JetBrains Mono" pitchFamily="34" charset="-120"/>
              </a:rPr>
              <a:t>THANK YOU</a:t>
            </a:r>
            <a:endParaRPr lang="en-US" sz="4800" dirty="0"/>
          </a:p>
        </p:txBody>
      </p:sp>
      <p:sp>
        <p:nvSpPr>
          <p:cNvPr id="3" name="Text 1"/>
          <p:cNvSpPr/>
          <p:nvPr/>
        </p:nvSpPr>
        <p:spPr>
          <a:xfrm>
            <a:off x="457200" y="2788920"/>
            <a:ext cx="11274552" cy="1005840"/>
          </a:xfrm>
          <a:prstGeom prst="rect">
            <a:avLst/>
          </a:prstGeom>
          <a:noFill/>
          <a:ln/>
        </p:spPr>
        <p:txBody>
          <a:bodyPr wrap="square" lIns="0" tIns="0" rIns="0" bIns="0" rtlCol="0" anchor="ctr"/>
          <a:lstStyle/>
          <a:p>
            <a:pPr marL="0" indent="0" algn="ctr">
              <a:buNone/>
            </a:pPr>
            <a:r>
              <a:rPr lang="en-US" sz="5000" b="1" dirty="0">
                <a:solidFill>
                  <a:srgbClr val="EEF1FA"/>
                </a:solidFill>
                <a:latin typeface="Inter" pitchFamily="34" charset="0"/>
                <a:ea typeface="Inter" pitchFamily="34" charset="-122"/>
                <a:cs typeface="Inter" pitchFamily="34" charset="-120"/>
              </a:rPr>
              <a:t>For the attention!</a:t>
            </a:r>
            <a:endParaRPr lang="en-US" sz="5000" dirty="0"/>
          </a:p>
        </p:txBody>
      </p:sp>
      <p:sp>
        <p:nvSpPr>
          <p:cNvPr id="4" name="Text 2"/>
          <p:cNvSpPr/>
          <p:nvPr/>
        </p:nvSpPr>
        <p:spPr>
          <a:xfrm>
            <a:off x="1371600" y="3977640"/>
            <a:ext cx="9445752" cy="731520"/>
          </a:xfrm>
          <a:prstGeom prst="rect">
            <a:avLst/>
          </a:prstGeom>
          <a:noFill/>
          <a:ln/>
        </p:spPr>
        <p:txBody>
          <a:bodyPr wrap="square" lIns="0" tIns="0" rIns="0" bIns="0" rtlCol="0" anchor="ctr"/>
          <a:lstStyle/>
          <a:p>
            <a:pPr marL="0" indent="0" algn="ctr">
              <a:lnSpc>
                <a:spcPct val="110000"/>
              </a:lnSpc>
              <a:buNone/>
            </a:pPr>
            <a:r>
              <a:rPr lang="en-US" sz="1450" i="1" dirty="0">
                <a:solidFill>
                  <a:srgbClr val="9AA3C0"/>
                </a:solidFill>
                <a:latin typeface="Inter" pitchFamily="34" charset="0"/>
                <a:ea typeface="Inter" pitchFamily="34" charset="-122"/>
                <a:cs typeface="Inter" pitchFamily="34" charset="-120"/>
              </a:rPr>
              <a:t>Every angle we checked points the same way — and the one exception</a:t>
            </a:r>
            <a:endParaRPr lang="en-US" sz="1450" dirty="0"/>
          </a:p>
          <a:p>
            <a:pPr marL="0" indent="0" algn="ctr">
              <a:lnSpc>
                <a:spcPct val="110000"/>
              </a:lnSpc>
              <a:buNone/>
            </a:pPr>
            <a:r>
              <a:rPr lang="en-US" sz="1450" i="1" dirty="0">
                <a:solidFill>
                  <a:srgbClr val="9AA3C0"/>
                </a:solidFill>
                <a:latin typeface="Inter" pitchFamily="34" charset="0"/>
                <a:ea typeface="Inter" pitchFamily="34" charset="-122"/>
                <a:cs typeface="Inter" pitchFamily="34" charset="-120"/>
              </a:rPr>
              <a:t>is exactly where we’ve been honest about the limits.</a:t>
            </a:r>
            <a:endParaRPr lang="en-US" sz="1450" dirty="0"/>
          </a:p>
        </p:txBody>
      </p:sp>
      <p:sp>
        <p:nvSpPr>
          <p:cNvPr id="5" name="Shape 3"/>
          <p:cNvSpPr/>
          <p:nvPr/>
        </p:nvSpPr>
        <p:spPr>
          <a:xfrm>
            <a:off x="4189324" y="5074920"/>
            <a:ext cx="3813048" cy="548640"/>
          </a:xfrm>
          <a:prstGeom prst="roundRect">
            <a:avLst>
              <a:gd name="adj" fmla="val 50000"/>
            </a:avLst>
          </a:prstGeom>
          <a:solidFill>
            <a:srgbClr val="141A33">
              <a:alpha val="82000"/>
            </a:srgbClr>
          </a:solidFill>
          <a:ln w="15240">
            <a:solidFill>
              <a:srgbClr val="A78BFA">
                <a:alpha val="75000"/>
              </a:srgbClr>
            </a:solidFill>
            <a:prstDash val="solid"/>
          </a:ln>
        </p:spPr>
        <p:txBody>
          <a:bodyPr/>
          <a:lstStyle/>
          <a:p>
            <a:endParaRPr lang="en-US"/>
          </a:p>
        </p:txBody>
      </p:sp>
      <p:pic>
        <p:nvPicPr>
          <p:cNvPr id="6" name="Image 0" descr="preencoded.png"/>
          <p:cNvPicPr>
            <a:picLocks noChangeAspect="1"/>
          </p:cNvPicPr>
          <p:nvPr/>
        </p:nvPicPr>
        <p:blipFill>
          <a:blip r:embed="rId4"/>
          <a:stretch>
            <a:fillRect/>
          </a:stretch>
        </p:blipFill>
        <p:spPr>
          <a:xfrm>
            <a:off x="4427068" y="5221224"/>
            <a:ext cx="256032" cy="256032"/>
          </a:xfrm>
          <a:prstGeom prst="rect">
            <a:avLst/>
          </a:prstGeom>
        </p:spPr>
      </p:pic>
      <p:sp>
        <p:nvSpPr>
          <p:cNvPr id="7" name="Text 4"/>
          <p:cNvSpPr/>
          <p:nvPr/>
        </p:nvSpPr>
        <p:spPr>
          <a:xfrm>
            <a:off x="4737964" y="5074920"/>
            <a:ext cx="3172968" cy="548640"/>
          </a:xfrm>
          <a:prstGeom prst="rect">
            <a:avLst/>
          </a:prstGeom>
          <a:noFill/>
          <a:ln/>
        </p:spPr>
        <p:txBody>
          <a:bodyPr wrap="square" lIns="0" tIns="0" rIns="0" bIns="0" rtlCol="0" anchor="ctr"/>
          <a:lstStyle/>
          <a:p>
            <a:pPr marL="0" indent="0" algn="ctr">
              <a:buNone/>
            </a:pPr>
            <a:r>
              <a:rPr lang="en-US" sz="1250" dirty="0">
                <a:solidFill>
                  <a:srgbClr val="EEF1FA"/>
                </a:solidFill>
                <a:latin typeface="JetBrains Mono" pitchFamily="34" charset="0"/>
                <a:ea typeface="JetBrains Mono" pitchFamily="34" charset="-122"/>
                <a:cs typeface="JetBrains Mono" pitchFamily="34" charset="-120"/>
              </a:rPr>
              <a:t>github.com/Guts1313/AnomalyDetector</a:t>
            </a:r>
            <a:endParaRPr lang="en-US" sz="1250" dirty="0"/>
          </a:p>
        </p:txBody>
      </p:sp>
      <p:sp>
        <p:nvSpPr>
          <p:cNvPr id="8" name="Text 5"/>
          <p:cNvSpPr/>
          <p:nvPr/>
        </p:nvSpPr>
        <p:spPr>
          <a:xfrm>
            <a:off x="457200" y="5989320"/>
            <a:ext cx="11274552" cy="320040"/>
          </a:xfrm>
          <a:prstGeom prst="rect">
            <a:avLst/>
          </a:prstGeom>
          <a:noFill/>
          <a:ln/>
        </p:spPr>
        <p:txBody>
          <a:bodyPr wrap="square" lIns="0" tIns="0" rIns="0" bIns="0" rtlCol="0" anchor="ctr"/>
          <a:lstStyle/>
          <a:p>
            <a:pPr marL="0" indent="0" algn="ctr">
              <a:buNone/>
            </a:pPr>
            <a:r>
              <a:rPr lang="en-US" sz="1000" dirty="0">
                <a:solidFill>
                  <a:schemeClr val="bg1"/>
                </a:solidFill>
                <a:latin typeface="JetBrains Mono" pitchFamily="34" charset="0"/>
                <a:ea typeface="JetBrains Mono" pitchFamily="34" charset="-122"/>
                <a:cs typeface="JetBrains Mono" pitchFamily="34" charset="-120"/>
              </a:rPr>
              <a:t>Angel Rusev ·  Fontys UAS · Cybersecurity Attack &amp; Defend · Spring 2026</a:t>
            </a:r>
            <a:endParaRPr lang="en-US" sz="10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D95580C-845B-4398-9782-95CC859A1F8B}">
  <we:reference id="wa200010001" version="1.0.0.1" store="en-GB" storeType="OMEX"/>
  <we:alternateReferences>
    <we:reference id="WA200010001" version="1.0.0.1" store="" storeType="OMEX"/>
  </we:alternateReferences>
  <we:properties>
    <we:property name="claude.fileId" value="&quot;dc408ca2-8243-4727-aea5-8257ce6deca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451</TotalTime>
  <Words>2232</Words>
  <Application>Microsoft Office PowerPoint</Application>
  <PresentationFormat>Widescreen</PresentationFormat>
  <Paragraphs>208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Traffic Anomaly Detector — PRP</dc:title>
  <dc:subject>PptxGenJS Presentation</dc:subject>
  <dc:creator>Angel Rusev</dc:creator>
  <cp:lastModifiedBy>Rusev,Angel A.V.</cp:lastModifiedBy>
  <cp:revision>11</cp:revision>
  <dcterms:created xsi:type="dcterms:W3CDTF">2026-06-03T21:50:24Z</dcterms:created>
  <dcterms:modified xsi:type="dcterms:W3CDTF">2026-06-08T11:14:34Z</dcterms:modified>
</cp:coreProperties>
</file>