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48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EDEDF2"/>
                </a:solidFill>
                <a:latin typeface="Inter"/>
              </a:rPr>
              <a:t>Network Anomaly 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9457FF"/>
                </a:solidFill>
                <a:latin typeface="Inter"/>
              </a:rPr>
              <a:t>ML-powered traffic analysis · auto-block in 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Inter"/>
              </a:rPr>
              <a:t>Personal Research Project · Cybersecurity Attack &amp; Defend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A8F98"/>
                </a:solidFill>
                <a:latin typeface="Inter"/>
              </a:rPr>
              <a:t>Angel Rusev  ·  Fontys University of Applied Sciences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DEDF2"/>
                </a:solidFill>
                <a:latin typeface="Inter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9457FF"/>
                </a:solidFill>
                <a:latin typeface="Inter"/>
              </a:rPr>
              <a:t>Traditional firewalls only catch what they've seen before.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dirty="0">
                <a:solidFill>
                  <a:srgbClr val="9457FF"/>
                </a:solidFill>
                <a:latin typeface="Inter"/>
              </a:rPr>
              <a:t>●  </a:t>
            </a:r>
            <a:r>
              <a:rPr sz="2000" dirty="0">
                <a:solidFill>
                  <a:srgbClr val="EDEDF2"/>
                </a:solidFill>
                <a:latin typeface="Inter"/>
              </a:rPr>
              <a:t>Networks generate millions of connections per day — too much for humans.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dirty="0">
                <a:solidFill>
                  <a:srgbClr val="9457FF"/>
                </a:solidFill>
                <a:latin typeface="Inter"/>
              </a:rPr>
              <a:t>●  </a:t>
            </a:r>
            <a:r>
              <a:rPr sz="2000" dirty="0">
                <a:solidFill>
                  <a:srgbClr val="EDEDF2"/>
                </a:solidFill>
                <a:latin typeface="Inter"/>
              </a:rPr>
              <a:t>Signature-based tools (Snort, Suricata) miss anything new or unusual.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dirty="0">
                <a:solidFill>
                  <a:srgbClr val="9457FF"/>
                </a:solidFill>
                <a:latin typeface="Inter"/>
              </a:rPr>
              <a:t>●  </a:t>
            </a:r>
            <a:r>
              <a:rPr sz="2000" dirty="0">
                <a:solidFill>
                  <a:srgbClr val="EDEDF2"/>
                </a:solidFill>
                <a:latin typeface="Inter"/>
              </a:rPr>
              <a:t>Analysts get flooded with alerts and start ignoring them.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dirty="0">
                <a:solidFill>
                  <a:srgbClr val="9457FF"/>
                </a:solidFill>
                <a:latin typeface="Inter"/>
              </a:rPr>
              <a:t>●  </a:t>
            </a:r>
            <a:r>
              <a:rPr sz="2000" dirty="0">
                <a:solidFill>
                  <a:srgbClr val="EDEDF2"/>
                </a:solidFill>
                <a:latin typeface="Inter"/>
              </a:rPr>
              <a:t>We need something that learns what normal looks like and flags the 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DEDF2"/>
                </a:solidFill>
                <a:latin typeface="Inter"/>
              </a:rP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9457FF"/>
                </a:solidFill>
                <a:latin typeface="Inter"/>
              </a:rPr>
              <a:t>A small machine-learning model that reads each network flow and decides.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>
                <a:solidFill>
                  <a:srgbClr val="9457FF"/>
                </a:solidFill>
                <a:latin typeface="Inter"/>
              </a:rPr>
              <a:t>●  </a:t>
            </a:r>
            <a:r>
              <a:rPr sz="2000">
                <a:solidFill>
                  <a:srgbClr val="EDEDF2"/>
                </a:solidFill>
                <a:latin typeface="Inter"/>
              </a:rPr>
              <a:t>Watches packets going across the network in real time.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>
                <a:solidFill>
                  <a:srgbClr val="9457FF"/>
                </a:solidFill>
                <a:latin typeface="Inter"/>
              </a:rPr>
              <a:t>●  </a:t>
            </a:r>
            <a:r>
              <a:rPr sz="2000">
                <a:solidFill>
                  <a:srgbClr val="EDEDF2"/>
                </a:solidFill>
                <a:latin typeface="Inter"/>
              </a:rPr>
              <a:t>Tells you what kind of traffic it is — normal or one of 7 attack types.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>
                <a:solidFill>
                  <a:srgbClr val="9457FF"/>
                </a:solidFill>
                <a:latin typeface="Inter"/>
              </a:rPr>
              <a:t>●  </a:t>
            </a:r>
            <a:r>
              <a:rPr sz="2000">
                <a:solidFill>
                  <a:srgbClr val="EDEDF2"/>
                </a:solidFill>
                <a:latin typeface="Inter"/>
              </a:rPr>
              <a:t>Blocks the attacker's IP automatically when it's confident.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>
                <a:solidFill>
                  <a:srgbClr val="9457FF"/>
                </a:solidFill>
                <a:latin typeface="Inter"/>
              </a:rPr>
              <a:t>●  </a:t>
            </a:r>
            <a:r>
              <a:rPr sz="2000">
                <a:solidFill>
                  <a:srgbClr val="EDEDF2"/>
                </a:solidFill>
                <a:latin typeface="Inter"/>
              </a:rPr>
              <a:t>Shows everything in a dashboard so you can see it happening.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DEDF2"/>
                </a:solidFill>
                <a:latin typeface="Inter"/>
              </a:rPr>
              <a:t>What we 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9457FF"/>
                </a:solidFill>
                <a:latin typeface="Inter"/>
              </a:rPr>
              <a:t>Eight categories — one normal, seven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BENIGN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21284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Inter"/>
              </a:rPr>
              <a:t>Normal browsing, API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PortScan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1284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Inter"/>
              </a:rPr>
              <a:t>Mapping open ports (nmap)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DDoS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8072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Inter"/>
              </a:rPr>
              <a:t>Flood from many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7889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072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Inter"/>
              </a:rPr>
              <a:t>Flood from one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832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BruteForce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40156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Inter"/>
              </a:rPr>
              <a:t>Guessing passwords (hydra)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33832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WebAttack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40156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Inter"/>
              </a:rPr>
              <a:t>SQL injection, XSS (sqlmap)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77639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Botnet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995927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Inter"/>
              </a:rPr>
              <a:t>Infected machine calling home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3977639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Infiltration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995927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Inter"/>
              </a:rPr>
              <a:t>Quietly stealing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DEDF2"/>
                </a:solidFill>
                <a:latin typeface="Inter"/>
              </a:rPr>
              <a:t>How it fits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9457FF"/>
                </a:solidFill>
                <a:latin typeface="Inter"/>
              </a:rPr>
              <a:t>Three small services, each does one job.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141A26">
              <a:alpha val="50000"/>
            </a:srgbClr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6366F1"/>
                </a:solidFill>
                <a:latin typeface="Inter"/>
              </a:rPr>
              <a:t>ATTACKER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EDEDF2"/>
                </a:solidFill>
                <a:latin typeface="Inter"/>
              </a:rPr>
              <a:t>Generates real attack traffic
(nmap, hping3, hydra, sqlmap)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2860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141A26">
              <a:alpha val="50000"/>
            </a:srgbClr>
          </a:solidFill>
          <a:ln w="15875">
            <a:solidFill>
              <a:srgbClr val="945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3108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9457FF"/>
                </a:solidFill>
                <a:latin typeface="Inter"/>
              </a:rPr>
              <a:t>DEFENDER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54680"/>
            <a:ext cx="31089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EDEDF2"/>
                </a:solidFill>
                <a:latin typeface="Inter"/>
              </a:rPr>
              <a:t>Sees the packets
Classifies them
Blocks the 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2860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141A26">
              <a:alpha val="50000"/>
            </a:srgbClr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2514600"/>
            <a:ext cx="3108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10B981"/>
                </a:solidFill>
                <a:latin typeface="Inter"/>
              </a:rPr>
              <a:t>BRAIN (API)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154680"/>
            <a:ext cx="31089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EDEDF2"/>
                </a:solidFill>
                <a:latin typeface="Inter"/>
              </a:rPr>
              <a:t>Holds the ML model
Returns a verdict
Records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8A8F98"/>
                </a:solidFill>
                <a:latin typeface="JetBrains Mono"/>
              </a:rPr>
              <a:t>attacker  →  defender  ←→  brain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DEDF2"/>
                </a:solidFill>
                <a:latin typeface="Inter"/>
              </a:rPr>
              <a:t>The brain — what the ML model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9457FF"/>
                </a:solidFill>
                <a:latin typeface="Inter"/>
              </a:rPr>
              <a:t>We trained on a public dataset of real attacks.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Dataset: CICIDS2017 — millions of labelled network flows.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Algorithm: Gradient Boosting (a tree-based classifier).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Looks at ~20 features per flow: packet sizes, timing, flags.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Outputs: the most likely category + a confidence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194560"/>
            <a:ext cx="3840480" cy="3017520"/>
          </a:xfrm>
          <a:prstGeom prst="roundRect">
            <a:avLst>
              <a:gd name="adj" fmla="val 8000"/>
            </a:avLst>
          </a:prstGeom>
          <a:solidFill>
            <a:srgbClr val="141A26">
              <a:alpha val="55000"/>
            </a:srgbClr>
          </a:solidFill>
          <a:ln w="15875">
            <a:solidFill>
              <a:srgbClr val="945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24231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A8F98"/>
                </a:solidFill>
                <a:latin typeface="Inter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83464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9457FF"/>
                </a:solidFill>
                <a:latin typeface="JetBrains Mono"/>
              </a:rPr>
              <a:t>gradient_boosting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4747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A8F98"/>
                </a:solidFill>
                <a:latin typeface="Inter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8862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DEDF2"/>
                </a:solidFill>
                <a:latin typeface="Inter"/>
              </a:rPr>
              <a:t>20 flow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343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A8F98"/>
                </a:solidFill>
                <a:latin typeface="Inter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47548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DEDF2"/>
                </a:solidFill>
                <a:latin typeface="Inter"/>
              </a:rPr>
              <a:t>verdict + score 0–1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DEDF2"/>
                </a:solidFill>
                <a:latin typeface="Inter"/>
              </a:rPr>
              <a:t>The defender — sees and reacts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9457FF"/>
                </a:solidFill>
                <a:latin typeface="Inter"/>
              </a:rPr>
              <a:t>Steady loop, four steps, no human in the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1 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6771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DEDF2"/>
                </a:solidFill>
                <a:latin typeface="Inter"/>
              </a:rPr>
              <a:t>tcpdump on the network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945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2  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99923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DEDF2"/>
                </a:solidFill>
                <a:latin typeface="Inter"/>
              </a:rPr>
              <a:t>CICFlowMeter groups packets into 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3  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73075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DEDF2"/>
                </a:solidFill>
                <a:latin typeface="Inter"/>
              </a:rPr>
              <a:t>Asks the brain: is this an attack?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891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4  ENFORCE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46227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DEDF2"/>
                </a:solidFill>
                <a:latin typeface="Inter"/>
              </a:rPr>
              <a:t>If yes — iptables blocks the source 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DEDF2"/>
                </a:solidFill>
                <a:latin typeface="Inter"/>
              </a:rPr>
              <a:t>The attacker — real tools from the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9457FF"/>
                </a:solidFill>
                <a:latin typeface="Inter"/>
              </a:rPr>
              <a:t>Each preset in the dashboard maps to one real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PortScan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311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EDEDF2"/>
                </a:solidFill>
                <a:latin typeface="JetBrains Mono"/>
              </a:rPr>
              <a:t>nmap -sS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DDoS / 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73405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EDEDF2"/>
                </a:solidFill>
                <a:latin typeface="JetBrains Mono"/>
              </a:rPr>
              <a:t>hping3 --flood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004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BruteForce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3697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EDEDF2"/>
                </a:solidFill>
                <a:latin typeface="JetBrains Mono"/>
              </a:rPr>
              <a:t>hydra ssh://...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033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WebAttack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73989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EDEDF2"/>
                </a:solidFill>
                <a:latin typeface="JetBrains Mono"/>
              </a:rPr>
              <a:t>sqlmap -u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062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Botnet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24281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EDEDF2"/>
                </a:solidFill>
                <a:latin typeface="JetBrains Mono"/>
              </a:rPr>
              <a:t>scripted beacon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091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Infiltration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7457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EDEDF2"/>
                </a:solidFill>
                <a:latin typeface="JetBrains Mono"/>
              </a:rPr>
              <a:t>large uploads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DEDF2"/>
                </a:solidFill>
                <a:latin typeface="Inter"/>
              </a:rPr>
              <a:t>How it all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9457FF"/>
                </a:solidFill>
                <a:latin typeface="Inter"/>
              </a:rPr>
              <a:t>Everything in Docker — reproducible, no setup pain.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>
                <a:solidFill>
                  <a:srgbClr val="9457FF"/>
                </a:solidFill>
                <a:latin typeface="Inter"/>
              </a:rPr>
              <a:t>●  </a:t>
            </a:r>
            <a:r>
              <a:rPr sz="2000">
                <a:solidFill>
                  <a:srgbClr val="EDEDF2"/>
                </a:solidFill>
                <a:latin typeface="Inter"/>
              </a:rPr>
              <a:t>API + model: Python + FastAPI + scikit-learn.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>
                <a:solidFill>
                  <a:srgbClr val="9457FF"/>
                </a:solidFill>
                <a:latin typeface="Inter"/>
              </a:rPr>
              <a:t>●  </a:t>
            </a:r>
            <a:r>
              <a:rPr sz="2000">
                <a:solidFill>
                  <a:srgbClr val="EDEDF2"/>
                </a:solidFill>
                <a:latin typeface="Inter"/>
              </a:rPr>
              <a:t>Frontend: React + TypeScript + Plotly charts.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>
                <a:solidFill>
                  <a:srgbClr val="9457FF"/>
                </a:solidFill>
                <a:latin typeface="Inter"/>
              </a:rPr>
              <a:t>●  </a:t>
            </a:r>
            <a:r>
              <a:rPr sz="2000">
                <a:solidFill>
                  <a:srgbClr val="EDEDF2"/>
                </a:solidFill>
                <a:latin typeface="Inter"/>
              </a:rPr>
              <a:t>Lab: three containers — attacker, defender, brain — talking over a Docker bridge.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>
                <a:solidFill>
                  <a:srgbClr val="9457FF"/>
                </a:solidFill>
                <a:latin typeface="Inter"/>
              </a:rPr>
              <a:t>●  </a:t>
            </a:r>
            <a:r>
              <a:rPr sz="2000">
                <a:solidFill>
                  <a:srgbClr val="EDEDF2"/>
                </a:solidFill>
                <a:latin typeface="Inter"/>
              </a:rPr>
              <a:t>One command: docker compose up — and the whole demo is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DEDF2"/>
                </a:solidFill>
                <a:latin typeface="Inter"/>
              </a:rPr>
              <a:t>Does it actually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9457FF"/>
                </a:solidFill>
                <a:latin typeface="Inter"/>
              </a:rPr>
              <a:t>We ran a real nmap scan against the lab and checked the verdicts.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41A26">
              <a:alpha val="50000"/>
            </a:srgbClr>
          </a:solidFill>
          <a:ln w="15875">
            <a:solidFill>
              <a:srgbClr val="945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600" b="1">
                <a:solidFill>
                  <a:srgbClr val="9457FF"/>
                </a:solidFill>
                <a:latin typeface="JetBrains Mono"/>
              </a:rPr>
              <a:t>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8A8F98"/>
                </a:solidFill>
                <a:latin typeface="Inter"/>
              </a:rPr>
              <a:t>flows classified as PortScan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77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41A26">
              <a:alpha val="50000"/>
            </a:srgbClr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60604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600" b="1">
                <a:solidFill>
                  <a:srgbClr val="10B981"/>
                </a:solidFill>
                <a:latin typeface="JetBrains Mono"/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5204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8A8F98"/>
                </a:solidFill>
                <a:latin typeface="Inter"/>
              </a:rPr>
              <a:t>confidence on the correct class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77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41A26">
              <a:alpha val="50000"/>
            </a:srgbClr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60604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600" b="1">
                <a:solidFill>
                  <a:srgbClr val="3B82F6"/>
                </a:solidFill>
                <a:latin typeface="JetBrains Mono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5204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8A8F98"/>
                </a:solidFill>
                <a:latin typeface="Inter"/>
              </a:rPr>
              <a:t>false alarms on benign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F98"/>
                </a:solidFill>
                <a:latin typeface="Inter"/>
              </a:rPr>
              <a:t>The fifth flow targeted an open port — the model called it DDoS instead. Honest borderline case, worth noting.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>
                <a:solidFill>
                  <a:srgbClr val="9457FF"/>
                </a:solidFill>
                <a:latin typeface="Inter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EDEDF2"/>
                </a:solidFill>
                <a:latin typeface="Inter"/>
              </a:rPr>
              <a:t>Switch to the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840480"/>
            <a:ext cx="7772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Pick a preset (PortScan, DDoS, BruteForce…).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Click "Run on lab" — real tool, real packets.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Watch the verdict appear in the Alerts tab.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Show the iptables rule blocking the attacker.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Run it again — second attack times 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DEDF2"/>
                </a:solidFill>
                <a:latin typeface="Inter"/>
              </a:rP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9457FF"/>
                </a:solidFill>
                <a:latin typeface="Inter"/>
              </a:rPr>
              <a:t>Beyond the PRP — integrating into the IAM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Plug the detector into the CYBERGROUP IAM project (Keycloak-protected APIs).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Retrain on traffic we capture ourselves — closer to what we'd see in production.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Add an analyst-confirm step before permanent blocks (no surprise lockouts).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>
                <a:solidFill>
                  <a:srgbClr val="9457FF"/>
                </a:solidFill>
                <a:latin typeface="Inter"/>
              </a:rPr>
              <a:t>●  </a:t>
            </a:r>
            <a:r>
              <a:rPr sz="1800">
                <a:solidFill>
                  <a:srgbClr val="EDEDF2"/>
                </a:solidFill>
                <a:latin typeface="Inter"/>
              </a:rPr>
              <a:t>Move from one defender container to an inline gateway pattern.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0" y="-2743200"/>
            <a:ext cx="5486400" cy="5486400"/>
          </a:xfrm>
          <a:prstGeom prst="ellipse">
            <a:avLst/>
          </a:prstGeom>
          <a:solidFill>
            <a:srgbClr val="9457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4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>
                <a:solidFill>
                  <a:srgbClr val="EDEDF2"/>
                </a:solidFill>
                <a:latin typeface="Inter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>
                <a:solidFill>
                  <a:srgbClr val="9457FF"/>
                </a:solidFill>
                <a:latin typeface="Inter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8A8F98"/>
                </a:solidFill>
                <a:latin typeface="Inter"/>
              </a:rPr>
              <a:t>Angel Rusev  ·  Fontys University of Applied Sciences  ·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725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Rusev,Angel A.V.</cp:lastModifiedBy>
  <cp:revision>2</cp:revision>
  <dcterms:created xsi:type="dcterms:W3CDTF">2013-01-27T09:14:16Z</dcterms:created>
  <dcterms:modified xsi:type="dcterms:W3CDTF">2026-06-04T05:34:48Z</dcterms:modified>
  <cp:category/>
</cp:coreProperties>
</file>